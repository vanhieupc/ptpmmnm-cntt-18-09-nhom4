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Times New Roman" charset="1" panose="02020603050405020304"/>
      <p:regular r:id="rId29"/>
    </p:embeddedFont>
    <p:embeddedFont>
      <p:font typeface="Times New Roman Bold" charset="1" panose="02020803070505020304"/>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1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1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59" r="0" b="-9259"/>
            </a:stretch>
          </a:blipFill>
        </p:spPr>
      </p:sp>
      <p:sp>
        <p:nvSpPr>
          <p:cNvPr name="Freeform 3" id="3"/>
          <p:cNvSpPr/>
          <p:nvPr/>
        </p:nvSpPr>
        <p:spPr>
          <a:xfrm flipH="false" flipV="false" rot="0">
            <a:off x="11077425" y="1028700"/>
            <a:ext cx="7453924" cy="9407063"/>
          </a:xfrm>
          <a:custGeom>
            <a:avLst/>
            <a:gdLst/>
            <a:ahLst/>
            <a:cxnLst/>
            <a:rect r="r" b="b" t="t" l="l"/>
            <a:pathLst>
              <a:path h="9407063" w="7453924">
                <a:moveTo>
                  <a:pt x="0" y="0"/>
                </a:moveTo>
                <a:lnTo>
                  <a:pt x="7453925" y="0"/>
                </a:lnTo>
                <a:lnTo>
                  <a:pt x="7453925" y="9407063"/>
                </a:lnTo>
                <a:lnTo>
                  <a:pt x="0" y="9407063"/>
                </a:lnTo>
                <a:lnTo>
                  <a:pt x="0" y="0"/>
                </a:lnTo>
                <a:close/>
              </a:path>
            </a:pathLst>
          </a:custGeom>
          <a:blipFill>
            <a:blip r:embed="rId3"/>
            <a:stretch>
              <a:fillRect l="-146518" t="-3109" r="-13735" b="0"/>
            </a:stretch>
          </a:blipFill>
        </p:spPr>
      </p:sp>
      <p:sp>
        <p:nvSpPr>
          <p:cNvPr name="TextBox 4" id="4"/>
          <p:cNvSpPr txBox="true"/>
          <p:nvPr/>
        </p:nvSpPr>
        <p:spPr>
          <a:xfrm rot="0">
            <a:off x="1028700" y="1287413"/>
            <a:ext cx="5344397" cy="625475"/>
          </a:xfrm>
          <a:prstGeom prst="rect">
            <a:avLst/>
          </a:prstGeom>
        </p:spPr>
        <p:txBody>
          <a:bodyPr anchor="t" rtlCol="false" tIns="0" lIns="0" bIns="0" rIns="0">
            <a:spAutoFit/>
          </a:bodyPr>
          <a:lstStyle/>
          <a:p>
            <a:pPr algn="ctr">
              <a:lnSpc>
                <a:spcPts val="4900"/>
              </a:lnSpc>
              <a:spcBef>
                <a:spcPct val="0"/>
              </a:spcBef>
            </a:pPr>
            <a:r>
              <a:rPr lang="en-US" sz="3500" spc="56">
                <a:solidFill>
                  <a:srgbClr val="FFFFFF"/>
                </a:solidFill>
                <a:latin typeface="Times New Roman"/>
                <a:ea typeface="Times New Roman"/>
                <a:cs typeface="Times New Roman"/>
                <a:sym typeface="Times New Roman"/>
              </a:rPr>
              <a:t>1.1 Khái niệm phần mềm</a:t>
            </a:r>
          </a:p>
        </p:txBody>
      </p:sp>
      <p:sp>
        <p:nvSpPr>
          <p:cNvPr name="TextBox 5" id="5"/>
          <p:cNvSpPr txBox="true"/>
          <p:nvPr/>
        </p:nvSpPr>
        <p:spPr>
          <a:xfrm rot="0">
            <a:off x="1028700" y="2294881"/>
            <a:ext cx="10688795" cy="4810125"/>
          </a:xfrm>
          <a:prstGeom prst="rect">
            <a:avLst/>
          </a:prstGeom>
        </p:spPr>
        <p:txBody>
          <a:bodyPr anchor="t" rtlCol="false" tIns="0" lIns="0" bIns="0" rIns="0">
            <a:spAutoFit/>
          </a:bodyPr>
          <a:lstStyle/>
          <a:p>
            <a:pPr algn="l">
              <a:lnSpc>
                <a:spcPts val="4200"/>
              </a:lnSpc>
            </a:pPr>
            <a:r>
              <a:rPr lang="en-US" sz="3000" spc="48">
                <a:solidFill>
                  <a:srgbClr val="FFFFFF"/>
                </a:solidFill>
                <a:latin typeface="Times New Roman"/>
                <a:ea typeface="Times New Roman"/>
                <a:cs typeface="Times New Roman"/>
                <a:sym typeface="Times New Roman"/>
              </a:rPr>
              <a:t>- Phần mềm là </a:t>
            </a:r>
            <a:r>
              <a:rPr lang="en-US" sz="3000" spc="48">
                <a:solidFill>
                  <a:srgbClr val="FFFFFF"/>
                </a:solidFill>
                <a:latin typeface="Times New Roman"/>
                <a:ea typeface="Times New Roman"/>
                <a:cs typeface="Times New Roman"/>
                <a:sym typeface="Times New Roman"/>
              </a:rPr>
              <a:t>tập hợp các chương trình, dữ liệu và tài liệu hướng dẫn máy tính thực hiện một nhiệm vụ cụ thể.</a:t>
            </a:r>
          </a:p>
          <a:p>
            <a:pPr algn="l">
              <a:lnSpc>
                <a:spcPts val="4200"/>
              </a:lnSpc>
            </a:pPr>
            <a:r>
              <a:rPr lang="en-US" sz="3000" spc="48">
                <a:solidFill>
                  <a:srgbClr val="FFFFFF"/>
                </a:solidFill>
                <a:latin typeface="Times New Roman"/>
                <a:ea typeface="Times New Roman"/>
                <a:cs typeface="Times New Roman"/>
                <a:sym typeface="Times New Roman"/>
              </a:rPr>
              <a:t>- </a:t>
            </a:r>
            <a:r>
              <a:rPr lang="en-US" sz="3000" spc="48">
                <a:solidFill>
                  <a:srgbClr val="FFFFFF"/>
                </a:solidFill>
                <a:latin typeface="Times New Roman"/>
                <a:ea typeface="Times New Roman"/>
                <a:cs typeface="Times New Roman"/>
                <a:sym typeface="Times New Roman"/>
              </a:rPr>
              <a:t>Vì sao gọi là “phần mềm”?  Vì không có hình dạng vật lý, “mềm” so với phần cứng.</a:t>
            </a:r>
          </a:p>
          <a:p>
            <a:pPr algn="l">
              <a:lnSpc>
                <a:spcPts val="4200"/>
              </a:lnSpc>
            </a:pPr>
            <a:r>
              <a:rPr lang="en-US" sz="3000" spc="48">
                <a:solidFill>
                  <a:srgbClr val="FFFFFF"/>
                </a:solidFill>
                <a:latin typeface="Times New Roman"/>
                <a:ea typeface="Times New Roman"/>
                <a:cs typeface="Times New Roman"/>
                <a:sym typeface="Times New Roman"/>
              </a:rPr>
              <a:t>- </a:t>
            </a:r>
            <a:r>
              <a:rPr lang="en-US" sz="3000" spc="48">
                <a:solidFill>
                  <a:srgbClr val="FFFFFF"/>
                </a:solidFill>
                <a:latin typeface="Times New Roman"/>
                <a:ea typeface="Times New Roman"/>
                <a:cs typeface="Times New Roman"/>
                <a:sym typeface="Times New Roman"/>
              </a:rPr>
              <a:t>Khác gì so với phần cứng?</a:t>
            </a:r>
          </a:p>
          <a:p>
            <a:pPr algn="l">
              <a:lnSpc>
                <a:spcPts val="4200"/>
              </a:lnSpc>
            </a:pPr>
            <a:r>
              <a:rPr lang="en-US" sz="3000" spc="48">
                <a:solidFill>
                  <a:srgbClr val="FFFFFF"/>
                </a:solidFill>
                <a:latin typeface="Times New Roman"/>
                <a:ea typeface="Times New Roman"/>
                <a:cs typeface="Times New Roman"/>
                <a:sym typeface="Times New Roman"/>
              </a:rPr>
              <a:t> Phần cứng là thiết bị vật lý, phần mềm là chương trình vô hình chạy trên phần cứng.</a:t>
            </a:r>
          </a:p>
          <a:p>
            <a:pPr algn="l">
              <a:lnSpc>
                <a:spcPts val="4200"/>
              </a:lnSpc>
            </a:pPr>
            <a:r>
              <a:rPr lang="en-US" sz="3000" spc="48">
                <a:solidFill>
                  <a:srgbClr val="FFFFFF"/>
                </a:solidFill>
                <a:latin typeface="Times New Roman"/>
                <a:ea typeface="Times New Roman"/>
                <a:cs typeface="Times New Roman"/>
                <a:sym typeface="Times New Roman"/>
              </a:rPr>
              <a:t>- Ví dụ sử dụng hàng ngày: Trình duyệt web, ứng dụng nhắn tin (Zalo, Messenger), Microsoft Word, Gmail.</a:t>
            </a:r>
          </a:p>
        </p:txBody>
      </p:sp>
      <p:sp>
        <p:nvSpPr>
          <p:cNvPr name="TextBox 6" id="6"/>
          <p:cNvSpPr txBox="true"/>
          <p:nvPr/>
        </p:nvSpPr>
        <p:spPr>
          <a:xfrm rot="0">
            <a:off x="4400562" y="483062"/>
            <a:ext cx="9486875" cy="698500"/>
          </a:xfrm>
          <a:prstGeom prst="rect">
            <a:avLst/>
          </a:prstGeom>
        </p:spPr>
        <p:txBody>
          <a:bodyPr anchor="t" rtlCol="false" tIns="0" lIns="0" bIns="0" rIns="0">
            <a:spAutoFit/>
          </a:bodyPr>
          <a:lstStyle/>
          <a:p>
            <a:pPr algn="ctr">
              <a:lnSpc>
                <a:spcPts val="5599"/>
              </a:lnSpc>
              <a:spcBef>
                <a:spcPct val="0"/>
              </a:spcBef>
            </a:pPr>
            <a:r>
              <a:rPr lang="en-US" sz="3999" spc="63">
                <a:solidFill>
                  <a:srgbClr val="FFFFFF"/>
                </a:solidFill>
                <a:latin typeface="Times New Roman"/>
                <a:ea typeface="Times New Roman"/>
                <a:cs typeface="Times New Roman"/>
                <a:sym typeface="Times New Roman"/>
              </a:rPr>
              <a:t>PHẦ</a:t>
            </a:r>
            <a:r>
              <a:rPr lang="en-US" sz="3999" spc="63">
                <a:solidFill>
                  <a:srgbClr val="FFFFFF"/>
                </a:solidFill>
                <a:latin typeface="Times New Roman"/>
                <a:ea typeface="Times New Roman"/>
                <a:cs typeface="Times New Roman"/>
                <a:sym typeface="Times New Roman"/>
              </a:rPr>
              <a:t>N 1.1 – KHÁI NIỆM VỀ PHẦN MỀM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1495425" y="933450"/>
            <a:ext cx="6535698" cy="625475"/>
          </a:xfrm>
          <a:prstGeom prst="rect">
            <a:avLst/>
          </a:prstGeom>
        </p:spPr>
        <p:txBody>
          <a:bodyPr anchor="t" rtlCol="false" tIns="0" lIns="0" bIns="0" rIns="0">
            <a:spAutoFit/>
          </a:bodyPr>
          <a:lstStyle/>
          <a:p>
            <a:pPr algn="ctr">
              <a:lnSpc>
                <a:spcPts val="4900"/>
              </a:lnSpc>
              <a:spcBef>
                <a:spcPct val="0"/>
              </a:spcBef>
            </a:pPr>
            <a:r>
              <a:rPr lang="en-US" sz="3500" spc="56">
                <a:solidFill>
                  <a:srgbClr val="FFFFFF"/>
                </a:solidFill>
                <a:latin typeface="Times New Roman"/>
                <a:ea typeface="Times New Roman"/>
                <a:cs typeface="Times New Roman"/>
                <a:sym typeface="Times New Roman"/>
              </a:rPr>
              <a:t>1.1.2.</a:t>
            </a:r>
            <a:r>
              <a:rPr lang="en-US" sz="3500" spc="56">
                <a:solidFill>
                  <a:srgbClr val="FFFFFF"/>
                </a:solidFill>
                <a:latin typeface="Times New Roman"/>
                <a:ea typeface="Times New Roman"/>
                <a:cs typeface="Times New Roman"/>
                <a:sym typeface="Times New Roman"/>
              </a:rPr>
              <a:t> Các đặc trưng của phần mềm</a:t>
            </a:r>
          </a:p>
        </p:txBody>
      </p:sp>
      <p:sp>
        <p:nvSpPr>
          <p:cNvPr name="TextBox 4" id="4"/>
          <p:cNvSpPr txBox="true"/>
          <p:nvPr/>
        </p:nvSpPr>
        <p:spPr>
          <a:xfrm rot="0">
            <a:off x="1028700" y="2141280"/>
            <a:ext cx="14969596" cy="3743325"/>
          </a:xfrm>
          <a:prstGeom prst="rect">
            <a:avLst/>
          </a:prstGeom>
        </p:spPr>
        <p:txBody>
          <a:bodyPr anchor="t" rtlCol="false" tIns="0" lIns="0" bIns="0" rIns="0">
            <a:spAutoFit/>
          </a:bodyPr>
          <a:lstStyle/>
          <a:p>
            <a:pPr algn="l">
              <a:lnSpc>
                <a:spcPts val="4200"/>
              </a:lnSpc>
            </a:pPr>
            <a:r>
              <a:rPr lang="en-US" sz="3000" spc="48">
                <a:solidFill>
                  <a:srgbClr val="FFFFFF"/>
                </a:solidFill>
                <a:latin typeface="Times New Roman"/>
                <a:ea typeface="Times New Roman"/>
                <a:cs typeface="Times New Roman"/>
                <a:sym typeface="Times New Roman"/>
              </a:rPr>
              <a:t>1. Những đặc điểm làm phần mềm khác với sản phẩm kỹ thuật truyền thống (ô tô, máy móc):</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Phần mềm là phi vật chất, không nhìn thấy hay cầm nắm được.</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Không bị giới hạn bởi quy luật vật lý như sản phẩm cơ khí.</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Được phát triển chủ yếu bằng trí tuệ và logic, không phải dây chuyền sản xuất vật lý.</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Chi phí sao chép gần như bằng 0, không cần sản xuất lại như hàng hóa vật chất.</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Dễ thay đổi, nâng cấp hơn so với máy móc truyền thống.</a:t>
            </a:r>
          </a:p>
          <a:p>
            <a:pPr algn="l">
              <a:lnSpc>
                <a:spcPts val="4200"/>
              </a:lnSpc>
              <a:spcBef>
                <a:spcPct val="0"/>
              </a:spcBef>
            </a:pPr>
          </a:p>
        </p:txBody>
      </p:sp>
      <p:sp>
        <p:nvSpPr>
          <p:cNvPr name="TextBox 5" id="5"/>
          <p:cNvSpPr txBox="true"/>
          <p:nvPr/>
        </p:nvSpPr>
        <p:spPr>
          <a:xfrm rot="0">
            <a:off x="1028700" y="5514975"/>
            <a:ext cx="14443115" cy="3743325"/>
          </a:xfrm>
          <a:prstGeom prst="rect">
            <a:avLst/>
          </a:prstGeom>
        </p:spPr>
        <p:txBody>
          <a:bodyPr anchor="t" rtlCol="false" tIns="0" lIns="0" bIns="0" rIns="0">
            <a:spAutoFit/>
          </a:bodyPr>
          <a:lstStyle/>
          <a:p>
            <a:pPr algn="l">
              <a:lnSpc>
                <a:spcPts val="4200"/>
              </a:lnSpc>
              <a:spcBef>
                <a:spcPct val="0"/>
              </a:spcBef>
            </a:pPr>
            <a:r>
              <a:rPr lang="en-US" sz="3000" spc="48">
                <a:solidFill>
                  <a:srgbClr val="FFFFFF"/>
                </a:solidFill>
                <a:latin typeface="Times New Roman"/>
                <a:ea typeface="Times New Roman"/>
                <a:cs typeface="Times New Roman"/>
                <a:sym typeface="Times New Roman"/>
              </a:rPr>
              <a:t>2. Vì sao nó</a:t>
            </a:r>
            <a:r>
              <a:rPr lang="en-US" sz="3000" spc="48">
                <a:solidFill>
                  <a:srgbClr val="FFFFFF"/>
                </a:solidFill>
                <a:latin typeface="Times New Roman"/>
                <a:ea typeface="Times New Roman"/>
                <a:cs typeface="Times New Roman"/>
                <a:sym typeface="Times New Roman"/>
              </a:rPr>
              <a:t>i phần mềm “không hao mòn theo thời gian” nhưng “thoái hóa” trong sử dụng?</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Phần mềm không bị mài mòn vật lý nên không hỏng do sử dụng lâu như máy móc.</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Tuy nhiên, nó “thoái hóa” vì:</a:t>
            </a:r>
          </a:p>
          <a:p>
            <a:pPr algn="l" marL="1295400" indent="-431800" lvl="2">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Môi trường thay đổi (hệ điều hành, phần cứng, nhu cầu người dùng).</a:t>
            </a:r>
          </a:p>
          <a:p>
            <a:pPr algn="l" marL="1295400" indent="-431800" lvl="2">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Các lần sửa đổi, nâng cấp có thể gây lỗi mới.</a:t>
            </a:r>
          </a:p>
          <a:p>
            <a:pPr algn="l" marL="1295400" indent="-431800" lvl="2">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Cấu trúc dần trở nên phức tạp, khó bảo trì.</a:t>
            </a:r>
          </a:p>
          <a:p>
            <a:pPr algn="l">
              <a:lnSpc>
                <a:spcPts val="4200"/>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14643659" y="0"/>
            <a:ext cx="3644341" cy="4060967"/>
          </a:xfrm>
          <a:custGeom>
            <a:avLst/>
            <a:gdLst/>
            <a:ahLst/>
            <a:cxnLst/>
            <a:rect r="r" b="b" t="t" l="l"/>
            <a:pathLst>
              <a:path h="4060967" w="3644341">
                <a:moveTo>
                  <a:pt x="0" y="0"/>
                </a:moveTo>
                <a:lnTo>
                  <a:pt x="3644341" y="0"/>
                </a:lnTo>
                <a:lnTo>
                  <a:pt x="3644341" y="4060967"/>
                </a:lnTo>
                <a:lnTo>
                  <a:pt x="0" y="4060967"/>
                </a:lnTo>
                <a:lnTo>
                  <a:pt x="0" y="0"/>
                </a:lnTo>
                <a:close/>
              </a:path>
            </a:pathLst>
          </a:custGeom>
          <a:blipFill>
            <a:blip r:embed="rId3"/>
            <a:stretch>
              <a:fillRect l="-52624" t="0" r="-45477" b="0"/>
            </a:stretch>
          </a:blipFill>
        </p:spPr>
      </p:sp>
      <p:sp>
        <p:nvSpPr>
          <p:cNvPr name="TextBox 4" id="4"/>
          <p:cNvSpPr txBox="true"/>
          <p:nvPr/>
        </p:nvSpPr>
        <p:spPr>
          <a:xfrm rot="0">
            <a:off x="1495425" y="933450"/>
            <a:ext cx="6535698" cy="625475"/>
          </a:xfrm>
          <a:prstGeom prst="rect">
            <a:avLst/>
          </a:prstGeom>
        </p:spPr>
        <p:txBody>
          <a:bodyPr anchor="t" rtlCol="false" tIns="0" lIns="0" bIns="0" rIns="0">
            <a:spAutoFit/>
          </a:bodyPr>
          <a:lstStyle/>
          <a:p>
            <a:pPr algn="ctr">
              <a:lnSpc>
                <a:spcPts val="4900"/>
              </a:lnSpc>
              <a:spcBef>
                <a:spcPct val="0"/>
              </a:spcBef>
            </a:pPr>
            <a:r>
              <a:rPr lang="en-US" sz="3500" spc="56">
                <a:solidFill>
                  <a:srgbClr val="FFFFFF"/>
                </a:solidFill>
                <a:latin typeface="Times New Roman"/>
                <a:ea typeface="Times New Roman"/>
                <a:cs typeface="Times New Roman"/>
                <a:sym typeface="Times New Roman"/>
              </a:rPr>
              <a:t>1.1.2.</a:t>
            </a:r>
            <a:r>
              <a:rPr lang="en-US" sz="3500" spc="56">
                <a:solidFill>
                  <a:srgbClr val="FFFFFF"/>
                </a:solidFill>
                <a:latin typeface="Times New Roman"/>
                <a:ea typeface="Times New Roman"/>
                <a:cs typeface="Times New Roman"/>
                <a:sym typeface="Times New Roman"/>
              </a:rPr>
              <a:t> Các đặc trưng của phần mềm</a:t>
            </a:r>
          </a:p>
        </p:txBody>
      </p:sp>
      <p:sp>
        <p:nvSpPr>
          <p:cNvPr name="TextBox 5" id="5"/>
          <p:cNvSpPr txBox="true"/>
          <p:nvPr/>
        </p:nvSpPr>
        <p:spPr>
          <a:xfrm rot="0">
            <a:off x="1028700" y="1931987"/>
            <a:ext cx="14969596" cy="3743325"/>
          </a:xfrm>
          <a:prstGeom prst="rect">
            <a:avLst/>
          </a:prstGeom>
        </p:spPr>
        <p:txBody>
          <a:bodyPr anchor="t" rtlCol="false" tIns="0" lIns="0" bIns="0" rIns="0">
            <a:spAutoFit/>
          </a:bodyPr>
          <a:lstStyle/>
          <a:p>
            <a:pPr algn="l">
              <a:lnSpc>
                <a:spcPts val="4200"/>
              </a:lnSpc>
            </a:pPr>
            <a:r>
              <a:rPr lang="en-US" sz="3000" spc="48">
                <a:solidFill>
                  <a:srgbClr val="FFFFFF"/>
                </a:solidFill>
                <a:latin typeface="Times New Roman"/>
                <a:ea typeface="Times New Roman"/>
                <a:cs typeface="Times New Roman"/>
                <a:sym typeface="Times New Roman"/>
              </a:rPr>
              <a:t>3. Phần mềm có dễ đo lường chất lượng không? Vì sao?</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Không dễ đo lường chính xác.</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Vì:</a:t>
            </a:r>
          </a:p>
          <a:p>
            <a:pPr algn="l" marL="1295400" indent="-431800" lvl="2">
              <a:lnSpc>
                <a:spcPts val="4200"/>
              </a:lnSpc>
              <a:buFont typeface="Arial"/>
              <a:buChar char="⚬"/>
            </a:pPr>
            <a:r>
              <a:rPr lang="en-US" sz="3000" spc="48">
                <a:solidFill>
                  <a:srgbClr val="FFFFFF"/>
                </a:solidFill>
                <a:latin typeface="Times New Roman"/>
                <a:ea typeface="Times New Roman"/>
                <a:cs typeface="Times New Roman"/>
                <a:sym typeface="Times New Roman"/>
              </a:rPr>
              <a:t>Chất lượng phần mềm mang tính trừu tượng (độ tin cậy, dễ dùng…).</a:t>
            </a:r>
          </a:p>
          <a:p>
            <a:pPr algn="l" marL="1295400" indent="-431800" lvl="2">
              <a:lnSpc>
                <a:spcPts val="4200"/>
              </a:lnSpc>
              <a:buFont typeface="Arial"/>
              <a:buChar char="⚬"/>
            </a:pPr>
            <a:r>
              <a:rPr lang="en-US" sz="3000" spc="48">
                <a:solidFill>
                  <a:srgbClr val="FFFFFF"/>
                </a:solidFill>
                <a:latin typeface="Times New Roman"/>
                <a:ea typeface="Times New Roman"/>
                <a:cs typeface="Times New Roman"/>
                <a:sym typeface="Times New Roman"/>
              </a:rPr>
              <a:t>Phụ thuộc vào nhiều yếu tố như người dùng, môi trường sử dụng.</a:t>
            </a:r>
          </a:p>
          <a:p>
            <a:pPr algn="l" marL="1295400" indent="-431800" lvl="2">
              <a:lnSpc>
                <a:spcPts val="4200"/>
              </a:lnSpc>
              <a:buFont typeface="Arial"/>
              <a:buChar char="⚬"/>
            </a:pPr>
            <a:r>
              <a:rPr lang="en-US" sz="3000" spc="48">
                <a:solidFill>
                  <a:srgbClr val="FFFFFF"/>
                </a:solidFill>
                <a:latin typeface="Times New Roman"/>
                <a:ea typeface="Times New Roman"/>
                <a:cs typeface="Times New Roman"/>
                <a:sym typeface="Times New Roman"/>
              </a:rPr>
              <a:t>Không có đơn vị đo lường cụ thể như sản phẩm vật lý.</a:t>
            </a:r>
          </a:p>
          <a:p>
            <a:pPr algn="l">
              <a:lnSpc>
                <a:spcPts val="4200"/>
              </a:lnSpc>
              <a:spcBef>
                <a:spcPct val="0"/>
              </a:spcBef>
            </a:pPr>
          </a:p>
        </p:txBody>
      </p:sp>
      <p:sp>
        <p:nvSpPr>
          <p:cNvPr name="TextBox 6" id="6"/>
          <p:cNvSpPr txBox="true"/>
          <p:nvPr/>
        </p:nvSpPr>
        <p:spPr>
          <a:xfrm rot="0">
            <a:off x="1028700" y="6048375"/>
            <a:ext cx="12360355" cy="3209925"/>
          </a:xfrm>
          <a:prstGeom prst="rect">
            <a:avLst/>
          </a:prstGeom>
        </p:spPr>
        <p:txBody>
          <a:bodyPr anchor="t" rtlCol="false" tIns="0" lIns="0" bIns="0" rIns="0">
            <a:spAutoFit/>
          </a:bodyPr>
          <a:lstStyle/>
          <a:p>
            <a:pPr algn="l">
              <a:lnSpc>
                <a:spcPts val="4200"/>
              </a:lnSpc>
              <a:spcBef>
                <a:spcPct val="0"/>
              </a:spcBef>
            </a:pPr>
            <a:r>
              <a:rPr lang="en-US" sz="3000" spc="48">
                <a:solidFill>
                  <a:srgbClr val="FFFFFF"/>
                </a:solidFill>
                <a:latin typeface="Times New Roman"/>
                <a:ea typeface="Times New Roman"/>
                <a:cs typeface="Times New Roman"/>
                <a:sym typeface="Times New Roman"/>
              </a:rPr>
              <a:t>4. Ý nghĩa của v</a:t>
            </a:r>
            <a:r>
              <a:rPr lang="en-US" sz="3000" spc="48">
                <a:solidFill>
                  <a:srgbClr val="FFFFFF"/>
                </a:solidFill>
                <a:latin typeface="Times New Roman"/>
                <a:ea typeface="Times New Roman"/>
                <a:cs typeface="Times New Roman"/>
                <a:sym typeface="Times New Roman"/>
              </a:rPr>
              <a:t>iệc bảo trì phần mềm:</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Giúp sửa lỗi phát sinh sau khi triển khai.</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Cải tiến, nâng cấp để đáp ứng nhu cầu mới.</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Đảm bảo phần mềm hoạt động ổn định, lâu dài trong môi trường thay đổi.</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Giúp kéo dài vòng đời và tăng giá trị sử dụng của phần mềm.</a:t>
            </a:r>
          </a:p>
          <a:p>
            <a:pPr algn="l">
              <a:lnSpc>
                <a:spcPts val="4200"/>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0984220" y="3195057"/>
            <a:ext cx="7303780" cy="3896886"/>
            <a:chOff x="0" y="0"/>
            <a:chExt cx="1523399" cy="812800"/>
          </a:xfrm>
        </p:grpSpPr>
        <p:sp>
          <p:nvSpPr>
            <p:cNvPr name="Freeform 4" id="4"/>
            <p:cNvSpPr/>
            <p:nvPr/>
          </p:nvSpPr>
          <p:spPr>
            <a:xfrm flipH="false" flipV="false" rot="0">
              <a:off x="0" y="0"/>
              <a:ext cx="1523399" cy="812800"/>
            </a:xfrm>
            <a:custGeom>
              <a:avLst/>
              <a:gdLst/>
              <a:ahLst/>
              <a:cxnLst/>
              <a:rect r="r" b="b" t="t" l="l"/>
              <a:pathLst>
                <a:path h="812800" w="1523399">
                  <a:moveTo>
                    <a:pt x="0" y="0"/>
                  </a:moveTo>
                  <a:lnTo>
                    <a:pt x="1523399" y="0"/>
                  </a:lnTo>
                  <a:lnTo>
                    <a:pt x="1523399" y="812800"/>
                  </a:lnTo>
                  <a:lnTo>
                    <a:pt x="0" y="812800"/>
                  </a:lnTo>
                  <a:close/>
                </a:path>
              </a:pathLst>
            </a:custGeom>
            <a:blipFill>
              <a:blip r:embed="rId3"/>
              <a:stretch>
                <a:fillRect l="-3354" t="0" r="-3354" b="0"/>
              </a:stretch>
            </a:blipFill>
          </p:spPr>
        </p:sp>
      </p:grpSp>
      <p:sp>
        <p:nvSpPr>
          <p:cNvPr name="TextBox 5" id="5"/>
          <p:cNvSpPr txBox="true"/>
          <p:nvPr/>
        </p:nvSpPr>
        <p:spPr>
          <a:xfrm rot="0">
            <a:off x="1028700" y="971550"/>
            <a:ext cx="5683249" cy="584200"/>
          </a:xfrm>
          <a:prstGeom prst="rect">
            <a:avLst/>
          </a:prstGeom>
        </p:spPr>
        <p:txBody>
          <a:bodyPr anchor="t" rtlCol="false" tIns="0" lIns="0" bIns="0" rIns="0">
            <a:spAutoFit/>
          </a:bodyPr>
          <a:lstStyle/>
          <a:p>
            <a:pPr algn="ctr">
              <a:lnSpc>
                <a:spcPts val="4550"/>
              </a:lnSpc>
            </a:pPr>
            <a:r>
              <a:rPr lang="en-US" sz="3500">
                <a:solidFill>
                  <a:srgbClr val="FFFFFF"/>
                </a:solidFill>
                <a:latin typeface="Times New Roman"/>
                <a:ea typeface="Times New Roman"/>
                <a:cs typeface="Times New Roman"/>
                <a:sym typeface="Times New Roman"/>
              </a:rPr>
              <a:t>1.1.3. Phân loại phần mềm</a:t>
            </a:r>
          </a:p>
        </p:txBody>
      </p:sp>
      <p:sp>
        <p:nvSpPr>
          <p:cNvPr name="TextBox 6" id="6"/>
          <p:cNvSpPr txBox="true"/>
          <p:nvPr/>
        </p:nvSpPr>
        <p:spPr>
          <a:xfrm rot="0">
            <a:off x="1028700" y="1843342"/>
            <a:ext cx="11935368" cy="4810125"/>
          </a:xfrm>
          <a:prstGeom prst="rect">
            <a:avLst/>
          </a:prstGeom>
        </p:spPr>
        <p:txBody>
          <a:bodyPr anchor="t" rtlCol="false" tIns="0" lIns="0" bIns="0" rIns="0">
            <a:spAutoFit/>
          </a:bodyPr>
          <a:lstStyle/>
          <a:p>
            <a:pPr algn="just">
              <a:lnSpc>
                <a:spcPts val="4200"/>
              </a:lnSpc>
            </a:pPr>
            <a:r>
              <a:rPr lang="en-US" sz="3000" spc="126">
                <a:solidFill>
                  <a:srgbClr val="FFFFFF"/>
                </a:solidFill>
                <a:latin typeface="Times New Roman"/>
                <a:ea typeface="Times New Roman"/>
                <a:cs typeface="Times New Roman"/>
                <a:sym typeface="Times New Roman"/>
              </a:rPr>
              <a:t>1. Các cách phân loại phần mềm</a:t>
            </a:r>
          </a:p>
          <a:p>
            <a:pPr algn="just">
              <a:lnSpc>
                <a:spcPts val="4200"/>
              </a:lnSpc>
            </a:pPr>
            <a:r>
              <a:rPr lang="en-US" sz="3000" spc="126">
                <a:solidFill>
                  <a:srgbClr val="FFFFFF"/>
                </a:solidFill>
                <a:latin typeface="Times New Roman"/>
                <a:ea typeface="Times New Roman"/>
                <a:cs typeface="Times New Roman"/>
                <a:sym typeface="Times New Roman"/>
              </a:rPr>
              <a:t>a. Theo chức năng</a:t>
            </a:r>
          </a:p>
          <a:p>
            <a:pPr algn="just" marL="647700" indent="-323850" lvl="1">
              <a:lnSpc>
                <a:spcPts val="4200"/>
              </a:lnSpc>
              <a:buFont typeface="Arial"/>
              <a:buChar char="•"/>
            </a:pPr>
            <a:r>
              <a:rPr lang="en-US" sz="3000" spc="126">
                <a:solidFill>
                  <a:srgbClr val="FFFFFF"/>
                </a:solidFill>
                <a:latin typeface="Times New Roman"/>
                <a:ea typeface="Times New Roman"/>
                <a:cs typeface="Times New Roman"/>
                <a:sym typeface="Times New Roman"/>
              </a:rPr>
              <a:t>Phần mềm hệ thống: Quản lý, điều khiển máy tính</a:t>
            </a:r>
          </a:p>
          <a:p>
            <a:pPr algn="just" marL="647700" indent="-323850" lvl="1">
              <a:lnSpc>
                <a:spcPts val="4200"/>
              </a:lnSpc>
              <a:buFont typeface="Arial"/>
              <a:buChar char="•"/>
            </a:pPr>
            <a:r>
              <a:rPr lang="en-US" sz="3000" spc="126">
                <a:solidFill>
                  <a:srgbClr val="FFFFFF"/>
                </a:solidFill>
                <a:latin typeface="Times New Roman"/>
                <a:ea typeface="Times New Roman"/>
                <a:cs typeface="Times New Roman"/>
                <a:sym typeface="Times New Roman"/>
              </a:rPr>
              <a:t> → Ví dụ: Windows, Linux</a:t>
            </a:r>
          </a:p>
          <a:p>
            <a:pPr algn="just" marL="647700" indent="-323850" lvl="1">
              <a:lnSpc>
                <a:spcPts val="4200"/>
              </a:lnSpc>
              <a:buFont typeface="Arial"/>
              <a:buChar char="•"/>
            </a:pPr>
            <a:r>
              <a:rPr lang="en-US" sz="3000" spc="126">
                <a:solidFill>
                  <a:srgbClr val="FFFFFF"/>
                </a:solidFill>
                <a:latin typeface="Times New Roman"/>
                <a:ea typeface="Times New Roman"/>
                <a:cs typeface="Times New Roman"/>
                <a:sym typeface="Times New Roman"/>
              </a:rPr>
              <a:t>Phần mềm ứng dụng: Phục vụ nhu cầu người dùng</a:t>
            </a:r>
          </a:p>
          <a:p>
            <a:pPr algn="just" marL="647700" indent="-323850" lvl="1">
              <a:lnSpc>
                <a:spcPts val="4200"/>
              </a:lnSpc>
              <a:buFont typeface="Arial"/>
              <a:buChar char="•"/>
            </a:pPr>
            <a:r>
              <a:rPr lang="en-US" sz="3000" spc="126">
                <a:solidFill>
                  <a:srgbClr val="FFFFFF"/>
                </a:solidFill>
                <a:latin typeface="Times New Roman"/>
                <a:ea typeface="Times New Roman"/>
                <a:cs typeface="Times New Roman"/>
                <a:sym typeface="Times New Roman"/>
              </a:rPr>
              <a:t> → Ví dụ: Word, Excel, Photoshop</a:t>
            </a:r>
          </a:p>
          <a:p>
            <a:pPr algn="just" marL="647700" indent="-323850" lvl="1">
              <a:lnSpc>
                <a:spcPts val="4200"/>
              </a:lnSpc>
              <a:buFont typeface="Arial"/>
              <a:buChar char="•"/>
            </a:pPr>
            <a:r>
              <a:rPr lang="en-US" sz="3000" spc="126">
                <a:solidFill>
                  <a:srgbClr val="FFFFFF"/>
                </a:solidFill>
                <a:latin typeface="Times New Roman"/>
                <a:ea typeface="Times New Roman"/>
                <a:cs typeface="Times New Roman"/>
                <a:sym typeface="Times New Roman"/>
              </a:rPr>
              <a:t>Phần mềm lập trình: Dùng để viết chương trình</a:t>
            </a:r>
          </a:p>
          <a:p>
            <a:pPr algn="just" marL="647700" indent="-323850" lvl="1">
              <a:lnSpc>
                <a:spcPts val="4200"/>
              </a:lnSpc>
              <a:buFont typeface="Arial"/>
              <a:buChar char="•"/>
            </a:pPr>
            <a:r>
              <a:rPr lang="en-US" sz="3000" spc="126">
                <a:solidFill>
                  <a:srgbClr val="FFFFFF"/>
                </a:solidFill>
                <a:latin typeface="Times New Roman"/>
                <a:ea typeface="Times New Roman"/>
                <a:cs typeface="Times New Roman"/>
                <a:sym typeface="Times New Roman"/>
              </a:rPr>
              <a:t> → Ví dụ: Visual Studio, Eclipse</a:t>
            </a:r>
          </a:p>
          <a:p>
            <a:pPr algn="just">
              <a:lnSpc>
                <a:spcPts val="4200"/>
              </a:lnSpc>
            </a:pPr>
          </a:p>
        </p:txBody>
      </p:sp>
      <p:sp>
        <p:nvSpPr>
          <p:cNvPr name="TextBox 7" id="7"/>
          <p:cNvSpPr txBox="true"/>
          <p:nvPr/>
        </p:nvSpPr>
        <p:spPr>
          <a:xfrm rot="0">
            <a:off x="1028700" y="6208515"/>
            <a:ext cx="8216741" cy="3209925"/>
          </a:xfrm>
          <a:prstGeom prst="rect">
            <a:avLst/>
          </a:prstGeom>
        </p:spPr>
        <p:txBody>
          <a:bodyPr anchor="t" rtlCol="false" tIns="0" lIns="0" bIns="0" rIns="0">
            <a:spAutoFit/>
          </a:bodyPr>
          <a:lstStyle/>
          <a:p>
            <a:pPr algn="l">
              <a:lnSpc>
                <a:spcPts val="4200"/>
              </a:lnSpc>
              <a:spcBef>
                <a:spcPct val="0"/>
              </a:spcBef>
            </a:pPr>
            <a:r>
              <a:rPr lang="en-US" sz="3000" spc="48">
                <a:solidFill>
                  <a:srgbClr val="FFFFFF"/>
                </a:solidFill>
                <a:latin typeface="Times New Roman"/>
                <a:ea typeface="Times New Roman"/>
                <a:cs typeface="Times New Roman"/>
                <a:sym typeface="Times New Roman"/>
              </a:rPr>
              <a:t>b. Theo mục đích sử</a:t>
            </a:r>
            <a:r>
              <a:rPr lang="en-US" sz="3000" spc="48">
                <a:solidFill>
                  <a:srgbClr val="FFFFFF"/>
                </a:solidFill>
                <a:latin typeface="Times New Roman"/>
                <a:ea typeface="Times New Roman"/>
                <a:cs typeface="Times New Roman"/>
                <a:sym typeface="Times New Roman"/>
              </a:rPr>
              <a:t> dụng</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Phần mềm văn phòng: Soạn thảo, tính toán</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Phần mềm đồ họa: Thiết kế, chỉnh sửa ảnh</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Phần mềm giải trí: Game, xem phim, nghe nhạc</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Phần mềm giáo dục: Học tập, giảng dạy</a:t>
            </a:r>
          </a:p>
          <a:p>
            <a:pPr algn="l">
              <a:lnSpc>
                <a:spcPts val="420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028700" y="971550"/>
            <a:ext cx="5683249" cy="584200"/>
          </a:xfrm>
          <a:prstGeom prst="rect">
            <a:avLst/>
          </a:prstGeom>
        </p:spPr>
        <p:txBody>
          <a:bodyPr anchor="t" rtlCol="false" tIns="0" lIns="0" bIns="0" rIns="0">
            <a:spAutoFit/>
          </a:bodyPr>
          <a:lstStyle/>
          <a:p>
            <a:pPr algn="ctr">
              <a:lnSpc>
                <a:spcPts val="4550"/>
              </a:lnSpc>
            </a:pPr>
            <a:r>
              <a:rPr lang="en-US" sz="3500">
                <a:solidFill>
                  <a:srgbClr val="FFFFFF"/>
                </a:solidFill>
                <a:latin typeface="Times New Roman"/>
                <a:ea typeface="Times New Roman"/>
                <a:cs typeface="Times New Roman"/>
                <a:sym typeface="Times New Roman"/>
              </a:rPr>
              <a:t>1.1.3. Phân loại phần mềm</a:t>
            </a:r>
          </a:p>
        </p:txBody>
      </p:sp>
      <p:sp>
        <p:nvSpPr>
          <p:cNvPr name="TextBox 4" id="4"/>
          <p:cNvSpPr txBox="true"/>
          <p:nvPr/>
        </p:nvSpPr>
        <p:spPr>
          <a:xfrm rot="0">
            <a:off x="1028700" y="1843342"/>
            <a:ext cx="11935368" cy="4810125"/>
          </a:xfrm>
          <a:prstGeom prst="rect">
            <a:avLst/>
          </a:prstGeom>
        </p:spPr>
        <p:txBody>
          <a:bodyPr anchor="t" rtlCol="false" tIns="0" lIns="0" bIns="0" rIns="0">
            <a:spAutoFit/>
          </a:bodyPr>
          <a:lstStyle/>
          <a:p>
            <a:pPr algn="just">
              <a:lnSpc>
                <a:spcPts val="4200"/>
              </a:lnSpc>
            </a:pPr>
            <a:r>
              <a:rPr lang="en-US" sz="3000" spc="126">
                <a:solidFill>
                  <a:srgbClr val="FFFFFF"/>
                </a:solidFill>
                <a:latin typeface="Times New Roman"/>
                <a:ea typeface="Times New Roman"/>
                <a:cs typeface="Times New Roman"/>
                <a:sym typeface="Times New Roman"/>
              </a:rPr>
              <a:t>c. Theo bản quyền</a:t>
            </a:r>
          </a:p>
          <a:p>
            <a:pPr algn="just" marL="647700" indent="-323850" lvl="1">
              <a:lnSpc>
                <a:spcPts val="4200"/>
              </a:lnSpc>
              <a:buFont typeface="Arial"/>
              <a:buChar char="•"/>
            </a:pPr>
            <a:r>
              <a:rPr lang="en-US" sz="3000" spc="126">
                <a:solidFill>
                  <a:srgbClr val="FFFFFF"/>
                </a:solidFill>
                <a:latin typeface="Times New Roman"/>
                <a:ea typeface="Times New Roman"/>
                <a:cs typeface="Times New Roman"/>
                <a:sym typeface="Times New Roman"/>
              </a:rPr>
              <a:t>Phần mềm thương mại: Phải trả phí</a:t>
            </a:r>
          </a:p>
          <a:p>
            <a:pPr algn="just" marL="647700" indent="-323850" lvl="1">
              <a:lnSpc>
                <a:spcPts val="4200"/>
              </a:lnSpc>
              <a:buFont typeface="Arial"/>
              <a:buChar char="•"/>
            </a:pPr>
            <a:r>
              <a:rPr lang="en-US" sz="3000" spc="126">
                <a:solidFill>
                  <a:srgbClr val="FFFFFF"/>
                </a:solidFill>
                <a:latin typeface="Times New Roman"/>
                <a:ea typeface="Times New Roman"/>
                <a:cs typeface="Times New Roman"/>
                <a:sym typeface="Times New Roman"/>
              </a:rPr>
              <a:t> → Ví dụ: Microsoft Office</a:t>
            </a:r>
          </a:p>
          <a:p>
            <a:pPr algn="just" marL="647700" indent="-323850" lvl="1">
              <a:lnSpc>
                <a:spcPts val="4200"/>
              </a:lnSpc>
              <a:buFont typeface="Arial"/>
              <a:buChar char="•"/>
            </a:pPr>
            <a:r>
              <a:rPr lang="en-US" sz="3000" spc="126">
                <a:solidFill>
                  <a:srgbClr val="FFFFFF"/>
                </a:solidFill>
                <a:latin typeface="Times New Roman"/>
                <a:ea typeface="Times New Roman"/>
                <a:cs typeface="Times New Roman"/>
                <a:sym typeface="Times New Roman"/>
              </a:rPr>
              <a:t>Phần mềm miễn phí (Freeware): Dùng miễn phí</a:t>
            </a:r>
          </a:p>
          <a:p>
            <a:pPr algn="just" marL="647700" indent="-323850" lvl="1">
              <a:lnSpc>
                <a:spcPts val="4200"/>
              </a:lnSpc>
              <a:buFont typeface="Arial"/>
              <a:buChar char="•"/>
            </a:pPr>
            <a:r>
              <a:rPr lang="en-US" sz="3000" spc="126">
                <a:solidFill>
                  <a:srgbClr val="FFFFFF"/>
                </a:solidFill>
                <a:latin typeface="Times New Roman"/>
                <a:ea typeface="Times New Roman"/>
                <a:cs typeface="Times New Roman"/>
                <a:sym typeface="Times New Roman"/>
              </a:rPr>
              <a:t> → Ví dụ: Chrome</a:t>
            </a:r>
          </a:p>
          <a:p>
            <a:pPr algn="just" marL="647700" indent="-323850" lvl="1">
              <a:lnSpc>
                <a:spcPts val="4200"/>
              </a:lnSpc>
              <a:buFont typeface="Arial"/>
              <a:buChar char="•"/>
            </a:pPr>
            <a:r>
              <a:rPr lang="en-US" sz="3000" spc="126">
                <a:solidFill>
                  <a:srgbClr val="FFFFFF"/>
                </a:solidFill>
                <a:latin typeface="Times New Roman"/>
                <a:ea typeface="Times New Roman"/>
                <a:cs typeface="Times New Roman"/>
                <a:sym typeface="Times New Roman"/>
              </a:rPr>
              <a:t>Phần mềm mã nguồn mở (Open Source): Cho phép sửa đổi</a:t>
            </a:r>
          </a:p>
          <a:p>
            <a:pPr algn="just" marL="647700" indent="-323850" lvl="1">
              <a:lnSpc>
                <a:spcPts val="4200"/>
              </a:lnSpc>
              <a:buFont typeface="Arial"/>
              <a:buChar char="•"/>
            </a:pPr>
            <a:r>
              <a:rPr lang="en-US" sz="3000" spc="126">
                <a:solidFill>
                  <a:srgbClr val="FFFFFF"/>
                </a:solidFill>
                <a:latin typeface="Times New Roman"/>
                <a:ea typeface="Times New Roman"/>
                <a:cs typeface="Times New Roman"/>
                <a:sym typeface="Times New Roman"/>
              </a:rPr>
              <a:t> → Ví dụ: Linux</a:t>
            </a:r>
          </a:p>
          <a:p>
            <a:pPr algn="just" marL="647700" indent="-323850" lvl="1">
              <a:lnSpc>
                <a:spcPts val="4200"/>
              </a:lnSpc>
              <a:buFont typeface="Arial"/>
              <a:buChar char="•"/>
            </a:pPr>
            <a:r>
              <a:rPr lang="en-US" sz="3000" spc="126">
                <a:solidFill>
                  <a:srgbClr val="FFFFFF"/>
                </a:solidFill>
                <a:latin typeface="Times New Roman"/>
                <a:ea typeface="Times New Roman"/>
                <a:cs typeface="Times New Roman"/>
                <a:sym typeface="Times New Roman"/>
              </a:rPr>
              <a:t>Phần mềm dùng thử (Trial): Dùng thử có thời hạn</a:t>
            </a:r>
          </a:p>
          <a:p>
            <a:pPr algn="just">
              <a:lnSpc>
                <a:spcPts val="420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028700" y="1843342"/>
            <a:ext cx="11935368" cy="5343525"/>
          </a:xfrm>
          <a:prstGeom prst="rect">
            <a:avLst/>
          </a:prstGeom>
        </p:spPr>
        <p:txBody>
          <a:bodyPr anchor="t" rtlCol="false" tIns="0" lIns="0" bIns="0" rIns="0">
            <a:spAutoFit/>
          </a:bodyPr>
          <a:lstStyle/>
          <a:p>
            <a:pPr algn="just">
              <a:lnSpc>
                <a:spcPts val="4200"/>
              </a:lnSpc>
            </a:pPr>
            <a:r>
              <a:rPr lang="en-US" sz="3000" spc="126">
                <a:solidFill>
                  <a:srgbClr val="FFFFFF"/>
                </a:solidFill>
                <a:latin typeface="Times New Roman"/>
                <a:ea typeface="Times New Roman"/>
                <a:cs typeface="Times New Roman"/>
                <a:sym typeface="Times New Roman"/>
              </a:rPr>
              <a:t>2. Tại sao một phần mềm thuộc nhiều nhóm?</a:t>
            </a:r>
          </a:p>
          <a:p>
            <a:pPr algn="just" marL="647700" indent="-323850" lvl="1">
              <a:lnSpc>
                <a:spcPts val="4200"/>
              </a:lnSpc>
              <a:buFont typeface="Arial"/>
              <a:buChar char="•"/>
            </a:pPr>
            <a:r>
              <a:rPr lang="en-US" sz="3000" spc="126">
                <a:solidFill>
                  <a:srgbClr val="FFFFFF"/>
                </a:solidFill>
                <a:latin typeface="Times New Roman"/>
                <a:ea typeface="Times New Roman"/>
                <a:cs typeface="Times New Roman"/>
                <a:sym typeface="Times New Roman"/>
              </a:rPr>
              <a:t>Vì phần mềm có thể được xét theo nhiều tiêu chí khác nhau</a:t>
            </a:r>
          </a:p>
          <a:p>
            <a:pPr algn="just" marL="647700" indent="-323850" lvl="1">
              <a:lnSpc>
                <a:spcPts val="4200"/>
              </a:lnSpc>
              <a:buFont typeface="Arial"/>
              <a:buChar char="•"/>
            </a:pPr>
            <a:r>
              <a:rPr lang="en-US" sz="3000" spc="126">
                <a:solidFill>
                  <a:srgbClr val="FFFFFF"/>
                </a:solidFill>
                <a:latin typeface="Times New Roman"/>
                <a:ea typeface="Times New Roman"/>
                <a:cs typeface="Times New Roman"/>
                <a:sym typeface="Times New Roman"/>
              </a:rPr>
              <a:t>Một phần mềm vừa có chức năng, vừa có mục đích, vừa có loại bản quyền</a:t>
            </a:r>
          </a:p>
          <a:p>
            <a:pPr algn="just">
              <a:lnSpc>
                <a:spcPts val="4200"/>
              </a:lnSpc>
            </a:pPr>
            <a:r>
              <a:rPr lang="en-US" sz="3000" spc="126">
                <a:solidFill>
                  <a:srgbClr val="FFFFFF"/>
                </a:solidFill>
                <a:latin typeface="Times New Roman"/>
                <a:ea typeface="Times New Roman"/>
                <a:cs typeface="Times New Roman"/>
                <a:sym typeface="Times New Roman"/>
              </a:rPr>
              <a:t>👉 Ví dụ:</a:t>
            </a:r>
          </a:p>
          <a:p>
            <a:pPr algn="just" marL="647700" indent="-323850" lvl="1">
              <a:lnSpc>
                <a:spcPts val="4200"/>
              </a:lnSpc>
              <a:buFont typeface="Arial"/>
              <a:buChar char="•"/>
            </a:pPr>
            <a:r>
              <a:rPr lang="en-US" sz="3000" spc="126">
                <a:solidFill>
                  <a:srgbClr val="FFFFFF"/>
                </a:solidFill>
                <a:latin typeface="Times New Roman"/>
                <a:ea typeface="Times New Roman"/>
                <a:cs typeface="Times New Roman"/>
                <a:sym typeface="Times New Roman"/>
              </a:rPr>
              <a:t>Microsoft Word</a:t>
            </a:r>
          </a:p>
          <a:p>
            <a:pPr algn="just" marL="1295400" indent="-431800" lvl="2">
              <a:lnSpc>
                <a:spcPts val="4200"/>
              </a:lnSpc>
              <a:buFont typeface="Arial"/>
              <a:buChar char="⚬"/>
            </a:pPr>
            <a:r>
              <a:rPr lang="en-US" sz="3000" spc="126">
                <a:solidFill>
                  <a:srgbClr val="FFFFFF"/>
                </a:solidFill>
                <a:latin typeface="Times New Roman"/>
                <a:ea typeface="Times New Roman"/>
                <a:cs typeface="Times New Roman"/>
                <a:sym typeface="Times New Roman"/>
              </a:rPr>
              <a:t>Theo chức năng: Phần mềm ứng dụng</a:t>
            </a:r>
          </a:p>
          <a:p>
            <a:pPr algn="just" marL="1295400" indent="-431800" lvl="2">
              <a:lnSpc>
                <a:spcPts val="4200"/>
              </a:lnSpc>
              <a:buFont typeface="Arial"/>
              <a:buChar char="⚬"/>
            </a:pPr>
            <a:r>
              <a:rPr lang="en-US" sz="3000" spc="126">
                <a:solidFill>
                  <a:srgbClr val="FFFFFF"/>
                </a:solidFill>
                <a:latin typeface="Times New Roman"/>
                <a:ea typeface="Times New Roman"/>
                <a:cs typeface="Times New Roman"/>
                <a:sym typeface="Times New Roman"/>
              </a:rPr>
              <a:t>Theo mục đích: Văn phòng</a:t>
            </a:r>
          </a:p>
          <a:p>
            <a:pPr algn="just" marL="1295400" indent="-431800" lvl="2">
              <a:lnSpc>
                <a:spcPts val="4200"/>
              </a:lnSpc>
              <a:buFont typeface="Arial"/>
              <a:buChar char="⚬"/>
            </a:pPr>
            <a:r>
              <a:rPr lang="en-US" sz="3000" spc="126">
                <a:solidFill>
                  <a:srgbClr val="FFFFFF"/>
                </a:solidFill>
                <a:latin typeface="Times New Roman"/>
                <a:ea typeface="Times New Roman"/>
                <a:cs typeface="Times New Roman"/>
                <a:sym typeface="Times New Roman"/>
              </a:rPr>
              <a:t>Theo bản quyền: Thương mại</a:t>
            </a:r>
          </a:p>
          <a:p>
            <a:pPr algn="just">
              <a:lnSpc>
                <a:spcPts val="4200"/>
              </a:lnSpc>
            </a:pPr>
          </a:p>
        </p:txBody>
      </p:sp>
      <p:sp>
        <p:nvSpPr>
          <p:cNvPr name="Freeform 4" id="4"/>
          <p:cNvSpPr/>
          <p:nvPr/>
        </p:nvSpPr>
        <p:spPr>
          <a:xfrm flipH="false" flipV="false" rot="0">
            <a:off x="19002" y="6435677"/>
            <a:ext cx="3851323" cy="3851323"/>
          </a:xfrm>
          <a:custGeom>
            <a:avLst/>
            <a:gdLst/>
            <a:ahLst/>
            <a:cxnLst/>
            <a:rect r="r" b="b" t="t" l="l"/>
            <a:pathLst>
              <a:path h="3851323" w="3851323">
                <a:moveTo>
                  <a:pt x="0" y="0"/>
                </a:moveTo>
                <a:lnTo>
                  <a:pt x="3851322" y="0"/>
                </a:lnTo>
                <a:lnTo>
                  <a:pt x="3851322" y="3851323"/>
                </a:lnTo>
                <a:lnTo>
                  <a:pt x="0" y="3851323"/>
                </a:lnTo>
                <a:lnTo>
                  <a:pt x="0" y="0"/>
                </a:lnTo>
                <a:close/>
              </a:path>
            </a:pathLst>
          </a:custGeom>
          <a:blipFill>
            <a:blip r:embed="rId3"/>
            <a:stretch>
              <a:fillRect l="0" t="0" r="0" b="0"/>
            </a:stretch>
          </a:blipFill>
        </p:spPr>
      </p:sp>
      <p:sp>
        <p:nvSpPr>
          <p:cNvPr name="TextBox 5" id="5"/>
          <p:cNvSpPr txBox="true"/>
          <p:nvPr/>
        </p:nvSpPr>
        <p:spPr>
          <a:xfrm rot="0">
            <a:off x="1028700" y="971550"/>
            <a:ext cx="5683249" cy="584200"/>
          </a:xfrm>
          <a:prstGeom prst="rect">
            <a:avLst/>
          </a:prstGeom>
        </p:spPr>
        <p:txBody>
          <a:bodyPr anchor="t" rtlCol="false" tIns="0" lIns="0" bIns="0" rIns="0">
            <a:spAutoFit/>
          </a:bodyPr>
          <a:lstStyle/>
          <a:p>
            <a:pPr algn="ctr">
              <a:lnSpc>
                <a:spcPts val="4550"/>
              </a:lnSpc>
            </a:pPr>
            <a:r>
              <a:rPr lang="en-US" sz="3500">
                <a:solidFill>
                  <a:srgbClr val="FFFFFF"/>
                </a:solidFill>
                <a:latin typeface="Times New Roman"/>
                <a:ea typeface="Times New Roman"/>
                <a:cs typeface="Times New Roman"/>
                <a:sym typeface="Times New Roman"/>
              </a:rPr>
              <a:t>1.1.3. Phân loại phần mềm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028700" y="971550"/>
            <a:ext cx="5683249" cy="584200"/>
          </a:xfrm>
          <a:prstGeom prst="rect">
            <a:avLst/>
          </a:prstGeom>
        </p:spPr>
        <p:txBody>
          <a:bodyPr anchor="t" rtlCol="false" tIns="0" lIns="0" bIns="0" rIns="0">
            <a:spAutoFit/>
          </a:bodyPr>
          <a:lstStyle/>
          <a:p>
            <a:pPr algn="ctr">
              <a:lnSpc>
                <a:spcPts val="4550"/>
              </a:lnSpc>
            </a:pPr>
            <a:r>
              <a:rPr lang="en-US" sz="3500">
                <a:solidFill>
                  <a:srgbClr val="FFFFFF"/>
                </a:solidFill>
                <a:latin typeface="Times New Roman"/>
                <a:ea typeface="Times New Roman"/>
                <a:cs typeface="Times New Roman"/>
                <a:sym typeface="Times New Roman"/>
              </a:rPr>
              <a:t>1.1.3. Phân loại phần mềm</a:t>
            </a:r>
          </a:p>
        </p:txBody>
      </p:sp>
      <p:sp>
        <p:nvSpPr>
          <p:cNvPr name="TextBox 4" id="4"/>
          <p:cNvSpPr txBox="true"/>
          <p:nvPr/>
        </p:nvSpPr>
        <p:spPr>
          <a:xfrm rot="0">
            <a:off x="1028700" y="1843342"/>
            <a:ext cx="11935368" cy="5876925"/>
          </a:xfrm>
          <a:prstGeom prst="rect">
            <a:avLst/>
          </a:prstGeom>
        </p:spPr>
        <p:txBody>
          <a:bodyPr anchor="t" rtlCol="false" tIns="0" lIns="0" bIns="0" rIns="0">
            <a:spAutoFit/>
          </a:bodyPr>
          <a:lstStyle/>
          <a:p>
            <a:pPr algn="just">
              <a:lnSpc>
                <a:spcPts val="4200"/>
              </a:lnSpc>
            </a:pPr>
            <a:r>
              <a:rPr lang="en-US" sz="3000" spc="126">
                <a:solidFill>
                  <a:srgbClr val="FFFFFF"/>
                </a:solidFill>
                <a:latin typeface="Times New Roman"/>
                <a:ea typeface="Times New Roman"/>
                <a:cs typeface="Times New Roman"/>
                <a:sym typeface="Times New Roman"/>
              </a:rPr>
              <a:t>Ví dụ về các phần mềm quen thuộc và cách phân loại:</a:t>
            </a:r>
          </a:p>
          <a:p>
            <a:pPr algn="just" marL="647700" indent="-323850" lvl="1">
              <a:lnSpc>
                <a:spcPts val="4200"/>
              </a:lnSpc>
              <a:buFont typeface="Arial"/>
              <a:buChar char="•"/>
            </a:pPr>
            <a:r>
              <a:rPr lang="en-US" sz="3000" spc="126">
                <a:solidFill>
                  <a:srgbClr val="FFFFFF"/>
                </a:solidFill>
                <a:latin typeface="Times New Roman"/>
                <a:ea typeface="Times New Roman"/>
                <a:cs typeface="Times New Roman"/>
                <a:sym typeface="Times New Roman"/>
              </a:rPr>
              <a:t>Windows: phần mềm hệ thống – quản lý máy tính – phần mềm thương mại</a:t>
            </a:r>
          </a:p>
          <a:p>
            <a:pPr algn="just" marL="647700" indent="-323850" lvl="1">
              <a:lnSpc>
                <a:spcPts val="4200"/>
              </a:lnSpc>
              <a:buFont typeface="Arial"/>
              <a:buChar char="•"/>
            </a:pPr>
            <a:r>
              <a:rPr lang="en-US" sz="3000" spc="126">
                <a:solidFill>
                  <a:srgbClr val="FFFFFF"/>
                </a:solidFill>
                <a:latin typeface="Times New Roman"/>
                <a:ea typeface="Times New Roman"/>
                <a:cs typeface="Times New Roman"/>
                <a:sym typeface="Times New Roman"/>
              </a:rPr>
              <a:t>Google Chrome: phần mềm ứng dụng – trình duyệt web – phần mềm miễn phí</a:t>
            </a:r>
          </a:p>
          <a:p>
            <a:pPr algn="just" marL="647700" indent="-323850" lvl="1">
              <a:lnSpc>
                <a:spcPts val="4200"/>
              </a:lnSpc>
              <a:buFont typeface="Arial"/>
              <a:buChar char="•"/>
            </a:pPr>
            <a:r>
              <a:rPr lang="en-US" sz="3000" spc="126">
                <a:solidFill>
                  <a:srgbClr val="FFFFFF"/>
                </a:solidFill>
                <a:latin typeface="Times New Roman"/>
                <a:ea typeface="Times New Roman"/>
                <a:cs typeface="Times New Roman"/>
                <a:sym typeface="Times New Roman"/>
              </a:rPr>
              <a:t>Photoshop: phần mềm ứng dụng – thiết kế đồ họa – phần mềm thương mại</a:t>
            </a:r>
          </a:p>
          <a:p>
            <a:pPr algn="just" marL="647700" indent="-323850" lvl="1">
              <a:lnSpc>
                <a:spcPts val="4200"/>
              </a:lnSpc>
              <a:buFont typeface="Arial"/>
              <a:buChar char="•"/>
            </a:pPr>
            <a:r>
              <a:rPr lang="en-US" sz="3000" spc="126">
                <a:solidFill>
                  <a:srgbClr val="FFFFFF"/>
                </a:solidFill>
                <a:latin typeface="Times New Roman"/>
                <a:ea typeface="Times New Roman"/>
                <a:cs typeface="Times New Roman"/>
                <a:sym typeface="Times New Roman"/>
              </a:rPr>
              <a:t>Linux: phần mềm hệ thống – quản lý hệ thống – mã nguồn mở</a:t>
            </a:r>
          </a:p>
          <a:p>
            <a:pPr algn="just" marL="647700" indent="-323850" lvl="1">
              <a:lnSpc>
                <a:spcPts val="4200"/>
              </a:lnSpc>
              <a:buFont typeface="Arial"/>
              <a:buChar char="•"/>
            </a:pPr>
            <a:r>
              <a:rPr lang="en-US" sz="3000" spc="126">
                <a:solidFill>
                  <a:srgbClr val="FFFFFF"/>
                </a:solidFill>
                <a:latin typeface="Times New Roman"/>
                <a:ea typeface="Times New Roman"/>
                <a:cs typeface="Times New Roman"/>
                <a:sym typeface="Times New Roman"/>
              </a:rPr>
              <a:t>Visual Studio: phần mềm lập trình – phát triển phần mềm – miễn phí/trả phí</a:t>
            </a:r>
          </a:p>
          <a:p>
            <a:pPr algn="just">
              <a:lnSpc>
                <a:spcPts val="420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18518" r="0" b="0"/>
            </a:stretch>
          </a:blipFill>
        </p:spPr>
      </p:sp>
      <p:sp>
        <p:nvSpPr>
          <p:cNvPr name="TextBox 3" id="3"/>
          <p:cNvSpPr txBox="true"/>
          <p:nvPr/>
        </p:nvSpPr>
        <p:spPr>
          <a:xfrm rot="0">
            <a:off x="1028700" y="971550"/>
            <a:ext cx="10686650" cy="584200"/>
          </a:xfrm>
          <a:prstGeom prst="rect">
            <a:avLst/>
          </a:prstGeom>
        </p:spPr>
        <p:txBody>
          <a:bodyPr anchor="t" rtlCol="false" tIns="0" lIns="0" bIns="0" rIns="0">
            <a:spAutoFit/>
          </a:bodyPr>
          <a:lstStyle/>
          <a:p>
            <a:pPr algn="l">
              <a:lnSpc>
                <a:spcPts val="4550"/>
              </a:lnSpc>
            </a:pPr>
            <a:r>
              <a:rPr lang="en-US" sz="3500">
                <a:solidFill>
                  <a:srgbClr val="FFFFFF"/>
                </a:solidFill>
                <a:latin typeface="Times New Roman"/>
                <a:ea typeface="Times New Roman"/>
                <a:cs typeface="Times New Roman"/>
                <a:sym typeface="Times New Roman"/>
              </a:rPr>
              <a:t>1.4. Các vấn đề của phần mềm trong xã hội hiện nay</a:t>
            </a:r>
          </a:p>
        </p:txBody>
      </p:sp>
      <p:sp>
        <p:nvSpPr>
          <p:cNvPr name="TextBox 4" id="4"/>
          <p:cNvSpPr txBox="true"/>
          <p:nvPr/>
        </p:nvSpPr>
        <p:spPr>
          <a:xfrm rot="0">
            <a:off x="1028700" y="2141626"/>
            <a:ext cx="9910339" cy="3209925"/>
          </a:xfrm>
          <a:prstGeom prst="rect">
            <a:avLst/>
          </a:prstGeom>
        </p:spPr>
        <p:txBody>
          <a:bodyPr anchor="t" rtlCol="false" tIns="0" lIns="0" bIns="0" rIns="0">
            <a:spAutoFit/>
          </a:bodyPr>
          <a:lstStyle/>
          <a:p>
            <a:pPr algn="l">
              <a:lnSpc>
                <a:spcPts val="4200"/>
              </a:lnSpc>
            </a:pPr>
            <a:r>
              <a:rPr lang="en-US" sz="3000" spc="48">
                <a:solidFill>
                  <a:srgbClr val="FFFFFF"/>
                </a:solidFill>
                <a:latin typeface="Times New Roman"/>
                <a:ea typeface="Times New Roman"/>
                <a:cs typeface="Times New Roman"/>
                <a:sym typeface="Times New Roman"/>
              </a:rPr>
              <a:t>1. Rủi ro và hệ quả tiêu cực</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Lỗi phần mềm gây mất dữ liệu, sai thông tin</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Tấn công mạng, virus, mã độc làm lộ thông tin cá nhân</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Phần mềm sai lệch có thể gây thiệt hại tài chính</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Gây phụ thuộc công nghệ, giảm tương tác xã hội</a:t>
            </a:r>
          </a:p>
          <a:p>
            <a:pPr algn="l">
              <a:lnSpc>
                <a:spcPts val="4200"/>
              </a:lnSpc>
              <a:spcBef>
                <a:spcPct val="0"/>
              </a:spcBef>
            </a:pPr>
          </a:p>
        </p:txBody>
      </p:sp>
      <p:sp>
        <p:nvSpPr>
          <p:cNvPr name="TextBox 5" id="5"/>
          <p:cNvSpPr txBox="true"/>
          <p:nvPr/>
        </p:nvSpPr>
        <p:spPr>
          <a:xfrm rot="0">
            <a:off x="1028700" y="5086350"/>
            <a:ext cx="10893500" cy="4476750"/>
          </a:xfrm>
          <a:prstGeom prst="rect">
            <a:avLst/>
          </a:prstGeom>
        </p:spPr>
        <p:txBody>
          <a:bodyPr anchor="t" rtlCol="false" tIns="0" lIns="0" bIns="0" rIns="0">
            <a:spAutoFit/>
          </a:bodyPr>
          <a:lstStyle/>
          <a:p>
            <a:pPr algn="l">
              <a:lnSpc>
                <a:spcPts val="3900"/>
              </a:lnSpc>
              <a:spcBef>
                <a:spcPct val="0"/>
              </a:spcBef>
            </a:pPr>
            <a:r>
              <a:rPr lang="en-US" sz="3000">
                <a:solidFill>
                  <a:srgbClr val="FFFFFF"/>
                </a:solidFill>
                <a:latin typeface="Times New Roman"/>
                <a:ea typeface="Times New Roman"/>
                <a:cs typeface="Times New Roman"/>
                <a:sym typeface="Times New Roman"/>
              </a:rPr>
              <a:t>2. Vì sao lỗi phần mềm gây thiệt hạ</a:t>
            </a:r>
            <a:r>
              <a:rPr lang="en-US" sz="3000">
                <a:solidFill>
                  <a:srgbClr val="FFFFFF"/>
                </a:solidFill>
                <a:latin typeface="Times New Roman"/>
                <a:ea typeface="Times New Roman"/>
                <a:cs typeface="Times New Roman"/>
                <a:sym typeface="Times New Roman"/>
              </a:rPr>
              <a:t>i lớn?</a:t>
            </a:r>
          </a:p>
          <a:p>
            <a:pPr algn="l" marL="647700" indent="-323850" lvl="1">
              <a:lnSpc>
                <a:spcPts val="3900"/>
              </a:lnSpc>
              <a:spcBef>
                <a:spcPct val="0"/>
              </a:spcBef>
              <a:buFont typeface="Arial"/>
              <a:buChar char="•"/>
            </a:pPr>
            <a:r>
              <a:rPr lang="en-US" sz="3000">
                <a:solidFill>
                  <a:srgbClr val="FFFFFF"/>
                </a:solidFill>
                <a:latin typeface="Times New Roman"/>
                <a:ea typeface="Times New Roman"/>
                <a:cs typeface="Times New Roman"/>
                <a:sym typeface="Times New Roman"/>
              </a:rPr>
              <a:t>Phần mềm được dùng trong các lĩnh vực quan trọng:</a:t>
            </a:r>
          </a:p>
          <a:p>
            <a:pPr algn="l" marL="1295400" indent="-431800" lvl="2">
              <a:lnSpc>
                <a:spcPts val="3900"/>
              </a:lnSpc>
              <a:spcBef>
                <a:spcPct val="0"/>
              </a:spcBef>
              <a:buFont typeface="Arial"/>
              <a:buChar char="⚬"/>
            </a:pPr>
            <a:r>
              <a:rPr lang="en-US" sz="3000">
                <a:solidFill>
                  <a:srgbClr val="FFFFFF"/>
                </a:solidFill>
                <a:latin typeface="Times New Roman"/>
                <a:ea typeface="Times New Roman"/>
                <a:cs typeface="Times New Roman"/>
                <a:sym typeface="Times New Roman"/>
              </a:rPr>
              <a:t>Ngân hàng → sai sót giao dịch, mất tiền</a:t>
            </a:r>
          </a:p>
          <a:p>
            <a:pPr algn="l" marL="1295400" indent="-431800" lvl="2">
              <a:lnSpc>
                <a:spcPts val="3900"/>
              </a:lnSpc>
              <a:spcBef>
                <a:spcPct val="0"/>
              </a:spcBef>
              <a:buFont typeface="Arial"/>
              <a:buChar char="⚬"/>
            </a:pPr>
            <a:r>
              <a:rPr lang="en-US" sz="3000">
                <a:solidFill>
                  <a:srgbClr val="FFFFFF"/>
                </a:solidFill>
                <a:latin typeface="Times New Roman"/>
                <a:ea typeface="Times New Roman"/>
                <a:cs typeface="Times New Roman"/>
                <a:sym typeface="Times New Roman"/>
              </a:rPr>
              <a:t>Y tế → chẩn đoán sai, ảnh hưởng sức khỏe</a:t>
            </a:r>
          </a:p>
          <a:p>
            <a:pPr algn="l" marL="1295400" indent="-431800" lvl="2">
              <a:lnSpc>
                <a:spcPts val="3900"/>
              </a:lnSpc>
              <a:spcBef>
                <a:spcPct val="0"/>
              </a:spcBef>
              <a:buFont typeface="Arial"/>
              <a:buChar char="⚬"/>
            </a:pPr>
            <a:r>
              <a:rPr lang="en-US" sz="3000">
                <a:solidFill>
                  <a:srgbClr val="FFFFFF"/>
                </a:solidFill>
                <a:latin typeface="Times New Roman"/>
                <a:ea typeface="Times New Roman"/>
                <a:cs typeface="Times New Roman"/>
                <a:sym typeface="Times New Roman"/>
              </a:rPr>
              <a:t>Giao thông → lỗi điều khiển, tai nạn</a:t>
            </a:r>
          </a:p>
          <a:p>
            <a:pPr algn="l" marL="647700" indent="-323850" lvl="1">
              <a:lnSpc>
                <a:spcPts val="3900"/>
              </a:lnSpc>
              <a:spcBef>
                <a:spcPct val="0"/>
              </a:spcBef>
              <a:buFont typeface="Arial"/>
              <a:buChar char="•"/>
            </a:pPr>
            <a:r>
              <a:rPr lang="en-US" sz="3000">
                <a:solidFill>
                  <a:srgbClr val="FFFFFF"/>
                </a:solidFill>
                <a:latin typeface="Times New Roman"/>
                <a:ea typeface="Times New Roman"/>
                <a:cs typeface="Times New Roman"/>
                <a:sym typeface="Times New Roman"/>
              </a:rPr>
              <a:t>Hệ thống hoạt động tự động, quy mô lớn → lỗi nhỏ cũng gây hậu quả nghiêm trọng</a:t>
            </a:r>
          </a:p>
          <a:p>
            <a:pPr algn="l" marL="647700" indent="-323850" lvl="1">
              <a:lnSpc>
                <a:spcPts val="3900"/>
              </a:lnSpc>
              <a:spcBef>
                <a:spcPct val="0"/>
              </a:spcBef>
              <a:buFont typeface="Arial"/>
              <a:buChar char="•"/>
            </a:pPr>
            <a:r>
              <a:rPr lang="en-US" sz="3000">
                <a:solidFill>
                  <a:srgbClr val="FFFFFF"/>
                </a:solidFill>
                <a:latin typeface="Times New Roman"/>
                <a:ea typeface="Times New Roman"/>
                <a:cs typeface="Times New Roman"/>
                <a:sym typeface="Times New Roman"/>
              </a:rPr>
              <a:t>Khó phát hiện lỗi ngay lập tức</a:t>
            </a:r>
          </a:p>
          <a:p>
            <a:pPr algn="l">
              <a:lnSpc>
                <a:spcPts val="3900"/>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18518" r="0" b="0"/>
            </a:stretch>
          </a:blipFill>
        </p:spPr>
      </p:sp>
      <p:sp>
        <p:nvSpPr>
          <p:cNvPr name="TextBox 3" id="3"/>
          <p:cNvSpPr txBox="true"/>
          <p:nvPr/>
        </p:nvSpPr>
        <p:spPr>
          <a:xfrm rot="0">
            <a:off x="1028700" y="971550"/>
            <a:ext cx="10686650" cy="584200"/>
          </a:xfrm>
          <a:prstGeom prst="rect">
            <a:avLst/>
          </a:prstGeom>
        </p:spPr>
        <p:txBody>
          <a:bodyPr anchor="t" rtlCol="false" tIns="0" lIns="0" bIns="0" rIns="0">
            <a:spAutoFit/>
          </a:bodyPr>
          <a:lstStyle/>
          <a:p>
            <a:pPr algn="l">
              <a:lnSpc>
                <a:spcPts val="4550"/>
              </a:lnSpc>
            </a:pPr>
            <a:r>
              <a:rPr lang="en-US" sz="3500">
                <a:solidFill>
                  <a:srgbClr val="FFFFFF"/>
                </a:solidFill>
                <a:latin typeface="Times New Roman"/>
                <a:ea typeface="Times New Roman"/>
                <a:cs typeface="Times New Roman"/>
                <a:sym typeface="Times New Roman"/>
              </a:rPr>
              <a:t>1.4. Các vấn đề của phần mềm trong xã hội hiện nay</a:t>
            </a:r>
          </a:p>
        </p:txBody>
      </p:sp>
      <p:sp>
        <p:nvSpPr>
          <p:cNvPr name="TextBox 4" id="4"/>
          <p:cNvSpPr txBox="true"/>
          <p:nvPr/>
        </p:nvSpPr>
        <p:spPr>
          <a:xfrm rot="0">
            <a:off x="1028700" y="2141626"/>
            <a:ext cx="9910339" cy="4810125"/>
          </a:xfrm>
          <a:prstGeom prst="rect">
            <a:avLst/>
          </a:prstGeom>
        </p:spPr>
        <p:txBody>
          <a:bodyPr anchor="t" rtlCol="false" tIns="0" lIns="0" bIns="0" rIns="0">
            <a:spAutoFit/>
          </a:bodyPr>
          <a:lstStyle/>
          <a:p>
            <a:pPr algn="l">
              <a:lnSpc>
                <a:spcPts val="4200"/>
              </a:lnSpc>
            </a:pPr>
            <a:r>
              <a:rPr lang="en-US" sz="3000" spc="48">
                <a:solidFill>
                  <a:srgbClr val="FFFFFF"/>
                </a:solidFill>
                <a:latin typeface="Times New Roman"/>
                <a:ea typeface="Times New Roman"/>
                <a:cs typeface="Times New Roman"/>
                <a:sym typeface="Times New Roman"/>
              </a:rPr>
              <a:t>3. Vấn đề đạo đức, quyền riêng tư và an toàn thông tin</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Thu thập dữ liệu người dùng không minh bạch</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Lạm dụng thông tin cá nhân cho quảng cáo hoặc mục đích xấu</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Nguy cơ rò rỉ dữ liệu, bị hack</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Sử dụng phần mềm để giả mạo, lừa đảo</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Đặt ra yêu cầu về bảo mật và trách nhiệm của nhà phát triển</a:t>
            </a:r>
          </a:p>
          <a:p>
            <a:pPr algn="l">
              <a:lnSpc>
                <a:spcPts val="4200"/>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630492" y="1481138"/>
            <a:ext cx="6017477" cy="625475"/>
          </a:xfrm>
          <a:prstGeom prst="rect">
            <a:avLst/>
          </a:prstGeom>
        </p:spPr>
        <p:txBody>
          <a:bodyPr anchor="t" rtlCol="false" tIns="0" lIns="0" bIns="0" rIns="0">
            <a:spAutoFit/>
          </a:bodyPr>
          <a:lstStyle/>
          <a:p>
            <a:pPr algn="ctr">
              <a:lnSpc>
                <a:spcPts val="4900"/>
              </a:lnSpc>
              <a:spcBef>
                <a:spcPct val="0"/>
              </a:spcBef>
            </a:pPr>
            <a:r>
              <a:rPr lang="en-US" sz="3500" spc="56">
                <a:solidFill>
                  <a:srgbClr val="FFFFFF"/>
                </a:solidFill>
                <a:latin typeface="Times New Roman"/>
                <a:ea typeface="Times New Roman"/>
                <a:cs typeface="Times New Roman"/>
                <a:sym typeface="Times New Roman"/>
              </a:rPr>
              <a:t>1.2.1.</a:t>
            </a:r>
            <a:r>
              <a:rPr lang="en-US" sz="3500" spc="56">
                <a:solidFill>
                  <a:srgbClr val="FFFFFF"/>
                </a:solidFill>
                <a:latin typeface="Times New Roman"/>
                <a:ea typeface="Times New Roman"/>
                <a:cs typeface="Times New Roman"/>
                <a:sym typeface="Times New Roman"/>
              </a:rPr>
              <a:t> Các định nghĩa về SE</a:t>
            </a:r>
          </a:p>
        </p:txBody>
      </p:sp>
      <p:sp>
        <p:nvSpPr>
          <p:cNvPr name="TextBox 4" id="4"/>
          <p:cNvSpPr txBox="true"/>
          <p:nvPr/>
        </p:nvSpPr>
        <p:spPr>
          <a:xfrm rot="0">
            <a:off x="1028700" y="2695575"/>
            <a:ext cx="14479325" cy="2676525"/>
          </a:xfrm>
          <a:prstGeom prst="rect">
            <a:avLst/>
          </a:prstGeom>
        </p:spPr>
        <p:txBody>
          <a:bodyPr anchor="t" rtlCol="false" tIns="0" lIns="0" bIns="0" rIns="0">
            <a:spAutoFit/>
          </a:bodyPr>
          <a:lstStyle/>
          <a:p>
            <a:pPr algn="just">
              <a:lnSpc>
                <a:spcPts val="4200"/>
              </a:lnSpc>
            </a:pPr>
            <a:r>
              <a:rPr lang="en-US" sz="3000" spc="48">
                <a:solidFill>
                  <a:srgbClr val="FFFFFF"/>
                </a:solidFill>
                <a:latin typeface="Times New Roman"/>
                <a:ea typeface="Times New Roman"/>
                <a:cs typeface="Times New Roman"/>
                <a:sym typeface="Times New Roman"/>
              </a:rPr>
              <a:t>1. Kỹ nghệ phần mềm là gì?</a:t>
            </a:r>
          </a:p>
          <a:p>
            <a:pPr algn="just"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Là quy trình có hệ thống để phát triển, vận hành và bảo trì phần mềm</a:t>
            </a:r>
          </a:p>
          <a:p>
            <a:pPr algn="just"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Bao gồm: phân tích, thiết kế, lập trình, kiểm thử, triển khai</a:t>
            </a:r>
          </a:p>
          <a:p>
            <a:pPr algn="just"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Mục tiêu: tạo ra phần mềm chất lượng, đúng yêu cầu, đúng thời gian</a:t>
            </a:r>
          </a:p>
          <a:p>
            <a:pPr algn="just">
              <a:lnSpc>
                <a:spcPts val="4200"/>
              </a:lnSpc>
              <a:spcBef>
                <a:spcPct val="0"/>
              </a:spcBef>
            </a:pPr>
          </a:p>
        </p:txBody>
      </p:sp>
      <p:sp>
        <p:nvSpPr>
          <p:cNvPr name="TextBox 5" id="5"/>
          <p:cNvSpPr txBox="true"/>
          <p:nvPr/>
        </p:nvSpPr>
        <p:spPr>
          <a:xfrm rot="0">
            <a:off x="2394801" y="438150"/>
            <a:ext cx="12815054" cy="1403350"/>
          </a:xfrm>
          <a:prstGeom prst="rect">
            <a:avLst/>
          </a:prstGeom>
        </p:spPr>
        <p:txBody>
          <a:bodyPr anchor="t" rtlCol="false" tIns="0" lIns="0" bIns="0" rIns="0">
            <a:spAutoFit/>
          </a:bodyPr>
          <a:lstStyle/>
          <a:p>
            <a:pPr algn="ctr">
              <a:lnSpc>
                <a:spcPts val="5599"/>
              </a:lnSpc>
              <a:spcBef>
                <a:spcPct val="0"/>
              </a:spcBef>
            </a:pPr>
            <a:r>
              <a:rPr lang="en-US" sz="3999" spc="63">
                <a:solidFill>
                  <a:srgbClr val="FFFFFF"/>
                </a:solidFill>
                <a:latin typeface="Times New Roman"/>
                <a:ea typeface="Times New Roman"/>
                <a:cs typeface="Times New Roman"/>
                <a:sym typeface="Times New Roman"/>
              </a:rPr>
              <a:t>PHẦN 1.2 – KHÁI </a:t>
            </a:r>
            <a:r>
              <a:rPr lang="en-US" sz="3999" spc="63">
                <a:solidFill>
                  <a:srgbClr val="FFFFFF"/>
                </a:solidFill>
                <a:latin typeface="Times New Roman"/>
                <a:ea typeface="Times New Roman"/>
                <a:cs typeface="Times New Roman"/>
                <a:sym typeface="Times New Roman"/>
              </a:rPr>
              <a:t>NIỆM VỀ KỸ NGHỆ PHẦN MỀM (SE)</a:t>
            </a:r>
          </a:p>
          <a:p>
            <a:pPr algn="ctr">
              <a:lnSpc>
                <a:spcPts val="5599"/>
              </a:lnSpc>
              <a:spcBef>
                <a:spcPct val="0"/>
              </a:spcBef>
            </a:pPr>
          </a:p>
        </p:txBody>
      </p:sp>
      <p:sp>
        <p:nvSpPr>
          <p:cNvPr name="TextBox 6" id="6"/>
          <p:cNvSpPr txBox="true"/>
          <p:nvPr/>
        </p:nvSpPr>
        <p:spPr>
          <a:xfrm rot="0">
            <a:off x="1028700" y="5514975"/>
            <a:ext cx="8902779" cy="3743325"/>
          </a:xfrm>
          <a:prstGeom prst="rect">
            <a:avLst/>
          </a:prstGeom>
        </p:spPr>
        <p:txBody>
          <a:bodyPr anchor="t" rtlCol="false" tIns="0" lIns="0" bIns="0" rIns="0">
            <a:spAutoFit/>
          </a:bodyPr>
          <a:lstStyle/>
          <a:p>
            <a:pPr algn="l">
              <a:lnSpc>
                <a:spcPts val="4200"/>
              </a:lnSpc>
              <a:spcBef>
                <a:spcPct val="0"/>
              </a:spcBef>
            </a:pPr>
            <a:r>
              <a:rPr lang="en-US" sz="3000" spc="48">
                <a:solidFill>
                  <a:srgbClr val="FFFFFF"/>
                </a:solidFill>
                <a:latin typeface="Times New Roman"/>
                <a:ea typeface="Times New Roman"/>
                <a:cs typeface="Times New Roman"/>
                <a:sym typeface="Times New Roman"/>
              </a:rPr>
              <a:t>2. Khác gì vớ</a:t>
            </a:r>
            <a:r>
              <a:rPr lang="en-US" sz="3000" spc="48">
                <a:solidFill>
                  <a:srgbClr val="FFFFFF"/>
                </a:solidFill>
                <a:latin typeface="Times New Roman"/>
                <a:ea typeface="Times New Roman"/>
                <a:cs typeface="Times New Roman"/>
                <a:sym typeface="Times New Roman"/>
              </a:rPr>
              <a:t>i lập trình?</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Lập trình: chỉ là viết mã (code)</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Kỹ nghệ phần mềm (SE):</a:t>
            </a:r>
          </a:p>
          <a:p>
            <a:pPr algn="l" marL="1295400" indent="-431800" lvl="2">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Bao gồm toàn bộ quy trình phát triển phần mềm</a:t>
            </a:r>
          </a:p>
          <a:p>
            <a:pPr algn="l" marL="1295400" indent="-431800" lvl="2">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Có kế hoạch, quản lý, kiểm thử và bảo trì</a:t>
            </a:r>
          </a:p>
          <a:p>
            <a:pPr algn="l" marL="1295400" indent="-431800" lvl="2">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 👉 Lập trình chỉ là một phần nhỏ của SE</a:t>
            </a:r>
          </a:p>
          <a:p>
            <a:pPr algn="l">
              <a:lnSpc>
                <a:spcPts val="4200"/>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630492" y="1481138"/>
            <a:ext cx="6017477" cy="625475"/>
          </a:xfrm>
          <a:prstGeom prst="rect">
            <a:avLst/>
          </a:prstGeom>
        </p:spPr>
        <p:txBody>
          <a:bodyPr anchor="t" rtlCol="false" tIns="0" lIns="0" bIns="0" rIns="0">
            <a:spAutoFit/>
          </a:bodyPr>
          <a:lstStyle/>
          <a:p>
            <a:pPr algn="ctr">
              <a:lnSpc>
                <a:spcPts val="4900"/>
              </a:lnSpc>
              <a:spcBef>
                <a:spcPct val="0"/>
              </a:spcBef>
            </a:pPr>
            <a:r>
              <a:rPr lang="en-US" sz="3500" spc="56">
                <a:solidFill>
                  <a:srgbClr val="FFFFFF"/>
                </a:solidFill>
                <a:latin typeface="Times New Roman"/>
                <a:ea typeface="Times New Roman"/>
                <a:cs typeface="Times New Roman"/>
                <a:sym typeface="Times New Roman"/>
              </a:rPr>
              <a:t>1.2.1.</a:t>
            </a:r>
            <a:r>
              <a:rPr lang="en-US" sz="3500" spc="56">
                <a:solidFill>
                  <a:srgbClr val="FFFFFF"/>
                </a:solidFill>
                <a:latin typeface="Times New Roman"/>
                <a:ea typeface="Times New Roman"/>
                <a:cs typeface="Times New Roman"/>
                <a:sym typeface="Times New Roman"/>
              </a:rPr>
              <a:t> Các định nghĩa về SE</a:t>
            </a:r>
          </a:p>
        </p:txBody>
      </p:sp>
      <p:sp>
        <p:nvSpPr>
          <p:cNvPr name="TextBox 4" id="4"/>
          <p:cNvSpPr txBox="true"/>
          <p:nvPr/>
        </p:nvSpPr>
        <p:spPr>
          <a:xfrm rot="0">
            <a:off x="1028700" y="2695575"/>
            <a:ext cx="7773627" cy="3209925"/>
          </a:xfrm>
          <a:prstGeom prst="rect">
            <a:avLst/>
          </a:prstGeom>
        </p:spPr>
        <p:txBody>
          <a:bodyPr anchor="t" rtlCol="false" tIns="0" lIns="0" bIns="0" rIns="0">
            <a:spAutoFit/>
          </a:bodyPr>
          <a:lstStyle/>
          <a:p>
            <a:pPr algn="just">
              <a:lnSpc>
                <a:spcPts val="4200"/>
              </a:lnSpc>
            </a:pPr>
            <a:r>
              <a:rPr lang="en-US" sz="3000" spc="48">
                <a:solidFill>
                  <a:srgbClr val="FFFFFF"/>
                </a:solidFill>
                <a:latin typeface="Times New Roman"/>
                <a:ea typeface="Times New Roman"/>
                <a:cs typeface="Times New Roman"/>
                <a:sym typeface="Times New Roman"/>
              </a:rPr>
              <a:t>3. Vì sao cần Kỹ nghệ phần mềm?</a:t>
            </a:r>
          </a:p>
          <a:p>
            <a:pPr algn="just"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Giúp</a:t>
            </a:r>
            <a:r>
              <a:rPr lang="en-US" sz="3000" spc="48">
                <a:solidFill>
                  <a:srgbClr val="FFFFFF"/>
                </a:solidFill>
                <a:latin typeface="Times New Roman"/>
                <a:ea typeface="Times New Roman"/>
                <a:cs typeface="Times New Roman"/>
                <a:sym typeface="Times New Roman"/>
              </a:rPr>
              <a:t> quản lý dự án hiệu quả</a:t>
            </a:r>
          </a:p>
          <a:p>
            <a:pPr algn="just"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Giả</a:t>
            </a:r>
            <a:r>
              <a:rPr lang="en-US" sz="3000" spc="48">
                <a:solidFill>
                  <a:srgbClr val="FFFFFF"/>
                </a:solidFill>
                <a:latin typeface="Times New Roman"/>
                <a:ea typeface="Times New Roman"/>
                <a:cs typeface="Times New Roman"/>
                <a:sym typeface="Times New Roman"/>
              </a:rPr>
              <a:t>m lỗi, tăng độ tin cậy</a:t>
            </a:r>
          </a:p>
          <a:p>
            <a:pPr algn="just"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Tiết kiệm thời gian và chi phí</a:t>
            </a:r>
          </a:p>
          <a:p>
            <a:pPr algn="just"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Đáp ứng đúng nhu cầu người dùng</a:t>
            </a:r>
          </a:p>
          <a:p>
            <a:pPr algn="just">
              <a:lnSpc>
                <a:spcPts val="4200"/>
              </a:lnSpc>
              <a:spcBef>
                <a:spcPct val="0"/>
              </a:spcBef>
            </a:pPr>
          </a:p>
        </p:txBody>
      </p:sp>
      <p:sp>
        <p:nvSpPr>
          <p:cNvPr name="TextBox 5" id="5"/>
          <p:cNvSpPr txBox="true"/>
          <p:nvPr/>
        </p:nvSpPr>
        <p:spPr>
          <a:xfrm rot="0">
            <a:off x="2394801" y="438150"/>
            <a:ext cx="12815054" cy="1403350"/>
          </a:xfrm>
          <a:prstGeom prst="rect">
            <a:avLst/>
          </a:prstGeom>
        </p:spPr>
        <p:txBody>
          <a:bodyPr anchor="t" rtlCol="false" tIns="0" lIns="0" bIns="0" rIns="0">
            <a:spAutoFit/>
          </a:bodyPr>
          <a:lstStyle/>
          <a:p>
            <a:pPr algn="ctr">
              <a:lnSpc>
                <a:spcPts val="5599"/>
              </a:lnSpc>
              <a:spcBef>
                <a:spcPct val="0"/>
              </a:spcBef>
            </a:pPr>
            <a:r>
              <a:rPr lang="en-US" sz="3999" spc="63">
                <a:solidFill>
                  <a:srgbClr val="FFFFFF"/>
                </a:solidFill>
                <a:latin typeface="Times New Roman"/>
                <a:ea typeface="Times New Roman"/>
                <a:cs typeface="Times New Roman"/>
                <a:sym typeface="Times New Roman"/>
              </a:rPr>
              <a:t>PHẦN 1.2 – KHÁI </a:t>
            </a:r>
            <a:r>
              <a:rPr lang="en-US" sz="3999" spc="63">
                <a:solidFill>
                  <a:srgbClr val="FFFFFF"/>
                </a:solidFill>
                <a:latin typeface="Times New Roman"/>
                <a:ea typeface="Times New Roman"/>
                <a:cs typeface="Times New Roman"/>
                <a:sym typeface="Times New Roman"/>
              </a:rPr>
              <a:t>NIỆM VỀ KỸ NGHỆ PHẦN MỀM (SE)</a:t>
            </a:r>
          </a:p>
          <a:p>
            <a:pPr algn="ctr">
              <a:lnSpc>
                <a:spcPts val="5599"/>
              </a:lnSpc>
              <a:spcBef>
                <a:spcPct val="0"/>
              </a:spcBef>
            </a:pPr>
          </a:p>
        </p:txBody>
      </p:sp>
      <p:sp>
        <p:nvSpPr>
          <p:cNvPr name="TextBox 6" id="6"/>
          <p:cNvSpPr txBox="true"/>
          <p:nvPr/>
        </p:nvSpPr>
        <p:spPr>
          <a:xfrm rot="0">
            <a:off x="1028700" y="6048375"/>
            <a:ext cx="6493193" cy="3209925"/>
          </a:xfrm>
          <a:prstGeom prst="rect">
            <a:avLst/>
          </a:prstGeom>
        </p:spPr>
        <p:txBody>
          <a:bodyPr anchor="t" rtlCol="false" tIns="0" lIns="0" bIns="0" rIns="0">
            <a:spAutoFit/>
          </a:bodyPr>
          <a:lstStyle/>
          <a:p>
            <a:pPr algn="l">
              <a:lnSpc>
                <a:spcPts val="4200"/>
              </a:lnSpc>
              <a:spcBef>
                <a:spcPct val="0"/>
              </a:spcBef>
            </a:pPr>
            <a:r>
              <a:rPr lang="en-US" sz="3000" spc="48">
                <a:solidFill>
                  <a:srgbClr val="FFFFFF"/>
                </a:solidFill>
                <a:latin typeface="Times New Roman"/>
                <a:ea typeface="Times New Roman"/>
                <a:cs typeface="Times New Roman"/>
                <a:sym typeface="Times New Roman"/>
              </a:rPr>
              <a:t>4. </a:t>
            </a:r>
            <a:r>
              <a:rPr lang="en-US" sz="3000" spc="48">
                <a:solidFill>
                  <a:srgbClr val="FFFFFF"/>
                </a:solidFill>
                <a:latin typeface="Times New Roman"/>
                <a:ea typeface="Times New Roman"/>
                <a:cs typeface="Times New Roman"/>
                <a:sym typeface="Times New Roman"/>
              </a:rPr>
              <a:t>Nếu không áp dụng SE sẽ xảy ra gì?</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Phần mềm dễ lỗi, thiếu ổn định</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Trễ tiến độ, vượt chi phí</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Khó bảo trì, nâng cấp</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Có thể gây thiệt hại lớn trong thực tế</a:t>
            </a:r>
          </a:p>
          <a:p>
            <a:pPr algn="l">
              <a:lnSpc>
                <a:spcPts val="4200"/>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32806" t="-48141" r="0" b="-9259"/>
            </a:stretch>
          </a:blipFill>
        </p:spPr>
      </p:sp>
      <p:sp>
        <p:nvSpPr>
          <p:cNvPr name="TextBox 3" id="3"/>
          <p:cNvSpPr txBox="true"/>
          <p:nvPr/>
        </p:nvSpPr>
        <p:spPr>
          <a:xfrm rot="0">
            <a:off x="630492" y="668338"/>
            <a:ext cx="6277637" cy="625475"/>
          </a:xfrm>
          <a:prstGeom prst="rect">
            <a:avLst/>
          </a:prstGeom>
        </p:spPr>
        <p:txBody>
          <a:bodyPr anchor="t" rtlCol="false" tIns="0" lIns="0" bIns="0" rIns="0">
            <a:spAutoFit/>
          </a:bodyPr>
          <a:lstStyle/>
          <a:p>
            <a:pPr algn="ctr">
              <a:lnSpc>
                <a:spcPts val="4900"/>
              </a:lnSpc>
              <a:spcBef>
                <a:spcPct val="0"/>
              </a:spcBef>
            </a:pPr>
            <a:r>
              <a:rPr lang="en-US" sz="3500" spc="56">
                <a:solidFill>
                  <a:srgbClr val="FFFFFF"/>
                </a:solidFill>
                <a:latin typeface="Times New Roman"/>
                <a:ea typeface="Times New Roman"/>
                <a:cs typeface="Times New Roman"/>
                <a:sym typeface="Times New Roman"/>
              </a:rPr>
              <a:t>1.2.2.</a:t>
            </a:r>
            <a:r>
              <a:rPr lang="en-US" sz="3500" spc="56">
                <a:solidFill>
                  <a:srgbClr val="FFFFFF"/>
                </a:solidFill>
                <a:latin typeface="Times New Roman"/>
                <a:ea typeface="Times New Roman"/>
                <a:cs typeface="Times New Roman"/>
                <a:sym typeface="Times New Roman"/>
              </a:rPr>
              <a:t> Lộ trình phát triển SE</a:t>
            </a:r>
          </a:p>
        </p:txBody>
      </p:sp>
      <p:sp>
        <p:nvSpPr>
          <p:cNvPr name="TextBox 4" id="4"/>
          <p:cNvSpPr txBox="true"/>
          <p:nvPr/>
        </p:nvSpPr>
        <p:spPr>
          <a:xfrm rot="0">
            <a:off x="1028700" y="1542637"/>
            <a:ext cx="10957117" cy="3808095"/>
          </a:xfrm>
          <a:prstGeom prst="rect">
            <a:avLst/>
          </a:prstGeom>
        </p:spPr>
        <p:txBody>
          <a:bodyPr anchor="t" rtlCol="false" tIns="0" lIns="0" bIns="0" rIns="0">
            <a:spAutoFit/>
          </a:bodyPr>
          <a:lstStyle/>
          <a:p>
            <a:pPr algn="l">
              <a:lnSpc>
                <a:spcPts val="3780"/>
              </a:lnSpc>
            </a:pPr>
            <a:r>
              <a:rPr lang="en-US" sz="2700" spc="43">
                <a:solidFill>
                  <a:srgbClr val="FFFFFF"/>
                </a:solidFill>
                <a:latin typeface="Times New Roman"/>
                <a:ea typeface="Times New Roman"/>
                <a:cs typeface="Times New Roman"/>
                <a:sym typeface="Times New Roman"/>
              </a:rPr>
              <a:t>1. SE ra đời khi nào? “Khủng hoảng phần mềm” là gì?</a:t>
            </a:r>
          </a:p>
          <a:p>
            <a:pPr algn="l" marL="582932" indent="-291466" lvl="1">
              <a:lnSpc>
                <a:spcPts val="3780"/>
              </a:lnSpc>
              <a:buFont typeface="Arial"/>
              <a:buChar char="•"/>
            </a:pPr>
            <a:r>
              <a:rPr lang="en-US" sz="2700" spc="43">
                <a:solidFill>
                  <a:srgbClr val="FFFFFF"/>
                </a:solidFill>
                <a:latin typeface="Times New Roman"/>
                <a:ea typeface="Times New Roman"/>
                <a:cs typeface="Times New Roman"/>
                <a:sym typeface="Times New Roman"/>
              </a:rPr>
              <a:t>Xuất hiện vào cuối những năm 1960</a:t>
            </a:r>
          </a:p>
          <a:p>
            <a:pPr algn="l" marL="582932" indent="-291466" lvl="1">
              <a:lnSpc>
                <a:spcPts val="3780"/>
              </a:lnSpc>
              <a:buFont typeface="Arial"/>
              <a:buChar char="•"/>
            </a:pPr>
            <a:r>
              <a:rPr lang="en-US" sz="2700" spc="43">
                <a:solidFill>
                  <a:srgbClr val="FFFFFF"/>
                </a:solidFill>
                <a:latin typeface="Times New Roman"/>
                <a:ea typeface="Times New Roman"/>
                <a:cs typeface="Times New Roman"/>
                <a:sym typeface="Times New Roman"/>
              </a:rPr>
              <a:t>Bối cảnh:</a:t>
            </a:r>
          </a:p>
          <a:p>
            <a:pPr algn="l" marL="1165863" indent="-388621" lvl="2">
              <a:lnSpc>
                <a:spcPts val="3780"/>
              </a:lnSpc>
              <a:buFont typeface="Arial"/>
              <a:buChar char="⚬"/>
            </a:pPr>
            <a:r>
              <a:rPr lang="en-US" sz="2700" spc="43">
                <a:solidFill>
                  <a:srgbClr val="FFFFFF"/>
                </a:solidFill>
                <a:latin typeface="Times New Roman"/>
                <a:ea typeface="Times New Roman"/>
                <a:cs typeface="Times New Roman"/>
                <a:sym typeface="Times New Roman"/>
              </a:rPr>
              <a:t>Phần mềm ngày càng phức tạp, quy mô lớn</a:t>
            </a:r>
          </a:p>
          <a:p>
            <a:pPr algn="l" marL="1165863" indent="-388621" lvl="2">
              <a:lnSpc>
                <a:spcPts val="3780"/>
              </a:lnSpc>
              <a:buFont typeface="Arial"/>
              <a:buChar char="⚬"/>
            </a:pPr>
            <a:r>
              <a:rPr lang="en-US" sz="2700" spc="43">
                <a:solidFill>
                  <a:srgbClr val="FFFFFF"/>
                </a:solidFill>
                <a:latin typeface="Times New Roman"/>
                <a:ea typeface="Times New Roman"/>
                <a:cs typeface="Times New Roman"/>
                <a:sym typeface="Times New Roman"/>
              </a:rPr>
              <a:t>Nhiều dự án trễ hạn, vượt chi phí, lỗi nghiêm trọng</a:t>
            </a:r>
          </a:p>
          <a:p>
            <a:pPr algn="l" marL="1165863" indent="-388621" lvl="2">
              <a:lnSpc>
                <a:spcPts val="3780"/>
              </a:lnSpc>
              <a:buFont typeface="Arial"/>
              <a:buChar char="⚬"/>
            </a:pPr>
            <a:r>
              <a:rPr lang="en-US" sz="2700" spc="43">
                <a:solidFill>
                  <a:srgbClr val="FFFFFF"/>
                </a:solidFill>
                <a:latin typeface="Times New Roman"/>
                <a:ea typeface="Times New Roman"/>
                <a:cs typeface="Times New Roman"/>
                <a:sym typeface="Times New Roman"/>
              </a:rPr>
              <a:t> 👉 Gọi là “khủng hoảng phần mềm” → cần phương pháp phát triển bài bản hơn</a:t>
            </a:r>
          </a:p>
          <a:p>
            <a:pPr algn="l">
              <a:lnSpc>
                <a:spcPts val="3780"/>
              </a:lnSpc>
              <a:spcBef>
                <a:spcPct val="0"/>
              </a:spcBef>
            </a:pPr>
          </a:p>
        </p:txBody>
      </p:sp>
      <p:sp>
        <p:nvSpPr>
          <p:cNvPr name="TextBox 5" id="5"/>
          <p:cNvSpPr txBox="true"/>
          <p:nvPr/>
        </p:nvSpPr>
        <p:spPr>
          <a:xfrm rot="0">
            <a:off x="1028700" y="5050155"/>
            <a:ext cx="11620797" cy="5236845"/>
          </a:xfrm>
          <a:prstGeom prst="rect">
            <a:avLst/>
          </a:prstGeom>
        </p:spPr>
        <p:txBody>
          <a:bodyPr anchor="t" rtlCol="false" tIns="0" lIns="0" bIns="0" rIns="0">
            <a:spAutoFit/>
          </a:bodyPr>
          <a:lstStyle/>
          <a:p>
            <a:pPr algn="l">
              <a:lnSpc>
                <a:spcPts val="3780"/>
              </a:lnSpc>
              <a:spcBef>
                <a:spcPct val="0"/>
              </a:spcBef>
            </a:pPr>
            <a:r>
              <a:rPr lang="en-US" sz="2700" spc="43">
                <a:solidFill>
                  <a:srgbClr val="FFFFFF"/>
                </a:solidFill>
                <a:latin typeface="Times New Roman"/>
                <a:ea typeface="Times New Roman"/>
                <a:cs typeface="Times New Roman"/>
                <a:sym typeface="Times New Roman"/>
              </a:rPr>
              <a:t>2. Các gia</a:t>
            </a:r>
            <a:r>
              <a:rPr lang="en-US" sz="2700" spc="43">
                <a:solidFill>
                  <a:srgbClr val="FFFFFF"/>
                </a:solidFill>
                <a:latin typeface="Times New Roman"/>
                <a:ea typeface="Times New Roman"/>
                <a:cs typeface="Times New Roman"/>
                <a:sym typeface="Times New Roman"/>
              </a:rPr>
              <a:t>i đoạn phát triển chính</a:t>
            </a:r>
          </a:p>
          <a:p>
            <a:pPr algn="l" marL="582932" indent="-291466" lvl="1">
              <a:lnSpc>
                <a:spcPts val="3780"/>
              </a:lnSpc>
              <a:spcBef>
                <a:spcPct val="0"/>
              </a:spcBef>
              <a:buFont typeface="Arial"/>
              <a:buChar char="•"/>
            </a:pPr>
            <a:r>
              <a:rPr lang="en-US" sz="2700" spc="43">
                <a:solidFill>
                  <a:srgbClr val="FFFFFF"/>
                </a:solidFill>
                <a:latin typeface="Times New Roman"/>
                <a:ea typeface="Times New Roman"/>
                <a:cs typeface="Times New Roman"/>
                <a:sym typeface="Times New Roman"/>
              </a:rPr>
              <a:t>1960s–1970s:</a:t>
            </a:r>
          </a:p>
          <a:p>
            <a:pPr algn="l" marL="1165863" indent="-388621" lvl="2">
              <a:lnSpc>
                <a:spcPts val="3780"/>
              </a:lnSpc>
              <a:spcBef>
                <a:spcPct val="0"/>
              </a:spcBef>
              <a:buFont typeface="Arial"/>
              <a:buChar char="⚬"/>
            </a:pPr>
            <a:r>
              <a:rPr lang="en-US" sz="2700" spc="43">
                <a:solidFill>
                  <a:srgbClr val="FFFFFF"/>
                </a:solidFill>
                <a:latin typeface="Times New Roman"/>
                <a:ea typeface="Times New Roman"/>
                <a:cs typeface="Times New Roman"/>
                <a:sym typeface="Times New Roman"/>
              </a:rPr>
              <a:t>Hình thành SE, mô hình Waterfall (thác nước)</a:t>
            </a:r>
          </a:p>
          <a:p>
            <a:pPr algn="l" marL="582932" indent="-291466" lvl="1">
              <a:lnSpc>
                <a:spcPts val="3780"/>
              </a:lnSpc>
              <a:spcBef>
                <a:spcPct val="0"/>
              </a:spcBef>
              <a:buFont typeface="Arial"/>
              <a:buChar char="•"/>
            </a:pPr>
            <a:r>
              <a:rPr lang="en-US" sz="2700" spc="43">
                <a:solidFill>
                  <a:srgbClr val="FFFFFF"/>
                </a:solidFill>
                <a:latin typeface="Times New Roman"/>
                <a:ea typeface="Times New Roman"/>
                <a:cs typeface="Times New Roman"/>
                <a:sym typeface="Times New Roman"/>
              </a:rPr>
              <a:t>1980s–1990s:</a:t>
            </a:r>
          </a:p>
          <a:p>
            <a:pPr algn="l" marL="1165863" indent="-388621" lvl="2">
              <a:lnSpc>
                <a:spcPts val="3780"/>
              </a:lnSpc>
              <a:spcBef>
                <a:spcPct val="0"/>
              </a:spcBef>
              <a:buFont typeface="Arial"/>
              <a:buChar char="⚬"/>
            </a:pPr>
            <a:r>
              <a:rPr lang="en-US" sz="2700" spc="43">
                <a:solidFill>
                  <a:srgbClr val="FFFFFF"/>
                </a:solidFill>
                <a:latin typeface="Times New Roman"/>
                <a:ea typeface="Times New Roman"/>
                <a:cs typeface="Times New Roman"/>
                <a:sym typeface="Times New Roman"/>
              </a:rPr>
              <a:t>Xuất hiện lập trình hướng đối tượng (OOP)</a:t>
            </a:r>
          </a:p>
          <a:p>
            <a:pPr algn="l" marL="1165863" indent="-388621" lvl="2">
              <a:lnSpc>
                <a:spcPts val="3780"/>
              </a:lnSpc>
              <a:spcBef>
                <a:spcPct val="0"/>
              </a:spcBef>
              <a:buFont typeface="Arial"/>
              <a:buChar char="⚬"/>
            </a:pPr>
            <a:r>
              <a:rPr lang="en-US" sz="2700" spc="43">
                <a:solidFill>
                  <a:srgbClr val="FFFFFF"/>
                </a:solidFill>
                <a:latin typeface="Times New Roman"/>
                <a:ea typeface="Times New Roman"/>
                <a:cs typeface="Times New Roman"/>
                <a:sym typeface="Times New Roman"/>
              </a:rPr>
              <a:t>Công cụ hỗ trợ phát triển mạnh hơn</a:t>
            </a:r>
          </a:p>
          <a:p>
            <a:pPr algn="l" marL="582932" indent="-291466" lvl="1">
              <a:lnSpc>
                <a:spcPts val="3780"/>
              </a:lnSpc>
              <a:spcBef>
                <a:spcPct val="0"/>
              </a:spcBef>
              <a:buFont typeface="Arial"/>
              <a:buChar char="•"/>
            </a:pPr>
            <a:r>
              <a:rPr lang="en-US" sz="2700" spc="43">
                <a:solidFill>
                  <a:srgbClr val="FFFFFF"/>
                </a:solidFill>
                <a:latin typeface="Times New Roman"/>
                <a:ea typeface="Times New Roman"/>
                <a:cs typeface="Times New Roman"/>
                <a:sym typeface="Times New Roman"/>
              </a:rPr>
              <a:t>2000s:</a:t>
            </a:r>
          </a:p>
          <a:p>
            <a:pPr algn="l" marL="1165863" indent="-388621" lvl="2">
              <a:lnSpc>
                <a:spcPts val="3780"/>
              </a:lnSpc>
              <a:spcBef>
                <a:spcPct val="0"/>
              </a:spcBef>
              <a:buFont typeface="Arial"/>
              <a:buChar char="⚬"/>
            </a:pPr>
            <a:r>
              <a:rPr lang="en-US" sz="2700" spc="43">
                <a:solidFill>
                  <a:srgbClr val="FFFFFF"/>
                </a:solidFill>
                <a:latin typeface="Times New Roman"/>
                <a:ea typeface="Times New Roman"/>
                <a:cs typeface="Times New Roman"/>
                <a:sym typeface="Times New Roman"/>
              </a:rPr>
              <a:t>Phương pháp Agile (linh hoạt) ra đời</a:t>
            </a:r>
          </a:p>
          <a:p>
            <a:pPr algn="l" marL="582932" indent="-291466" lvl="1">
              <a:lnSpc>
                <a:spcPts val="3780"/>
              </a:lnSpc>
              <a:spcBef>
                <a:spcPct val="0"/>
              </a:spcBef>
              <a:buFont typeface="Arial"/>
              <a:buChar char="•"/>
            </a:pPr>
            <a:r>
              <a:rPr lang="en-US" sz="2700" spc="43">
                <a:solidFill>
                  <a:srgbClr val="FFFFFF"/>
                </a:solidFill>
                <a:latin typeface="Times New Roman"/>
                <a:ea typeface="Times New Roman"/>
                <a:cs typeface="Times New Roman"/>
                <a:sym typeface="Times New Roman"/>
              </a:rPr>
              <a:t>2010s–nay:</a:t>
            </a:r>
          </a:p>
          <a:p>
            <a:pPr algn="l" marL="1165863" indent="-388621" lvl="2">
              <a:lnSpc>
                <a:spcPts val="3780"/>
              </a:lnSpc>
              <a:spcBef>
                <a:spcPct val="0"/>
              </a:spcBef>
              <a:buFont typeface="Arial"/>
              <a:buChar char="⚬"/>
            </a:pPr>
            <a:r>
              <a:rPr lang="en-US" sz="2700" spc="43">
                <a:solidFill>
                  <a:srgbClr val="FFFFFF"/>
                </a:solidFill>
                <a:latin typeface="Times New Roman"/>
                <a:ea typeface="Times New Roman"/>
                <a:cs typeface="Times New Roman"/>
                <a:sym typeface="Times New Roman"/>
              </a:rPr>
              <a:t>DevOps, CI/CD, Cloud phát triển mạnh</a:t>
            </a:r>
          </a:p>
          <a:p>
            <a:pPr algn="l">
              <a:lnSpc>
                <a:spcPts val="3780"/>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32806" t="-48141" r="0" b="-9259"/>
            </a:stretch>
          </a:blipFill>
        </p:spPr>
      </p:sp>
      <p:sp>
        <p:nvSpPr>
          <p:cNvPr name="TextBox 3" id="3"/>
          <p:cNvSpPr txBox="true"/>
          <p:nvPr/>
        </p:nvSpPr>
        <p:spPr>
          <a:xfrm rot="0">
            <a:off x="630492" y="668338"/>
            <a:ext cx="6277637" cy="625475"/>
          </a:xfrm>
          <a:prstGeom prst="rect">
            <a:avLst/>
          </a:prstGeom>
        </p:spPr>
        <p:txBody>
          <a:bodyPr anchor="t" rtlCol="false" tIns="0" lIns="0" bIns="0" rIns="0">
            <a:spAutoFit/>
          </a:bodyPr>
          <a:lstStyle/>
          <a:p>
            <a:pPr algn="ctr">
              <a:lnSpc>
                <a:spcPts val="4900"/>
              </a:lnSpc>
              <a:spcBef>
                <a:spcPct val="0"/>
              </a:spcBef>
            </a:pPr>
            <a:r>
              <a:rPr lang="en-US" sz="3500" spc="56">
                <a:solidFill>
                  <a:srgbClr val="FFFFFF"/>
                </a:solidFill>
                <a:latin typeface="Times New Roman"/>
                <a:ea typeface="Times New Roman"/>
                <a:cs typeface="Times New Roman"/>
                <a:sym typeface="Times New Roman"/>
              </a:rPr>
              <a:t>1.2.2.</a:t>
            </a:r>
            <a:r>
              <a:rPr lang="en-US" sz="3500" spc="56">
                <a:solidFill>
                  <a:srgbClr val="FFFFFF"/>
                </a:solidFill>
                <a:latin typeface="Times New Roman"/>
                <a:ea typeface="Times New Roman"/>
                <a:cs typeface="Times New Roman"/>
                <a:sym typeface="Times New Roman"/>
              </a:rPr>
              <a:t> Lộ trình phát triển SE</a:t>
            </a:r>
          </a:p>
        </p:txBody>
      </p:sp>
      <p:sp>
        <p:nvSpPr>
          <p:cNvPr name="TextBox 4" id="4"/>
          <p:cNvSpPr txBox="true"/>
          <p:nvPr/>
        </p:nvSpPr>
        <p:spPr>
          <a:xfrm rot="0">
            <a:off x="1028700" y="1523587"/>
            <a:ext cx="10957117" cy="3743325"/>
          </a:xfrm>
          <a:prstGeom prst="rect">
            <a:avLst/>
          </a:prstGeom>
        </p:spPr>
        <p:txBody>
          <a:bodyPr anchor="t" rtlCol="false" tIns="0" lIns="0" bIns="0" rIns="0">
            <a:spAutoFit/>
          </a:bodyPr>
          <a:lstStyle/>
          <a:p>
            <a:pPr algn="l">
              <a:lnSpc>
                <a:spcPts val="4200"/>
              </a:lnSpc>
            </a:pPr>
            <a:r>
              <a:rPr lang="en-US" sz="3000" spc="48">
                <a:solidFill>
                  <a:srgbClr val="FFFFFF"/>
                </a:solidFill>
                <a:latin typeface="Times New Roman"/>
                <a:ea typeface="Times New Roman"/>
                <a:cs typeface="Times New Roman"/>
                <a:sym typeface="Times New Roman"/>
              </a:rPr>
              <a:t>3. Xu hướng hiện đại của SE</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Phát triển nhanh, linh hoạt (Agile, Scrum)</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Tự động hóa: kiểm thử, triển khai (CI/CD)</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Ứng dụng Cloud Computing</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Tích hợp AI hỗ trợ lập trình</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Chú trọng bảo mật và trải nghiệm người dùng</a:t>
            </a:r>
          </a:p>
          <a:p>
            <a:pPr algn="l">
              <a:lnSpc>
                <a:spcPts val="4200"/>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18444" r="0" b="0"/>
            </a:stretch>
          </a:blipFill>
        </p:spPr>
      </p:sp>
      <p:sp>
        <p:nvSpPr>
          <p:cNvPr name="TextBox 3" id="3"/>
          <p:cNvSpPr txBox="true"/>
          <p:nvPr/>
        </p:nvSpPr>
        <p:spPr>
          <a:xfrm rot="0">
            <a:off x="1028700" y="971550"/>
            <a:ext cx="7358924" cy="584200"/>
          </a:xfrm>
          <a:prstGeom prst="rect">
            <a:avLst/>
          </a:prstGeom>
        </p:spPr>
        <p:txBody>
          <a:bodyPr anchor="t" rtlCol="false" tIns="0" lIns="0" bIns="0" rIns="0">
            <a:spAutoFit/>
          </a:bodyPr>
          <a:lstStyle/>
          <a:p>
            <a:pPr algn="l">
              <a:lnSpc>
                <a:spcPts val="4550"/>
              </a:lnSpc>
            </a:pPr>
            <a:r>
              <a:rPr lang="en-US" sz="3500">
                <a:solidFill>
                  <a:srgbClr val="FFFFFF"/>
                </a:solidFill>
                <a:latin typeface="Times New Roman"/>
                <a:ea typeface="Times New Roman"/>
                <a:cs typeface="Times New Roman"/>
                <a:sym typeface="Times New Roman"/>
              </a:rPr>
              <a:t>1.2.3. Môi trường dự án phần mềm</a:t>
            </a:r>
          </a:p>
        </p:txBody>
      </p:sp>
      <p:grpSp>
        <p:nvGrpSpPr>
          <p:cNvPr name="Group 4" id="4"/>
          <p:cNvGrpSpPr/>
          <p:nvPr/>
        </p:nvGrpSpPr>
        <p:grpSpPr>
          <a:xfrm rot="0">
            <a:off x="11769489" y="0"/>
            <a:ext cx="6518511" cy="10287000"/>
            <a:chOff x="0" y="0"/>
            <a:chExt cx="2210335" cy="3488176"/>
          </a:xfrm>
        </p:grpSpPr>
        <p:sp>
          <p:nvSpPr>
            <p:cNvPr name="Freeform 5" id="5"/>
            <p:cNvSpPr/>
            <p:nvPr/>
          </p:nvSpPr>
          <p:spPr>
            <a:xfrm flipH="false" flipV="false" rot="0">
              <a:off x="0" y="0"/>
              <a:ext cx="2210335" cy="3488176"/>
            </a:xfrm>
            <a:custGeom>
              <a:avLst/>
              <a:gdLst/>
              <a:ahLst/>
              <a:cxnLst/>
              <a:rect r="r" b="b" t="t" l="l"/>
              <a:pathLst>
                <a:path h="3488176" w="2210335">
                  <a:moveTo>
                    <a:pt x="0" y="0"/>
                  </a:moveTo>
                  <a:lnTo>
                    <a:pt x="2210335" y="0"/>
                  </a:lnTo>
                  <a:lnTo>
                    <a:pt x="2210335" y="3488176"/>
                  </a:lnTo>
                  <a:lnTo>
                    <a:pt x="0" y="3488176"/>
                  </a:lnTo>
                  <a:close/>
                </a:path>
              </a:pathLst>
            </a:custGeom>
            <a:blipFill>
              <a:blip r:embed="rId3"/>
              <a:stretch>
                <a:fillRect l="-90771" t="0" r="-19644" b="0"/>
              </a:stretch>
            </a:blipFill>
            <a:ln cap="sq">
              <a:noFill/>
              <a:prstDash val="solid"/>
              <a:miter/>
            </a:ln>
          </p:spPr>
        </p:sp>
      </p:grpSp>
      <p:sp>
        <p:nvSpPr>
          <p:cNvPr name="TextBox 6" id="6"/>
          <p:cNvSpPr txBox="true"/>
          <p:nvPr/>
        </p:nvSpPr>
        <p:spPr>
          <a:xfrm rot="0">
            <a:off x="1028700" y="1773580"/>
            <a:ext cx="10209845" cy="3981450"/>
          </a:xfrm>
          <a:prstGeom prst="rect">
            <a:avLst/>
          </a:prstGeom>
        </p:spPr>
        <p:txBody>
          <a:bodyPr anchor="t" rtlCol="false" tIns="0" lIns="0" bIns="0" rIns="0">
            <a:spAutoFit/>
          </a:bodyPr>
          <a:lstStyle/>
          <a:p>
            <a:pPr algn="l">
              <a:lnSpc>
                <a:spcPts val="3900"/>
              </a:lnSpc>
            </a:pPr>
            <a:r>
              <a:rPr lang="en-US" sz="3000" spc="126">
                <a:solidFill>
                  <a:srgbClr val="FFFFFF"/>
                </a:solidFill>
                <a:latin typeface="Times New Roman"/>
                <a:ea typeface="Times New Roman"/>
                <a:cs typeface="Times New Roman"/>
                <a:sym typeface="Times New Roman"/>
              </a:rPr>
              <a:t>1. Các vai trò trong dự án phần mềm</a:t>
            </a:r>
          </a:p>
          <a:p>
            <a:pPr algn="l" marL="647700" indent="-323850" lvl="1">
              <a:lnSpc>
                <a:spcPts val="3900"/>
              </a:lnSpc>
              <a:buFont typeface="Arial"/>
              <a:buChar char="•"/>
            </a:pPr>
            <a:r>
              <a:rPr lang="en-US" sz="3000" spc="126">
                <a:solidFill>
                  <a:srgbClr val="FFFFFF"/>
                </a:solidFill>
                <a:latin typeface="Times New Roman"/>
                <a:ea typeface="Times New Roman"/>
                <a:cs typeface="Times New Roman"/>
                <a:sym typeface="Times New Roman"/>
              </a:rPr>
              <a:t>Business Analyst (BA): Thu thập &amp; phân tích yêu cầu</a:t>
            </a:r>
          </a:p>
          <a:p>
            <a:pPr algn="l" marL="647700" indent="-323850" lvl="1">
              <a:lnSpc>
                <a:spcPts val="3900"/>
              </a:lnSpc>
              <a:buFont typeface="Arial"/>
              <a:buChar char="•"/>
            </a:pPr>
            <a:r>
              <a:rPr lang="en-US" sz="3000" spc="126">
                <a:solidFill>
                  <a:srgbClr val="FFFFFF"/>
                </a:solidFill>
                <a:latin typeface="Times New Roman"/>
                <a:ea typeface="Times New Roman"/>
                <a:cs typeface="Times New Roman"/>
                <a:sym typeface="Times New Roman"/>
              </a:rPr>
              <a:t>Project Manager (PM): Lập kế hoạch, quản lý tiến độ</a:t>
            </a:r>
          </a:p>
          <a:p>
            <a:pPr algn="l" marL="647700" indent="-323850" lvl="1">
              <a:lnSpc>
                <a:spcPts val="3900"/>
              </a:lnSpc>
              <a:buFont typeface="Arial"/>
              <a:buChar char="•"/>
            </a:pPr>
            <a:r>
              <a:rPr lang="en-US" sz="3000" spc="126">
                <a:solidFill>
                  <a:srgbClr val="FFFFFF"/>
                </a:solidFill>
                <a:latin typeface="Times New Roman"/>
                <a:ea typeface="Times New Roman"/>
                <a:cs typeface="Times New Roman"/>
                <a:sym typeface="Times New Roman"/>
              </a:rPr>
              <a:t>Developer: Thiết kế &amp; lập trình hệ thống</a:t>
            </a:r>
          </a:p>
          <a:p>
            <a:pPr algn="l" marL="647700" indent="-323850" lvl="1">
              <a:lnSpc>
                <a:spcPts val="3900"/>
              </a:lnSpc>
              <a:buFont typeface="Arial"/>
              <a:buChar char="•"/>
            </a:pPr>
            <a:r>
              <a:rPr lang="en-US" sz="3000" spc="126">
                <a:solidFill>
                  <a:srgbClr val="FFFFFF"/>
                </a:solidFill>
                <a:latin typeface="Times New Roman"/>
                <a:ea typeface="Times New Roman"/>
                <a:cs typeface="Times New Roman"/>
                <a:sym typeface="Times New Roman"/>
              </a:rPr>
              <a:t>Tester (QA/QC): Kiểm thử, đảm bảo chất lượng</a:t>
            </a:r>
          </a:p>
          <a:p>
            <a:pPr algn="l" marL="647700" indent="-323850" lvl="1">
              <a:lnSpc>
                <a:spcPts val="3900"/>
              </a:lnSpc>
              <a:buFont typeface="Arial"/>
              <a:buChar char="•"/>
            </a:pPr>
            <a:r>
              <a:rPr lang="en-US" sz="3000" spc="126">
                <a:solidFill>
                  <a:srgbClr val="FFFFFF"/>
                </a:solidFill>
                <a:latin typeface="Times New Roman"/>
                <a:ea typeface="Times New Roman"/>
                <a:cs typeface="Times New Roman"/>
                <a:sym typeface="Times New Roman"/>
              </a:rPr>
              <a:t>UI/UX Designer: Thiết kế giao diện, trải nghiệm</a:t>
            </a:r>
          </a:p>
          <a:p>
            <a:pPr algn="l" marL="647700" indent="-323850" lvl="1">
              <a:lnSpc>
                <a:spcPts val="3900"/>
              </a:lnSpc>
              <a:buFont typeface="Arial"/>
              <a:buChar char="•"/>
            </a:pPr>
            <a:r>
              <a:rPr lang="en-US" sz="3000" spc="126">
                <a:solidFill>
                  <a:srgbClr val="FFFFFF"/>
                </a:solidFill>
                <a:latin typeface="Times New Roman"/>
                <a:ea typeface="Times New Roman"/>
                <a:cs typeface="Times New Roman"/>
                <a:sym typeface="Times New Roman"/>
              </a:rPr>
              <a:t>DevOps/IT: Triển khai, vận hành hệ thống</a:t>
            </a:r>
          </a:p>
          <a:p>
            <a:pPr algn="l">
              <a:lnSpc>
                <a:spcPts val="3900"/>
              </a:lnSpc>
              <a:spcBef>
                <a:spcPct val="0"/>
              </a:spcBef>
            </a:pPr>
          </a:p>
        </p:txBody>
      </p:sp>
      <p:sp>
        <p:nvSpPr>
          <p:cNvPr name="TextBox 7" id="7"/>
          <p:cNvSpPr txBox="true"/>
          <p:nvPr/>
        </p:nvSpPr>
        <p:spPr>
          <a:xfrm rot="0">
            <a:off x="1028700" y="5476875"/>
            <a:ext cx="9384506" cy="4810125"/>
          </a:xfrm>
          <a:prstGeom prst="rect">
            <a:avLst/>
          </a:prstGeom>
        </p:spPr>
        <p:txBody>
          <a:bodyPr anchor="t" rtlCol="false" tIns="0" lIns="0" bIns="0" rIns="0">
            <a:spAutoFit/>
          </a:bodyPr>
          <a:lstStyle/>
          <a:p>
            <a:pPr algn="l">
              <a:lnSpc>
                <a:spcPts val="4200"/>
              </a:lnSpc>
            </a:pPr>
            <a:r>
              <a:rPr lang="en-US" sz="3000" spc="48">
                <a:solidFill>
                  <a:srgbClr val="FFFFFF"/>
                </a:solidFill>
                <a:latin typeface="Times New Roman"/>
                <a:ea typeface="Times New Roman"/>
                <a:cs typeface="Times New Roman"/>
                <a:sym typeface="Times New Roman"/>
              </a:rPr>
              <a:t>2. Sự phối hợp Business – Developer – Tester</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Business (BA) → đưa ra yêu cầu &amp; mong muốn</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Developer → xây dựng phần mềm theo yêu cầu</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Tester → kiểm tra, phát hiện lỗi</a:t>
            </a:r>
          </a:p>
          <a:p>
            <a:pPr algn="l">
              <a:lnSpc>
                <a:spcPts val="4200"/>
              </a:lnSpc>
            </a:pPr>
            <a:r>
              <a:rPr lang="en-US" sz="3000" spc="48">
                <a:solidFill>
                  <a:srgbClr val="FFFFFF"/>
                </a:solidFill>
                <a:latin typeface="Times New Roman"/>
                <a:ea typeface="Times New Roman"/>
                <a:cs typeface="Times New Roman"/>
                <a:sym typeface="Times New Roman"/>
              </a:rPr>
              <a:t>👉 Quy trình phối hợp:</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BA mô tả yêu cầu → Dev phát triển → Tester kiểm thử</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Tester phản hồi lỗi → Dev sửa → BA xác nhận lại</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Lặp lại cho đến khi đạt yêu cầu</a:t>
            </a:r>
          </a:p>
          <a:p>
            <a:pPr algn="l">
              <a:lnSpc>
                <a:spcPts val="4200"/>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18444" r="0" b="0"/>
            </a:stretch>
          </a:blipFill>
        </p:spPr>
      </p:sp>
      <p:sp>
        <p:nvSpPr>
          <p:cNvPr name="TextBox 3" id="3"/>
          <p:cNvSpPr txBox="true"/>
          <p:nvPr/>
        </p:nvSpPr>
        <p:spPr>
          <a:xfrm rot="0">
            <a:off x="1028700" y="971550"/>
            <a:ext cx="7358924" cy="584200"/>
          </a:xfrm>
          <a:prstGeom prst="rect">
            <a:avLst/>
          </a:prstGeom>
        </p:spPr>
        <p:txBody>
          <a:bodyPr anchor="t" rtlCol="false" tIns="0" lIns="0" bIns="0" rIns="0">
            <a:spAutoFit/>
          </a:bodyPr>
          <a:lstStyle/>
          <a:p>
            <a:pPr algn="l">
              <a:lnSpc>
                <a:spcPts val="4550"/>
              </a:lnSpc>
            </a:pPr>
            <a:r>
              <a:rPr lang="en-US" sz="3500">
                <a:solidFill>
                  <a:srgbClr val="FFFFFF"/>
                </a:solidFill>
                <a:latin typeface="Times New Roman"/>
                <a:ea typeface="Times New Roman"/>
                <a:cs typeface="Times New Roman"/>
                <a:sym typeface="Times New Roman"/>
              </a:rPr>
              <a:t>1.2.3. Môi trường dự án phần mềm</a:t>
            </a:r>
          </a:p>
        </p:txBody>
      </p:sp>
      <p:sp>
        <p:nvSpPr>
          <p:cNvPr name="TextBox 4" id="4"/>
          <p:cNvSpPr txBox="true"/>
          <p:nvPr/>
        </p:nvSpPr>
        <p:spPr>
          <a:xfrm rot="0">
            <a:off x="1028700" y="1773580"/>
            <a:ext cx="10209845" cy="3486150"/>
          </a:xfrm>
          <a:prstGeom prst="rect">
            <a:avLst/>
          </a:prstGeom>
        </p:spPr>
        <p:txBody>
          <a:bodyPr anchor="t" rtlCol="false" tIns="0" lIns="0" bIns="0" rIns="0">
            <a:spAutoFit/>
          </a:bodyPr>
          <a:lstStyle/>
          <a:p>
            <a:pPr algn="l">
              <a:lnSpc>
                <a:spcPts val="3900"/>
              </a:lnSpc>
            </a:pPr>
            <a:r>
              <a:rPr lang="en-US" sz="3000" spc="126">
                <a:solidFill>
                  <a:srgbClr val="FFFFFF"/>
                </a:solidFill>
                <a:latin typeface="Times New Roman"/>
                <a:ea typeface="Times New Roman"/>
                <a:cs typeface="Times New Roman"/>
                <a:sym typeface="Times New Roman"/>
              </a:rPr>
              <a:t>3. Các yếu tố môi trường ảnh hưởng đến dự án</a:t>
            </a:r>
          </a:p>
          <a:p>
            <a:pPr algn="l" marL="647700" indent="-323850" lvl="1">
              <a:lnSpc>
                <a:spcPts val="3900"/>
              </a:lnSpc>
              <a:buFont typeface="Arial"/>
              <a:buChar char="•"/>
            </a:pPr>
            <a:r>
              <a:rPr lang="en-US" sz="3000" spc="126">
                <a:solidFill>
                  <a:srgbClr val="FFFFFF"/>
                </a:solidFill>
                <a:latin typeface="Times New Roman"/>
                <a:ea typeface="Times New Roman"/>
                <a:cs typeface="Times New Roman"/>
                <a:sym typeface="Times New Roman"/>
              </a:rPr>
              <a:t>Con người: kỹ năng, giao tiếp, teamwork</a:t>
            </a:r>
          </a:p>
          <a:p>
            <a:pPr algn="l" marL="647700" indent="-323850" lvl="1">
              <a:lnSpc>
                <a:spcPts val="3900"/>
              </a:lnSpc>
              <a:buFont typeface="Arial"/>
              <a:buChar char="•"/>
            </a:pPr>
            <a:r>
              <a:rPr lang="en-US" sz="3000" spc="126">
                <a:solidFill>
                  <a:srgbClr val="FFFFFF"/>
                </a:solidFill>
                <a:latin typeface="Times New Roman"/>
                <a:ea typeface="Times New Roman"/>
                <a:cs typeface="Times New Roman"/>
                <a:sym typeface="Times New Roman"/>
              </a:rPr>
              <a:t>Công nghệ: công cụ, ngôn ngữ, nền tảng</a:t>
            </a:r>
          </a:p>
          <a:p>
            <a:pPr algn="l" marL="647700" indent="-323850" lvl="1">
              <a:lnSpc>
                <a:spcPts val="3900"/>
              </a:lnSpc>
              <a:buFont typeface="Arial"/>
              <a:buChar char="•"/>
            </a:pPr>
            <a:r>
              <a:rPr lang="en-US" sz="3000" spc="126">
                <a:solidFill>
                  <a:srgbClr val="FFFFFF"/>
                </a:solidFill>
                <a:latin typeface="Times New Roman"/>
                <a:ea typeface="Times New Roman"/>
                <a:cs typeface="Times New Roman"/>
                <a:sym typeface="Times New Roman"/>
              </a:rPr>
              <a:t>Quy trình: Agile, Waterfall…</a:t>
            </a:r>
          </a:p>
          <a:p>
            <a:pPr algn="l" marL="647700" indent="-323850" lvl="1">
              <a:lnSpc>
                <a:spcPts val="3900"/>
              </a:lnSpc>
              <a:buFont typeface="Arial"/>
              <a:buChar char="•"/>
            </a:pPr>
            <a:r>
              <a:rPr lang="en-US" sz="3000" spc="126">
                <a:solidFill>
                  <a:srgbClr val="FFFFFF"/>
                </a:solidFill>
                <a:latin typeface="Times New Roman"/>
                <a:ea typeface="Times New Roman"/>
                <a:cs typeface="Times New Roman"/>
                <a:sym typeface="Times New Roman"/>
              </a:rPr>
              <a:t>Thời gian &amp; chi phí: deadline, ngân sách</a:t>
            </a:r>
          </a:p>
          <a:p>
            <a:pPr algn="l" marL="647700" indent="-323850" lvl="1">
              <a:lnSpc>
                <a:spcPts val="3900"/>
              </a:lnSpc>
              <a:buFont typeface="Arial"/>
              <a:buChar char="•"/>
            </a:pPr>
            <a:r>
              <a:rPr lang="en-US" sz="3000" spc="126">
                <a:solidFill>
                  <a:srgbClr val="FFFFFF"/>
                </a:solidFill>
                <a:latin typeface="Times New Roman"/>
                <a:ea typeface="Times New Roman"/>
                <a:cs typeface="Times New Roman"/>
                <a:sym typeface="Times New Roman"/>
              </a:rPr>
              <a:t>Yêu cầu khách hàng: rõ ràng hay thay đổi liên tục</a:t>
            </a:r>
          </a:p>
          <a:p>
            <a:pPr algn="l">
              <a:lnSpc>
                <a:spcPts val="3900"/>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p:nvPr/>
        </p:nvGrpSpPr>
        <p:grpSpPr>
          <a:xfrm rot="0">
            <a:off x="10747686" y="1028700"/>
            <a:ext cx="6964055" cy="5692544"/>
            <a:chOff x="0" y="0"/>
            <a:chExt cx="2882035" cy="2355827"/>
          </a:xfrm>
        </p:grpSpPr>
        <p:sp>
          <p:nvSpPr>
            <p:cNvPr name="Freeform 4" id="4"/>
            <p:cNvSpPr/>
            <p:nvPr/>
          </p:nvSpPr>
          <p:spPr>
            <a:xfrm flipH="false" flipV="false" rot="0">
              <a:off x="0" y="0"/>
              <a:ext cx="2882035" cy="2355827"/>
            </a:xfrm>
            <a:custGeom>
              <a:avLst/>
              <a:gdLst/>
              <a:ahLst/>
              <a:cxnLst/>
              <a:rect r="r" b="b" t="t" l="l"/>
              <a:pathLst>
                <a:path h="2355827" w="2882035">
                  <a:moveTo>
                    <a:pt x="15564" y="0"/>
                  </a:moveTo>
                  <a:lnTo>
                    <a:pt x="2866471" y="0"/>
                  </a:lnTo>
                  <a:cubicBezTo>
                    <a:pt x="2875067" y="0"/>
                    <a:pt x="2882035" y="6968"/>
                    <a:pt x="2882035" y="15564"/>
                  </a:cubicBezTo>
                  <a:lnTo>
                    <a:pt x="2882035" y="2340264"/>
                  </a:lnTo>
                  <a:cubicBezTo>
                    <a:pt x="2882035" y="2348859"/>
                    <a:pt x="2875067" y="2355827"/>
                    <a:pt x="2866471" y="2355827"/>
                  </a:cubicBezTo>
                  <a:lnTo>
                    <a:pt x="15564" y="2355827"/>
                  </a:lnTo>
                  <a:cubicBezTo>
                    <a:pt x="6968" y="2355827"/>
                    <a:pt x="0" y="2348859"/>
                    <a:pt x="0" y="2340264"/>
                  </a:cubicBezTo>
                  <a:lnTo>
                    <a:pt x="0" y="15564"/>
                  </a:lnTo>
                  <a:cubicBezTo>
                    <a:pt x="0" y="6968"/>
                    <a:pt x="6968" y="0"/>
                    <a:pt x="15564" y="0"/>
                  </a:cubicBezTo>
                  <a:close/>
                </a:path>
              </a:pathLst>
            </a:custGeom>
            <a:blipFill>
              <a:blip r:embed="rId3"/>
              <a:stretch>
                <a:fillRect l="-9665" t="0" r="-9665" b="0"/>
              </a:stretch>
            </a:blipFill>
            <a:ln cap="sq">
              <a:noFill/>
              <a:prstDash val="solid"/>
              <a:miter/>
            </a:ln>
          </p:spPr>
        </p:sp>
      </p:grpSp>
      <p:sp>
        <p:nvSpPr>
          <p:cNvPr name="TextBox 5" id="5"/>
          <p:cNvSpPr txBox="true"/>
          <p:nvPr/>
        </p:nvSpPr>
        <p:spPr>
          <a:xfrm rot="0">
            <a:off x="1028700" y="971550"/>
            <a:ext cx="8759179" cy="584200"/>
          </a:xfrm>
          <a:prstGeom prst="rect">
            <a:avLst/>
          </a:prstGeom>
        </p:spPr>
        <p:txBody>
          <a:bodyPr anchor="t" rtlCol="false" tIns="0" lIns="0" bIns="0" rIns="0">
            <a:spAutoFit/>
          </a:bodyPr>
          <a:lstStyle/>
          <a:p>
            <a:pPr algn="l">
              <a:lnSpc>
                <a:spcPts val="4550"/>
              </a:lnSpc>
              <a:spcBef>
                <a:spcPct val="0"/>
              </a:spcBef>
            </a:pPr>
            <a:r>
              <a:rPr lang="en-US" sz="3500" spc="147">
                <a:solidFill>
                  <a:srgbClr val="FFFFFF"/>
                </a:solidFill>
                <a:latin typeface="Times New Roman"/>
                <a:ea typeface="Times New Roman"/>
                <a:cs typeface="Times New Roman"/>
                <a:sym typeface="Times New Roman"/>
              </a:rPr>
              <a:t>1.2.4.</a:t>
            </a:r>
            <a:r>
              <a:rPr lang="en-US" sz="3500" spc="147">
                <a:solidFill>
                  <a:srgbClr val="FFFFFF"/>
                </a:solidFill>
                <a:latin typeface="Times New Roman"/>
                <a:ea typeface="Times New Roman"/>
                <a:cs typeface="Times New Roman"/>
                <a:sym typeface="Times New Roman"/>
              </a:rPr>
              <a:t> Tổng quan các mô hình phát triển</a:t>
            </a:r>
          </a:p>
        </p:txBody>
      </p:sp>
      <p:sp>
        <p:nvSpPr>
          <p:cNvPr name="TextBox 6" id="6"/>
          <p:cNvSpPr txBox="true"/>
          <p:nvPr/>
        </p:nvSpPr>
        <p:spPr>
          <a:xfrm rot="0">
            <a:off x="1028700" y="1749194"/>
            <a:ext cx="9188042" cy="4972050"/>
          </a:xfrm>
          <a:prstGeom prst="rect">
            <a:avLst/>
          </a:prstGeom>
        </p:spPr>
        <p:txBody>
          <a:bodyPr anchor="t" rtlCol="false" tIns="0" lIns="0" bIns="0" rIns="0">
            <a:spAutoFit/>
          </a:bodyPr>
          <a:lstStyle/>
          <a:p>
            <a:pPr algn="just">
              <a:lnSpc>
                <a:spcPts val="3900"/>
              </a:lnSpc>
            </a:pPr>
            <a:r>
              <a:rPr lang="en-US" sz="3000" spc="126">
                <a:solidFill>
                  <a:srgbClr val="FFFFFF"/>
                </a:solidFill>
                <a:latin typeface="Times New Roman"/>
                <a:ea typeface="Times New Roman"/>
                <a:cs typeface="Times New Roman"/>
                <a:sym typeface="Times New Roman"/>
              </a:rPr>
              <a:t>1. Các mô hình phổ biến</a:t>
            </a:r>
          </a:p>
          <a:p>
            <a:pPr algn="just" marL="647700" indent="-323850" lvl="1">
              <a:lnSpc>
                <a:spcPts val="3900"/>
              </a:lnSpc>
              <a:buFont typeface="Arial"/>
              <a:buChar char="•"/>
            </a:pPr>
            <a:r>
              <a:rPr lang="en-US" sz="3000" spc="126">
                <a:solidFill>
                  <a:srgbClr val="FFFFFF"/>
                </a:solidFill>
                <a:latin typeface="Times New Roman"/>
                <a:ea typeface="Times New Roman"/>
                <a:cs typeface="Times New Roman"/>
                <a:sym typeface="Times New Roman"/>
              </a:rPr>
              <a:t>Waterfall (Thác nước)</a:t>
            </a:r>
          </a:p>
          <a:p>
            <a:pPr algn="just" marL="647700" indent="-323850" lvl="1">
              <a:lnSpc>
                <a:spcPts val="3900"/>
              </a:lnSpc>
              <a:buFont typeface="Arial"/>
              <a:buChar char="•"/>
            </a:pPr>
            <a:r>
              <a:rPr lang="en-US" sz="3000" spc="126">
                <a:solidFill>
                  <a:srgbClr val="FFFFFF"/>
                </a:solidFill>
                <a:latin typeface="Times New Roman"/>
                <a:ea typeface="Times New Roman"/>
                <a:cs typeface="Times New Roman"/>
                <a:sym typeface="Times New Roman"/>
              </a:rPr>
              <a:t> → Làm theo từng bước: phân tích → thiết kế → code → test</a:t>
            </a:r>
          </a:p>
          <a:p>
            <a:pPr algn="just" marL="647700" indent="-323850" lvl="1">
              <a:lnSpc>
                <a:spcPts val="3900"/>
              </a:lnSpc>
              <a:buFont typeface="Arial"/>
              <a:buChar char="•"/>
            </a:pPr>
            <a:r>
              <a:rPr lang="en-US" sz="3000" spc="126">
                <a:solidFill>
                  <a:srgbClr val="FFFFFF"/>
                </a:solidFill>
                <a:latin typeface="Times New Roman"/>
                <a:ea typeface="Times New Roman"/>
                <a:cs typeface="Times New Roman"/>
                <a:sym typeface="Times New Roman"/>
              </a:rPr>
              <a:t>Agile (Linh hoạt)</a:t>
            </a:r>
          </a:p>
          <a:p>
            <a:pPr algn="just" marL="647700" indent="-323850" lvl="1">
              <a:lnSpc>
                <a:spcPts val="3900"/>
              </a:lnSpc>
              <a:buFont typeface="Arial"/>
              <a:buChar char="•"/>
            </a:pPr>
            <a:r>
              <a:rPr lang="en-US" sz="3000" spc="126">
                <a:solidFill>
                  <a:srgbClr val="FFFFFF"/>
                </a:solidFill>
                <a:latin typeface="Times New Roman"/>
                <a:ea typeface="Times New Roman"/>
                <a:cs typeface="Times New Roman"/>
                <a:sym typeface="Times New Roman"/>
              </a:rPr>
              <a:t> → Phát triển theo vòng lặp nhỏ, phản hồi liên tục</a:t>
            </a:r>
          </a:p>
          <a:p>
            <a:pPr algn="just" marL="647700" indent="-323850" lvl="1">
              <a:lnSpc>
                <a:spcPts val="3900"/>
              </a:lnSpc>
              <a:buFont typeface="Arial"/>
              <a:buChar char="•"/>
            </a:pPr>
            <a:r>
              <a:rPr lang="en-US" sz="3000" spc="126">
                <a:solidFill>
                  <a:srgbClr val="FFFFFF"/>
                </a:solidFill>
                <a:latin typeface="Times New Roman"/>
                <a:ea typeface="Times New Roman"/>
                <a:cs typeface="Times New Roman"/>
                <a:sym typeface="Times New Roman"/>
              </a:rPr>
              <a:t>Iterative (Lặp)</a:t>
            </a:r>
          </a:p>
          <a:p>
            <a:pPr algn="just" marL="647700" indent="-323850" lvl="1">
              <a:lnSpc>
                <a:spcPts val="3900"/>
              </a:lnSpc>
              <a:buFont typeface="Arial"/>
              <a:buChar char="•"/>
            </a:pPr>
            <a:r>
              <a:rPr lang="en-US" sz="3000" spc="126">
                <a:solidFill>
                  <a:srgbClr val="FFFFFF"/>
                </a:solidFill>
                <a:latin typeface="Times New Roman"/>
                <a:ea typeface="Times New Roman"/>
                <a:cs typeface="Times New Roman"/>
                <a:sym typeface="Times New Roman"/>
              </a:rPr>
              <a:t> → Xây dựng từng phần, cải tiến dần qua nhiều vòng</a:t>
            </a:r>
          </a:p>
          <a:p>
            <a:pPr algn="just">
              <a:lnSpc>
                <a:spcPts val="3900"/>
              </a:lnSpc>
              <a:spcBef>
                <a:spcPct val="0"/>
              </a:spcBef>
            </a:pPr>
          </a:p>
        </p:txBody>
      </p:sp>
      <p:sp>
        <p:nvSpPr>
          <p:cNvPr name="TextBox 7" id="7"/>
          <p:cNvSpPr txBox="true"/>
          <p:nvPr/>
        </p:nvSpPr>
        <p:spPr>
          <a:xfrm rot="0">
            <a:off x="1028700" y="6480660"/>
            <a:ext cx="9188042" cy="3209925"/>
          </a:xfrm>
          <a:prstGeom prst="rect">
            <a:avLst/>
          </a:prstGeom>
        </p:spPr>
        <p:txBody>
          <a:bodyPr anchor="t" rtlCol="false" tIns="0" lIns="0" bIns="0" rIns="0">
            <a:spAutoFit/>
          </a:bodyPr>
          <a:lstStyle/>
          <a:p>
            <a:pPr algn="l">
              <a:lnSpc>
                <a:spcPts val="4200"/>
              </a:lnSpc>
              <a:spcBef>
                <a:spcPct val="0"/>
              </a:spcBef>
            </a:pPr>
            <a:r>
              <a:rPr lang="en-US" sz="3000" spc="48">
                <a:solidFill>
                  <a:srgbClr val="FFFFFF"/>
                </a:solidFill>
                <a:latin typeface="Times New Roman"/>
                <a:ea typeface="Times New Roman"/>
                <a:cs typeface="Times New Roman"/>
                <a:sym typeface="Times New Roman"/>
              </a:rPr>
              <a:t>2. Mô hình phù hợp theo</a:t>
            </a:r>
            <a:r>
              <a:rPr lang="en-US" sz="3000" spc="48">
                <a:solidFill>
                  <a:srgbClr val="FFFFFF"/>
                </a:solidFill>
                <a:latin typeface="Times New Roman"/>
                <a:ea typeface="Times New Roman"/>
                <a:cs typeface="Times New Roman"/>
                <a:sym typeface="Times New Roman"/>
              </a:rPr>
              <a:t> quy mô</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Dự án nhỏ, yêu cầu rõ ràng</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 → Waterfall (đơn giản, dễ quản lý)</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Dự án lớn, thay đổi nhiều</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 → Agile / Iterative (linh hoạt, thích ứng tốt)</a:t>
            </a:r>
          </a:p>
          <a:p>
            <a:pPr algn="l">
              <a:lnSpc>
                <a:spcPts val="4200"/>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TextBox 3" id="3"/>
          <p:cNvSpPr txBox="true"/>
          <p:nvPr/>
        </p:nvSpPr>
        <p:spPr>
          <a:xfrm rot="0">
            <a:off x="1028700" y="971550"/>
            <a:ext cx="8759179" cy="584200"/>
          </a:xfrm>
          <a:prstGeom prst="rect">
            <a:avLst/>
          </a:prstGeom>
        </p:spPr>
        <p:txBody>
          <a:bodyPr anchor="t" rtlCol="false" tIns="0" lIns="0" bIns="0" rIns="0">
            <a:spAutoFit/>
          </a:bodyPr>
          <a:lstStyle/>
          <a:p>
            <a:pPr algn="l">
              <a:lnSpc>
                <a:spcPts val="4550"/>
              </a:lnSpc>
              <a:spcBef>
                <a:spcPct val="0"/>
              </a:spcBef>
            </a:pPr>
            <a:r>
              <a:rPr lang="en-US" sz="3500" spc="147">
                <a:solidFill>
                  <a:srgbClr val="FFFFFF"/>
                </a:solidFill>
                <a:latin typeface="Times New Roman"/>
                <a:ea typeface="Times New Roman"/>
                <a:cs typeface="Times New Roman"/>
                <a:sym typeface="Times New Roman"/>
              </a:rPr>
              <a:t>1.2.4.</a:t>
            </a:r>
            <a:r>
              <a:rPr lang="en-US" sz="3500" spc="147">
                <a:solidFill>
                  <a:srgbClr val="FFFFFF"/>
                </a:solidFill>
                <a:latin typeface="Times New Roman"/>
                <a:ea typeface="Times New Roman"/>
                <a:cs typeface="Times New Roman"/>
                <a:sym typeface="Times New Roman"/>
              </a:rPr>
              <a:t> Tổng quan các mô hình phát triển</a:t>
            </a:r>
          </a:p>
        </p:txBody>
      </p:sp>
      <p:sp>
        <p:nvSpPr>
          <p:cNvPr name="TextBox 4" id="4"/>
          <p:cNvSpPr txBox="true"/>
          <p:nvPr/>
        </p:nvSpPr>
        <p:spPr>
          <a:xfrm rot="0">
            <a:off x="1028700" y="1749194"/>
            <a:ext cx="9188042" cy="3486150"/>
          </a:xfrm>
          <a:prstGeom prst="rect">
            <a:avLst/>
          </a:prstGeom>
        </p:spPr>
        <p:txBody>
          <a:bodyPr anchor="t" rtlCol="false" tIns="0" lIns="0" bIns="0" rIns="0">
            <a:spAutoFit/>
          </a:bodyPr>
          <a:lstStyle/>
          <a:p>
            <a:pPr algn="just">
              <a:lnSpc>
                <a:spcPts val="3900"/>
              </a:lnSpc>
            </a:pPr>
            <a:r>
              <a:rPr lang="en-US" sz="3000" spc="126">
                <a:solidFill>
                  <a:srgbClr val="FFFFFF"/>
                </a:solidFill>
                <a:latin typeface="Times New Roman"/>
                <a:ea typeface="Times New Roman"/>
                <a:cs typeface="Times New Roman"/>
                <a:sym typeface="Times New Roman"/>
              </a:rPr>
              <a:t>3. Tiêu chí chọn mô hình</a:t>
            </a:r>
          </a:p>
          <a:p>
            <a:pPr algn="just" marL="647700" indent="-323850" lvl="1">
              <a:lnSpc>
                <a:spcPts val="3900"/>
              </a:lnSpc>
              <a:buFont typeface="Arial"/>
              <a:buChar char="•"/>
            </a:pPr>
            <a:r>
              <a:rPr lang="en-US" sz="3000" spc="126">
                <a:solidFill>
                  <a:srgbClr val="FFFFFF"/>
                </a:solidFill>
                <a:latin typeface="Times New Roman"/>
                <a:ea typeface="Times New Roman"/>
                <a:cs typeface="Times New Roman"/>
                <a:sym typeface="Times New Roman"/>
              </a:rPr>
              <a:t>Độ rõ ràng của yêu cầu</a:t>
            </a:r>
          </a:p>
          <a:p>
            <a:pPr algn="just" marL="647700" indent="-323850" lvl="1">
              <a:lnSpc>
                <a:spcPts val="3900"/>
              </a:lnSpc>
              <a:buFont typeface="Arial"/>
              <a:buChar char="•"/>
            </a:pPr>
            <a:r>
              <a:rPr lang="en-US" sz="3000" spc="126">
                <a:solidFill>
                  <a:srgbClr val="FFFFFF"/>
                </a:solidFill>
                <a:latin typeface="Times New Roman"/>
                <a:ea typeface="Times New Roman"/>
                <a:cs typeface="Times New Roman"/>
                <a:sym typeface="Times New Roman"/>
              </a:rPr>
              <a:t>Quy mô &amp; độ phức tạp dự án</a:t>
            </a:r>
          </a:p>
          <a:p>
            <a:pPr algn="just" marL="647700" indent="-323850" lvl="1">
              <a:lnSpc>
                <a:spcPts val="3900"/>
              </a:lnSpc>
              <a:buFont typeface="Arial"/>
              <a:buChar char="•"/>
            </a:pPr>
            <a:r>
              <a:rPr lang="en-US" sz="3000" spc="126">
                <a:solidFill>
                  <a:srgbClr val="FFFFFF"/>
                </a:solidFill>
                <a:latin typeface="Times New Roman"/>
                <a:ea typeface="Times New Roman"/>
                <a:cs typeface="Times New Roman"/>
                <a:sym typeface="Times New Roman"/>
              </a:rPr>
              <a:t>Thời gian &amp; ngân sách</a:t>
            </a:r>
          </a:p>
          <a:p>
            <a:pPr algn="just" marL="647700" indent="-323850" lvl="1">
              <a:lnSpc>
                <a:spcPts val="3900"/>
              </a:lnSpc>
              <a:buFont typeface="Arial"/>
              <a:buChar char="•"/>
            </a:pPr>
            <a:r>
              <a:rPr lang="en-US" sz="3000" spc="126">
                <a:solidFill>
                  <a:srgbClr val="FFFFFF"/>
                </a:solidFill>
                <a:latin typeface="Times New Roman"/>
                <a:ea typeface="Times New Roman"/>
                <a:cs typeface="Times New Roman"/>
                <a:sym typeface="Times New Roman"/>
              </a:rPr>
              <a:t>Mức độ thay đổi của khách hàng</a:t>
            </a:r>
          </a:p>
          <a:p>
            <a:pPr algn="just" marL="647700" indent="-323850" lvl="1">
              <a:lnSpc>
                <a:spcPts val="3900"/>
              </a:lnSpc>
              <a:buFont typeface="Arial"/>
              <a:buChar char="•"/>
            </a:pPr>
            <a:r>
              <a:rPr lang="en-US" sz="3000" spc="126">
                <a:solidFill>
                  <a:srgbClr val="FFFFFF"/>
                </a:solidFill>
                <a:latin typeface="Times New Roman"/>
                <a:ea typeface="Times New Roman"/>
                <a:cs typeface="Times New Roman"/>
                <a:sym typeface="Times New Roman"/>
              </a:rPr>
              <a:t>Kinh nghiệm của đội ngũ</a:t>
            </a:r>
          </a:p>
          <a:p>
            <a:pPr algn="just">
              <a:lnSpc>
                <a:spcPts val="3900"/>
              </a:lnSpc>
              <a:spcBef>
                <a:spcPct val="0"/>
              </a:spcBef>
            </a:pPr>
          </a:p>
        </p:txBody>
      </p:sp>
      <p:sp>
        <p:nvSpPr>
          <p:cNvPr name="TextBox 5" id="5"/>
          <p:cNvSpPr txBox="true"/>
          <p:nvPr/>
        </p:nvSpPr>
        <p:spPr>
          <a:xfrm rot="0">
            <a:off x="1028700" y="4943475"/>
            <a:ext cx="16230600" cy="5343525"/>
          </a:xfrm>
          <a:prstGeom prst="rect">
            <a:avLst/>
          </a:prstGeom>
        </p:spPr>
        <p:txBody>
          <a:bodyPr anchor="t" rtlCol="false" tIns="0" lIns="0" bIns="0" rIns="0">
            <a:spAutoFit/>
          </a:bodyPr>
          <a:lstStyle/>
          <a:p>
            <a:pPr algn="l">
              <a:lnSpc>
                <a:spcPts val="4200"/>
              </a:lnSpc>
            </a:pPr>
            <a:r>
              <a:rPr lang="en-US" sz="3000" spc="48">
                <a:solidFill>
                  <a:srgbClr val="FFFFFF"/>
                </a:solidFill>
                <a:latin typeface="Times New Roman"/>
                <a:ea typeface="Times New Roman"/>
                <a:cs typeface="Times New Roman"/>
                <a:sym typeface="Times New Roman"/>
              </a:rPr>
              <a:t>4. Ví dụ thực tế</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Doanh nghiệp h</a:t>
            </a:r>
            <a:r>
              <a:rPr lang="en-US" sz="3000" spc="48">
                <a:solidFill>
                  <a:srgbClr val="FFFFFF"/>
                </a:solidFill>
                <a:latin typeface="Times New Roman"/>
                <a:ea typeface="Times New Roman"/>
                <a:cs typeface="Times New Roman"/>
                <a:sym typeface="Times New Roman"/>
              </a:rPr>
              <a:t>iện nay thường dùng Agile (Scrum)</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 → Vì:</a:t>
            </a:r>
          </a:p>
          <a:p>
            <a:pPr algn="l" marL="1295400" indent="-431800" lvl="2">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Dễ thích ứng thay đổi</a:t>
            </a:r>
          </a:p>
          <a:p>
            <a:pPr algn="l" marL="1295400" indent="-431800" lvl="2">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Phát hành nhanh</a:t>
            </a:r>
          </a:p>
          <a:p>
            <a:pPr algn="l" marL="1295400" indent="-431800" lvl="2">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Tăng tương tác với khách hàng</a:t>
            </a:r>
          </a:p>
          <a:p>
            <a:pPr algn="l">
              <a:lnSpc>
                <a:spcPts val="4200"/>
              </a:lnSpc>
              <a:spcBef>
                <a:spcPct val="0"/>
              </a:spcBef>
            </a:pPr>
            <a:r>
              <a:rPr lang="en-US" sz="3000" spc="48">
                <a:solidFill>
                  <a:srgbClr val="FFFFFF"/>
                </a:solidFill>
                <a:latin typeface="Times New Roman"/>
                <a:ea typeface="Times New Roman"/>
                <a:cs typeface="Times New Roman"/>
                <a:sym typeface="Times New Roman"/>
              </a:rPr>
              <a:t>👉 Ví dụ:</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Công ty làm app, web thường dùng Agile</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Dự án nhà nước, hệ thống lớn ổn định → hay dùng Waterfall</a:t>
            </a:r>
          </a:p>
          <a:p>
            <a:pPr algn="l">
              <a:lnSpc>
                <a:spcPts val="4200"/>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8260" t="-40160" r="0" b="0"/>
            </a:stretch>
          </a:blipFill>
        </p:spPr>
      </p:sp>
      <p:sp>
        <p:nvSpPr>
          <p:cNvPr name="TextBox 3" id="3"/>
          <p:cNvSpPr txBox="true"/>
          <p:nvPr/>
        </p:nvSpPr>
        <p:spPr>
          <a:xfrm rot="0">
            <a:off x="1028700" y="537527"/>
            <a:ext cx="7647473" cy="991870"/>
          </a:xfrm>
          <a:prstGeom prst="rect">
            <a:avLst/>
          </a:prstGeom>
        </p:spPr>
        <p:txBody>
          <a:bodyPr anchor="t" rtlCol="false" tIns="0" lIns="0" bIns="0" rIns="0">
            <a:spAutoFit/>
          </a:bodyPr>
          <a:lstStyle/>
          <a:p>
            <a:pPr algn="l">
              <a:lnSpc>
                <a:spcPts val="3815"/>
              </a:lnSpc>
            </a:pPr>
            <a:r>
              <a:rPr lang="en-US" sz="3500">
                <a:solidFill>
                  <a:srgbClr val="FFFFFF"/>
                </a:solidFill>
                <a:latin typeface="Times New Roman"/>
                <a:ea typeface="Times New Roman"/>
                <a:cs typeface="Times New Roman"/>
                <a:sym typeface="Times New Roman"/>
              </a:rPr>
              <a:t>1.2.5. Các hoạt động phát triển phần mềm</a:t>
            </a:r>
          </a:p>
          <a:p>
            <a:pPr algn="l">
              <a:lnSpc>
                <a:spcPts val="3815"/>
              </a:lnSpc>
            </a:pPr>
          </a:p>
        </p:txBody>
      </p:sp>
      <p:sp>
        <p:nvSpPr>
          <p:cNvPr name="TextBox 4" id="4"/>
          <p:cNvSpPr txBox="true"/>
          <p:nvPr/>
        </p:nvSpPr>
        <p:spPr>
          <a:xfrm rot="0">
            <a:off x="1108407" y="5655310"/>
            <a:ext cx="16071187" cy="4631690"/>
          </a:xfrm>
          <a:prstGeom prst="rect">
            <a:avLst/>
          </a:prstGeom>
        </p:spPr>
        <p:txBody>
          <a:bodyPr anchor="t" rtlCol="false" tIns="0" lIns="0" bIns="0" rIns="0">
            <a:spAutoFit/>
          </a:bodyPr>
          <a:lstStyle/>
          <a:p>
            <a:pPr algn="l">
              <a:lnSpc>
                <a:spcPts val="4060"/>
              </a:lnSpc>
            </a:pPr>
            <a:r>
              <a:rPr lang="en-US" sz="2900" spc="46">
                <a:solidFill>
                  <a:srgbClr val="FFFFFF"/>
                </a:solidFill>
                <a:latin typeface="Times New Roman"/>
                <a:ea typeface="Times New Roman"/>
                <a:cs typeface="Times New Roman"/>
                <a:sym typeface="Times New Roman"/>
              </a:rPr>
              <a:t>2. Vì sao “yêu cầu là nền tảng”?</a:t>
            </a:r>
          </a:p>
          <a:p>
            <a:pPr algn="l" marL="626111" indent="-313055" lvl="1">
              <a:lnSpc>
                <a:spcPts val="4060"/>
              </a:lnSpc>
              <a:buFont typeface="Arial"/>
              <a:buChar char="•"/>
            </a:pPr>
            <a:r>
              <a:rPr lang="en-US" sz="2900" spc="46">
                <a:solidFill>
                  <a:srgbClr val="FFFFFF"/>
                </a:solidFill>
                <a:latin typeface="Times New Roman"/>
                <a:ea typeface="Times New Roman"/>
                <a:cs typeface="Times New Roman"/>
                <a:sym typeface="Times New Roman"/>
              </a:rPr>
              <a:t>Quyết định phần mềm làm gì</a:t>
            </a:r>
          </a:p>
          <a:p>
            <a:pPr algn="l" marL="626111" indent="-313055" lvl="1">
              <a:lnSpc>
                <a:spcPts val="4060"/>
              </a:lnSpc>
              <a:buFont typeface="Arial"/>
              <a:buChar char="•"/>
            </a:pPr>
            <a:r>
              <a:rPr lang="en-US" sz="2900" spc="46">
                <a:solidFill>
                  <a:srgbClr val="FFFFFF"/>
                </a:solidFill>
                <a:latin typeface="Times New Roman"/>
                <a:ea typeface="Times New Roman"/>
                <a:cs typeface="Times New Roman"/>
                <a:sym typeface="Times New Roman"/>
              </a:rPr>
              <a:t>Nếu sai yêu cầu → làm sai toàn bộ hệ thống</a:t>
            </a:r>
          </a:p>
          <a:p>
            <a:pPr algn="l" marL="626111" indent="-313055" lvl="1">
              <a:lnSpc>
                <a:spcPts val="4060"/>
              </a:lnSpc>
              <a:buFont typeface="Arial"/>
              <a:buChar char="•"/>
            </a:pPr>
            <a:r>
              <a:rPr lang="en-US" sz="2900" spc="46">
                <a:solidFill>
                  <a:srgbClr val="FFFFFF"/>
                </a:solidFill>
                <a:latin typeface="Times New Roman"/>
                <a:ea typeface="Times New Roman"/>
                <a:cs typeface="Times New Roman"/>
                <a:sym typeface="Times New Roman"/>
              </a:rPr>
              <a:t>Ảnh hưởng trực tiếp đến:</a:t>
            </a:r>
          </a:p>
          <a:p>
            <a:pPr algn="l" marL="1252221" indent="-417407" lvl="2">
              <a:lnSpc>
                <a:spcPts val="4060"/>
              </a:lnSpc>
              <a:buFont typeface="Arial"/>
              <a:buChar char="⚬"/>
            </a:pPr>
            <a:r>
              <a:rPr lang="en-US" sz="2900" spc="46">
                <a:solidFill>
                  <a:srgbClr val="FFFFFF"/>
                </a:solidFill>
                <a:latin typeface="Times New Roman"/>
                <a:ea typeface="Times New Roman"/>
                <a:cs typeface="Times New Roman"/>
                <a:sym typeface="Times New Roman"/>
              </a:rPr>
              <a:t>Thiết kế</a:t>
            </a:r>
          </a:p>
          <a:p>
            <a:pPr algn="l" marL="1252221" indent="-417407" lvl="2">
              <a:lnSpc>
                <a:spcPts val="4060"/>
              </a:lnSpc>
              <a:buFont typeface="Arial"/>
              <a:buChar char="⚬"/>
            </a:pPr>
            <a:r>
              <a:rPr lang="en-US" sz="2900" spc="46">
                <a:solidFill>
                  <a:srgbClr val="FFFFFF"/>
                </a:solidFill>
                <a:latin typeface="Times New Roman"/>
                <a:ea typeface="Times New Roman"/>
                <a:cs typeface="Times New Roman"/>
                <a:sym typeface="Times New Roman"/>
              </a:rPr>
              <a:t>Lập trình</a:t>
            </a:r>
          </a:p>
          <a:p>
            <a:pPr algn="l" marL="1252221" indent="-417407" lvl="2">
              <a:lnSpc>
                <a:spcPts val="4060"/>
              </a:lnSpc>
              <a:buFont typeface="Arial"/>
              <a:buChar char="⚬"/>
            </a:pPr>
            <a:r>
              <a:rPr lang="en-US" sz="2900" spc="46">
                <a:solidFill>
                  <a:srgbClr val="FFFFFF"/>
                </a:solidFill>
                <a:latin typeface="Times New Roman"/>
                <a:ea typeface="Times New Roman"/>
                <a:cs typeface="Times New Roman"/>
                <a:sym typeface="Times New Roman"/>
              </a:rPr>
              <a:t>Kiểm thử</a:t>
            </a:r>
          </a:p>
          <a:p>
            <a:pPr algn="l" marL="1252221" indent="-417407" lvl="2">
              <a:lnSpc>
                <a:spcPts val="4060"/>
              </a:lnSpc>
              <a:buFont typeface="Arial"/>
              <a:buChar char="⚬"/>
            </a:pPr>
            <a:r>
              <a:rPr lang="en-US" sz="2900" spc="46">
                <a:solidFill>
                  <a:srgbClr val="FFFFFF"/>
                </a:solidFill>
                <a:latin typeface="Times New Roman"/>
                <a:ea typeface="Times New Roman"/>
                <a:cs typeface="Times New Roman"/>
                <a:sym typeface="Times New Roman"/>
              </a:rPr>
              <a:t> 👉 Sai từ đầu → chi phí sửa rất lớn về sau</a:t>
            </a:r>
          </a:p>
          <a:p>
            <a:pPr algn="l">
              <a:lnSpc>
                <a:spcPts val="4060"/>
              </a:lnSpc>
              <a:spcBef>
                <a:spcPct val="0"/>
              </a:spcBef>
            </a:pPr>
          </a:p>
        </p:txBody>
      </p:sp>
      <p:sp>
        <p:nvSpPr>
          <p:cNvPr name="TextBox 5" id="5"/>
          <p:cNvSpPr txBox="true"/>
          <p:nvPr/>
        </p:nvSpPr>
        <p:spPr>
          <a:xfrm rot="0">
            <a:off x="1028700" y="1194051"/>
            <a:ext cx="17259300" cy="4810125"/>
          </a:xfrm>
          <a:prstGeom prst="rect">
            <a:avLst/>
          </a:prstGeom>
        </p:spPr>
        <p:txBody>
          <a:bodyPr anchor="t" rtlCol="false" tIns="0" lIns="0" bIns="0" rIns="0">
            <a:spAutoFit/>
          </a:bodyPr>
          <a:lstStyle/>
          <a:p>
            <a:pPr algn="l">
              <a:lnSpc>
                <a:spcPts val="4200"/>
              </a:lnSpc>
            </a:pPr>
            <a:r>
              <a:rPr lang="en-US" sz="3000" spc="48">
                <a:solidFill>
                  <a:srgbClr val="FFFFFF"/>
                </a:solidFill>
                <a:latin typeface="Times New Roman"/>
                <a:ea typeface="Times New Roman"/>
                <a:cs typeface="Times New Roman"/>
                <a:sym typeface="Times New Roman"/>
              </a:rPr>
              <a:t>1. Các hoạt động chính</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Thu thập yêu cầu (Requirements): Xác định nhu cầu người dùng</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Phân tích (Analysis): Làm rõ và mô hình hóa yêu cầu</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Thiết kế (Design): Xây dựng kiến trúc &amp; giao diện hệ thống</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Lập trình (Coding): Viết mã nguồn</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Kiểm thử (Testing): Phát hiện và sửa lỗi</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Triển khai (Deployment): Đưa phần mềm vào sử dụng</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Bảo trì (Maintenance): Sửa lỗi, nâng cấp sau khi phát hành</a:t>
            </a:r>
          </a:p>
          <a:p>
            <a:pPr algn="l">
              <a:lnSpc>
                <a:spcPts val="4200"/>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8260" t="-40160" r="0" b="0"/>
            </a:stretch>
          </a:blipFill>
        </p:spPr>
      </p:sp>
      <p:sp>
        <p:nvSpPr>
          <p:cNvPr name="TextBox 3" id="3"/>
          <p:cNvSpPr txBox="true"/>
          <p:nvPr/>
        </p:nvSpPr>
        <p:spPr>
          <a:xfrm rot="0">
            <a:off x="1028700" y="537527"/>
            <a:ext cx="7647473" cy="991870"/>
          </a:xfrm>
          <a:prstGeom prst="rect">
            <a:avLst/>
          </a:prstGeom>
        </p:spPr>
        <p:txBody>
          <a:bodyPr anchor="t" rtlCol="false" tIns="0" lIns="0" bIns="0" rIns="0">
            <a:spAutoFit/>
          </a:bodyPr>
          <a:lstStyle/>
          <a:p>
            <a:pPr algn="l">
              <a:lnSpc>
                <a:spcPts val="3815"/>
              </a:lnSpc>
            </a:pPr>
            <a:r>
              <a:rPr lang="en-US" sz="3500">
                <a:solidFill>
                  <a:srgbClr val="FFFFFF"/>
                </a:solidFill>
                <a:latin typeface="Times New Roman"/>
                <a:ea typeface="Times New Roman"/>
                <a:cs typeface="Times New Roman"/>
                <a:sym typeface="Times New Roman"/>
              </a:rPr>
              <a:t>1.2.5. Các hoạt động phát triển phần mềm</a:t>
            </a:r>
          </a:p>
          <a:p>
            <a:pPr algn="l">
              <a:lnSpc>
                <a:spcPts val="3815"/>
              </a:lnSpc>
            </a:pPr>
          </a:p>
        </p:txBody>
      </p:sp>
      <p:sp>
        <p:nvSpPr>
          <p:cNvPr name="TextBox 4" id="4"/>
          <p:cNvSpPr txBox="true"/>
          <p:nvPr/>
        </p:nvSpPr>
        <p:spPr>
          <a:xfrm rot="0">
            <a:off x="1028700" y="1614382"/>
            <a:ext cx="12082590" cy="5343525"/>
          </a:xfrm>
          <a:prstGeom prst="rect">
            <a:avLst/>
          </a:prstGeom>
        </p:spPr>
        <p:txBody>
          <a:bodyPr anchor="t" rtlCol="false" tIns="0" lIns="0" bIns="0" rIns="0">
            <a:spAutoFit/>
          </a:bodyPr>
          <a:lstStyle/>
          <a:p>
            <a:pPr algn="l">
              <a:lnSpc>
                <a:spcPts val="4200"/>
              </a:lnSpc>
            </a:pPr>
            <a:r>
              <a:rPr lang="en-US" sz="3000" spc="48">
                <a:solidFill>
                  <a:srgbClr val="FFFFFF"/>
                </a:solidFill>
                <a:latin typeface="Times New Roman"/>
                <a:ea typeface="Times New Roman"/>
                <a:cs typeface="Times New Roman"/>
                <a:sym typeface="Times New Roman"/>
              </a:rPr>
              <a:t>3. Giai đoạn tốn chi phí nhất</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Bảo trì (Maintenance) thường tốn nhiều chi phí nhất</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 👉 Vì:</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Diễn ra trong thời gian dài</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Phải sửa lỗi sau khi đã triển khai (rất khó &amp; tốn kém)</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Cần nâng cấp, đáp ứng thay đổi người dùng</a:t>
            </a:r>
          </a:p>
          <a:p>
            <a:pPr algn="l">
              <a:lnSpc>
                <a:spcPts val="4200"/>
              </a:lnSpc>
            </a:pPr>
            <a:r>
              <a:rPr lang="en-US" sz="3000" spc="48">
                <a:solidFill>
                  <a:srgbClr val="FFFFFF"/>
                </a:solidFill>
                <a:latin typeface="Times New Roman"/>
                <a:ea typeface="Times New Roman"/>
                <a:cs typeface="Times New Roman"/>
                <a:sym typeface="Times New Roman"/>
              </a:rPr>
              <a:t>💡 Ngoài ra:</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Nếu phát hiện lỗi muộn (ở testing hoặc sau release) → chi phí sửa cao hơn nhiều lần so với lúc đầu</a:t>
            </a:r>
          </a:p>
          <a:p>
            <a:pPr algn="l">
              <a:lnSpc>
                <a:spcPts val="4200"/>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4809163" y="279400"/>
            <a:ext cx="8888611" cy="1403350"/>
          </a:xfrm>
          <a:prstGeom prst="rect">
            <a:avLst/>
          </a:prstGeom>
        </p:spPr>
        <p:txBody>
          <a:bodyPr anchor="t" rtlCol="false" tIns="0" lIns="0" bIns="0" rIns="0">
            <a:spAutoFit/>
          </a:bodyPr>
          <a:lstStyle/>
          <a:p>
            <a:pPr algn="ctr">
              <a:lnSpc>
                <a:spcPts val="5599"/>
              </a:lnSpc>
              <a:spcBef>
                <a:spcPct val="0"/>
              </a:spcBef>
            </a:pPr>
            <a:r>
              <a:rPr lang="en-US" sz="3999" spc="63">
                <a:solidFill>
                  <a:srgbClr val="FFFFFF"/>
                </a:solidFill>
                <a:latin typeface="Times New Roman"/>
                <a:ea typeface="Times New Roman"/>
                <a:cs typeface="Times New Roman"/>
                <a:sym typeface="Times New Roman"/>
              </a:rPr>
              <a:t>PHẦ</a:t>
            </a:r>
            <a:r>
              <a:rPr lang="en-US" sz="3999" spc="63">
                <a:solidFill>
                  <a:srgbClr val="FFFFFF"/>
                </a:solidFill>
                <a:latin typeface="Times New Roman"/>
                <a:ea typeface="Times New Roman"/>
                <a:cs typeface="Times New Roman"/>
                <a:sym typeface="Times New Roman"/>
              </a:rPr>
              <a:t>N 1.3 – VAI TRÒ CỦA PHẦN MỀM</a:t>
            </a:r>
          </a:p>
          <a:p>
            <a:pPr algn="ctr">
              <a:lnSpc>
                <a:spcPts val="5599"/>
              </a:lnSpc>
              <a:spcBef>
                <a:spcPct val="0"/>
              </a:spcBef>
            </a:pPr>
          </a:p>
        </p:txBody>
      </p:sp>
      <p:sp>
        <p:nvSpPr>
          <p:cNvPr name="TextBox 4" id="4"/>
          <p:cNvSpPr txBox="true"/>
          <p:nvPr/>
        </p:nvSpPr>
        <p:spPr>
          <a:xfrm rot="0">
            <a:off x="1028700" y="1235774"/>
            <a:ext cx="5473010" cy="625475"/>
          </a:xfrm>
          <a:prstGeom prst="rect">
            <a:avLst/>
          </a:prstGeom>
        </p:spPr>
        <p:txBody>
          <a:bodyPr anchor="t" rtlCol="false" tIns="0" lIns="0" bIns="0" rIns="0">
            <a:spAutoFit/>
          </a:bodyPr>
          <a:lstStyle/>
          <a:p>
            <a:pPr algn="ctr">
              <a:lnSpc>
                <a:spcPts val="4900"/>
              </a:lnSpc>
              <a:spcBef>
                <a:spcPct val="0"/>
              </a:spcBef>
            </a:pPr>
            <a:r>
              <a:rPr lang="en-US" sz="3500" spc="56">
                <a:solidFill>
                  <a:srgbClr val="FFFFFF"/>
                </a:solidFill>
                <a:latin typeface="Times New Roman"/>
                <a:ea typeface="Times New Roman"/>
                <a:cs typeface="Times New Roman"/>
                <a:sym typeface="Times New Roman"/>
              </a:rPr>
              <a:t>1.3.1. Va</a:t>
            </a:r>
            <a:r>
              <a:rPr lang="en-US" sz="3500" spc="56">
                <a:solidFill>
                  <a:srgbClr val="FFFFFF"/>
                </a:solidFill>
                <a:latin typeface="Times New Roman"/>
                <a:ea typeface="Times New Roman"/>
                <a:cs typeface="Times New Roman"/>
                <a:sym typeface="Times New Roman"/>
              </a:rPr>
              <a:t>i trò trong xã hội</a:t>
            </a:r>
          </a:p>
        </p:txBody>
      </p:sp>
      <p:sp>
        <p:nvSpPr>
          <p:cNvPr name="TextBox 5" id="5"/>
          <p:cNvSpPr txBox="true"/>
          <p:nvPr/>
        </p:nvSpPr>
        <p:spPr>
          <a:xfrm rot="0">
            <a:off x="938338" y="3068856"/>
            <a:ext cx="16110766" cy="179959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FFFFFF"/>
                </a:solidFill>
                <a:latin typeface="Times New Roman"/>
                <a:ea typeface="Times New Roman"/>
                <a:cs typeface="Times New Roman"/>
                <a:sym typeface="Times New Roman"/>
              </a:rPr>
              <a:t>P</a:t>
            </a:r>
            <a:r>
              <a:rPr lang="en-US" sz="3399">
                <a:solidFill>
                  <a:srgbClr val="FFFFFF"/>
                </a:solidFill>
                <a:latin typeface="Times New Roman"/>
                <a:ea typeface="Times New Roman"/>
                <a:cs typeface="Times New Roman"/>
                <a:sym typeface="Times New Roman"/>
              </a:rPr>
              <a:t>hần mềm tác động đến mọi lĩnh vực như giáo dục, y tế, giao thông, kinh tế và giải trí, giúp công việc nhanh hơn và tiện lợi hơn. Nếu không có phần mềm, xã hội sẽ vận hành chậm, thủ công và kém phát triển. </a:t>
            </a:r>
          </a:p>
        </p:txBody>
      </p:sp>
      <p:sp>
        <p:nvSpPr>
          <p:cNvPr name="TextBox 6" id="6"/>
          <p:cNvSpPr txBox="true"/>
          <p:nvPr/>
        </p:nvSpPr>
        <p:spPr>
          <a:xfrm rot="0">
            <a:off x="938338" y="5810581"/>
            <a:ext cx="16291491" cy="419989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FFFFFF"/>
                </a:solidFill>
                <a:latin typeface="Times New Roman"/>
                <a:ea typeface="Times New Roman"/>
                <a:cs typeface="Times New Roman"/>
                <a:sym typeface="Times New Roman"/>
              </a:rPr>
              <a:t>Ngoài ra, còn thúc đẩy kin</a:t>
            </a:r>
            <a:r>
              <a:rPr lang="en-US" sz="3399">
                <a:solidFill>
                  <a:srgbClr val="FFFFFF"/>
                </a:solidFill>
                <a:latin typeface="Times New Roman"/>
                <a:ea typeface="Times New Roman"/>
                <a:cs typeface="Times New Roman"/>
                <a:sym typeface="Times New Roman"/>
              </a:rPr>
              <a:t>h tế số (thương mại điện tử, thanh toán online), tăng kết nối xã hội (mạng xã hội), tự động hóa công việc và xử lý dữ liệu, giúp nâng cao chất lượng cuộc sống.</a:t>
            </a:r>
          </a:p>
          <a:p>
            <a:pPr algn="ctr">
              <a:lnSpc>
                <a:spcPts val="4759"/>
              </a:lnSpc>
            </a:pPr>
          </a:p>
          <a:p>
            <a:pPr algn="ctr">
              <a:lnSpc>
                <a:spcPts val="4759"/>
              </a:lnSpc>
            </a:pPr>
          </a:p>
          <a:p>
            <a:pPr algn="ctr">
              <a:lnSpc>
                <a:spcPts val="4759"/>
              </a:lnSpc>
            </a:pPr>
          </a:p>
          <a:p>
            <a:pPr algn="ctr">
              <a:lnSpc>
                <a:spcPts val="4759"/>
              </a:lnSpc>
            </a:pPr>
          </a:p>
        </p:txBody>
      </p:sp>
      <p:sp>
        <p:nvSpPr>
          <p:cNvPr name="TextBox 7" id="7"/>
          <p:cNvSpPr txBox="true"/>
          <p:nvPr/>
        </p:nvSpPr>
        <p:spPr>
          <a:xfrm rot="0">
            <a:off x="1527057" y="2113823"/>
            <a:ext cx="15170481" cy="633661"/>
          </a:xfrm>
          <a:prstGeom prst="rect">
            <a:avLst/>
          </a:prstGeom>
        </p:spPr>
        <p:txBody>
          <a:bodyPr anchor="t" rtlCol="false" tIns="0" lIns="0" bIns="0" rIns="0">
            <a:spAutoFit/>
          </a:bodyPr>
          <a:lstStyle/>
          <a:p>
            <a:pPr algn="l">
              <a:lnSpc>
                <a:spcPts val="4988"/>
              </a:lnSpc>
            </a:pPr>
            <a:r>
              <a:rPr lang="en-US" sz="3563">
                <a:solidFill>
                  <a:srgbClr val="FFFFFF"/>
                </a:solidFill>
                <a:latin typeface="Times New Roman"/>
                <a:ea typeface="Times New Roman"/>
                <a:cs typeface="Times New Roman"/>
                <a:sym typeface="Times New Roman"/>
              </a:rPr>
              <a:t>P</a:t>
            </a:r>
            <a:r>
              <a:rPr lang="en-US" sz="3563">
                <a:solidFill>
                  <a:srgbClr val="FFFFFF"/>
                </a:solidFill>
                <a:latin typeface="Times New Roman"/>
                <a:ea typeface="Times New Roman"/>
                <a:cs typeface="Times New Roman"/>
                <a:sym typeface="Times New Roman"/>
              </a:rPr>
              <a:t>hần mềm tác động đến đời sống như thế nào? (giáo dục, y tế, giao thông…)</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a:grpSpLocks noChangeAspect="true"/>
          </p:cNvGrpSpPr>
          <p:nvPr/>
        </p:nvGrpSpPr>
        <p:grpSpPr>
          <a:xfrm rot="0">
            <a:off x="13789414" y="1028700"/>
            <a:ext cx="4354794" cy="4354794"/>
            <a:chOff x="0" y="0"/>
            <a:chExt cx="8916670" cy="8916670"/>
          </a:xfrm>
        </p:grpSpPr>
        <p:sp>
          <p:nvSpPr>
            <p:cNvPr name="Freeform 4" id="4"/>
            <p:cNvSpPr/>
            <p:nvPr/>
          </p:nvSpPr>
          <p:spPr>
            <a:xfrm flipH="false" flipV="false" rot="0">
              <a:off x="154940" y="154940"/>
              <a:ext cx="8605520" cy="8605520"/>
            </a:xfrm>
            <a:custGeom>
              <a:avLst/>
              <a:gdLst/>
              <a:ahLst/>
              <a:cxnLst/>
              <a:rect r="r" b="b" t="t" l="l"/>
              <a:pathLst>
                <a:path h="8605520" w="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a:blip r:embed="rId3"/>
              <a:stretch>
                <a:fillRect l="-56842" t="0" r="0" b="-17489"/>
              </a:stretch>
            </a:blipFill>
          </p:spPr>
        </p:sp>
        <p:sp>
          <p:nvSpPr>
            <p:cNvPr name="Freeform 5" id="5"/>
            <p:cNvSpPr/>
            <p:nvPr/>
          </p:nvSpPr>
          <p:spPr>
            <a:xfrm flipH="false" flipV="false" rot="0">
              <a:off x="6350" y="6350"/>
              <a:ext cx="8903970" cy="8903970"/>
            </a:xfrm>
            <a:custGeom>
              <a:avLst/>
              <a:gdLst/>
              <a:ahLst/>
              <a:cxnLst/>
              <a:rect r="r" b="b" t="t" l="l"/>
              <a:pathLst>
                <a:path h="8903970" w="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moveTo>
                    <a:pt x="4451350" y="8764270"/>
                  </a:moveTo>
                  <a:cubicBezTo>
                    <a:pt x="2073910" y="8764270"/>
                    <a:pt x="139700" y="6830060"/>
                    <a:pt x="139700" y="4451350"/>
                  </a:cubicBezTo>
                  <a:cubicBezTo>
                    <a:pt x="139700" y="2072640"/>
                    <a:pt x="2073910" y="139700"/>
                    <a:pt x="4451350" y="139700"/>
                  </a:cubicBezTo>
                  <a:cubicBezTo>
                    <a:pt x="6828790" y="139700"/>
                    <a:pt x="8764270" y="2073910"/>
                    <a:pt x="8764270" y="4451350"/>
                  </a:cubicBezTo>
                  <a:cubicBezTo>
                    <a:pt x="8764270" y="6828790"/>
                    <a:pt x="6830060" y="8764270"/>
                    <a:pt x="4451350" y="8764270"/>
                  </a:cubicBezTo>
                  <a:close/>
                  <a:moveTo>
                    <a:pt x="4451350" y="158750"/>
                  </a:moveTo>
                  <a:cubicBezTo>
                    <a:pt x="2084070" y="158750"/>
                    <a:pt x="158750" y="2084070"/>
                    <a:pt x="158750" y="4451350"/>
                  </a:cubicBezTo>
                  <a:cubicBezTo>
                    <a:pt x="158750" y="6818630"/>
                    <a:pt x="2084070" y="8743950"/>
                    <a:pt x="4451350" y="8743950"/>
                  </a:cubicBezTo>
                  <a:cubicBezTo>
                    <a:pt x="6818630" y="8743950"/>
                    <a:pt x="8743950" y="6818630"/>
                    <a:pt x="8743950" y="4451350"/>
                  </a:cubicBezTo>
                  <a:cubicBezTo>
                    <a:pt x="8743950" y="2084070"/>
                    <a:pt x="6819900" y="158750"/>
                    <a:pt x="4451350" y="158750"/>
                  </a:cubicBezTo>
                  <a:close/>
                </a:path>
              </a:pathLst>
            </a:custGeom>
            <a:gradFill rotWithShape="true">
              <a:gsLst>
                <a:gs pos="0">
                  <a:srgbClr val="10A5FF">
                    <a:alpha val="100000"/>
                  </a:srgbClr>
                </a:gs>
                <a:gs pos="100000">
                  <a:srgbClr val="041E4E">
                    <a:alpha val="100000"/>
                  </a:srgbClr>
                </a:gs>
              </a:gsLst>
              <a:lin ang="5400000"/>
            </a:gradFill>
          </p:spPr>
        </p:sp>
      </p:grpSp>
      <p:sp>
        <p:nvSpPr>
          <p:cNvPr name="TextBox 6" id="6"/>
          <p:cNvSpPr txBox="true"/>
          <p:nvPr/>
        </p:nvSpPr>
        <p:spPr>
          <a:xfrm rot="0">
            <a:off x="1028700" y="933450"/>
            <a:ext cx="6338049" cy="625475"/>
          </a:xfrm>
          <a:prstGeom prst="rect">
            <a:avLst/>
          </a:prstGeom>
        </p:spPr>
        <p:txBody>
          <a:bodyPr anchor="t" rtlCol="false" tIns="0" lIns="0" bIns="0" rIns="0">
            <a:spAutoFit/>
          </a:bodyPr>
          <a:lstStyle/>
          <a:p>
            <a:pPr algn="ctr">
              <a:lnSpc>
                <a:spcPts val="4900"/>
              </a:lnSpc>
              <a:spcBef>
                <a:spcPct val="0"/>
              </a:spcBef>
            </a:pPr>
            <a:r>
              <a:rPr lang="en-US" sz="3500" spc="56">
                <a:solidFill>
                  <a:srgbClr val="FFFFFF"/>
                </a:solidFill>
                <a:latin typeface="Times New Roman"/>
                <a:ea typeface="Times New Roman"/>
                <a:cs typeface="Times New Roman"/>
                <a:sym typeface="Times New Roman"/>
              </a:rPr>
              <a:t>1.3.2. Va</a:t>
            </a:r>
            <a:r>
              <a:rPr lang="en-US" sz="3500" spc="56">
                <a:solidFill>
                  <a:srgbClr val="FFFFFF"/>
                </a:solidFill>
                <a:latin typeface="Times New Roman"/>
                <a:ea typeface="Times New Roman"/>
                <a:cs typeface="Times New Roman"/>
                <a:sym typeface="Times New Roman"/>
              </a:rPr>
              <a:t>i trò trong công nghiệp</a:t>
            </a:r>
          </a:p>
        </p:txBody>
      </p:sp>
      <p:sp>
        <p:nvSpPr>
          <p:cNvPr name="TextBox 7" id="7"/>
          <p:cNvSpPr txBox="true"/>
          <p:nvPr/>
        </p:nvSpPr>
        <p:spPr>
          <a:xfrm rot="0">
            <a:off x="763228" y="2383754"/>
            <a:ext cx="12314873" cy="299974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FFFFFF"/>
                </a:solidFill>
                <a:latin typeface="Times New Roman"/>
                <a:ea typeface="Times New Roman"/>
                <a:cs typeface="Times New Roman"/>
                <a:sym typeface="Times New Roman"/>
              </a:rPr>
              <a:t>Công nghệ phần mềm (SE) giúp tự động hóa công việc, giảm sức lao động; quản lý và xử lý dữ liệu lớn; kết nối con người trên toàn cầu; hỗ trợ giải quyết các bài toán p</a:t>
            </a:r>
            <a:r>
              <a:rPr lang="en-US" sz="3399">
                <a:solidFill>
                  <a:srgbClr val="FFFFFF"/>
                </a:solidFill>
                <a:latin typeface="Times New Roman"/>
                <a:ea typeface="Times New Roman"/>
                <a:cs typeface="Times New Roman"/>
                <a:sym typeface="Times New Roman"/>
              </a:rPr>
              <a:t>hức tạp (AI, dự báo…); đồng thời nâng cao hiệu quả và chất lượng cuộc sống.</a:t>
            </a:r>
          </a:p>
          <a:p>
            <a:pPr algn="ctr">
              <a:lnSpc>
                <a:spcPts val="4759"/>
              </a:lnSpc>
            </a:pPr>
          </a:p>
        </p:txBody>
      </p:sp>
      <p:sp>
        <p:nvSpPr>
          <p:cNvPr name="TextBox 8" id="8"/>
          <p:cNvSpPr txBox="true"/>
          <p:nvPr/>
        </p:nvSpPr>
        <p:spPr>
          <a:xfrm rot="0">
            <a:off x="763228" y="5702230"/>
            <a:ext cx="11684382" cy="179959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FFFFFF"/>
                </a:solidFill>
                <a:latin typeface="Times New Roman"/>
                <a:ea typeface="Times New Roman"/>
                <a:cs typeface="Times New Roman"/>
                <a:sym typeface="Times New Roman"/>
              </a:rPr>
              <a:t>Công nghệ p</a:t>
            </a:r>
            <a:r>
              <a:rPr lang="en-US" sz="3399">
                <a:solidFill>
                  <a:srgbClr val="FFFFFF"/>
                </a:solidFill>
                <a:latin typeface="Times New Roman"/>
                <a:ea typeface="Times New Roman"/>
                <a:cs typeface="Times New Roman"/>
                <a:sym typeface="Times New Roman"/>
              </a:rPr>
              <a:t>hần mềm (SE) giúp tự động hóa công việc, giảm chi phí và sai sót; quản lý, lưu trữ và phân tích dữ liệu lớn; kết nối con người toàn cầu qua Internet</a:t>
            </a:r>
          </a:p>
        </p:txBody>
      </p:sp>
      <p:sp>
        <p:nvSpPr>
          <p:cNvPr name="TextBox 9" id="9"/>
          <p:cNvSpPr txBox="true"/>
          <p:nvPr/>
        </p:nvSpPr>
        <p:spPr>
          <a:xfrm rot="0">
            <a:off x="1197752" y="1671619"/>
            <a:ext cx="8459271" cy="599440"/>
          </a:xfrm>
          <a:prstGeom prst="rect">
            <a:avLst/>
          </a:prstGeom>
        </p:spPr>
        <p:txBody>
          <a:bodyPr anchor="t" rtlCol="false" tIns="0" lIns="0" bIns="0" rIns="0">
            <a:spAutoFit/>
          </a:bodyPr>
          <a:lstStyle/>
          <a:p>
            <a:pPr algn="ctr">
              <a:lnSpc>
                <a:spcPts val="4759"/>
              </a:lnSpc>
            </a:pPr>
            <a:r>
              <a:rPr lang="en-US" sz="3399">
                <a:solidFill>
                  <a:srgbClr val="FFFFFF"/>
                </a:solidFill>
                <a:latin typeface="Times New Roman"/>
                <a:ea typeface="Times New Roman"/>
                <a:cs typeface="Times New Roman"/>
                <a:sym typeface="Times New Roman"/>
              </a:rPr>
              <a:t>SE</a:t>
            </a:r>
            <a:r>
              <a:rPr lang="en-US" sz="3399">
                <a:solidFill>
                  <a:srgbClr val="FFFFFF"/>
                </a:solidFill>
                <a:latin typeface="Times New Roman"/>
                <a:ea typeface="Times New Roman"/>
                <a:cs typeface="Times New Roman"/>
                <a:sym typeface="Times New Roman"/>
              </a:rPr>
              <a:t> giúp giải quyết những vấn đề nào của xã hội?</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TextBox 3" id="3"/>
          <p:cNvSpPr txBox="true"/>
          <p:nvPr/>
        </p:nvSpPr>
        <p:spPr>
          <a:xfrm rot="0">
            <a:off x="631614" y="933450"/>
            <a:ext cx="7414342" cy="625475"/>
          </a:xfrm>
          <a:prstGeom prst="rect">
            <a:avLst/>
          </a:prstGeom>
        </p:spPr>
        <p:txBody>
          <a:bodyPr anchor="t" rtlCol="false" tIns="0" lIns="0" bIns="0" rIns="0">
            <a:spAutoFit/>
          </a:bodyPr>
          <a:lstStyle/>
          <a:p>
            <a:pPr algn="ctr">
              <a:lnSpc>
                <a:spcPts val="4900"/>
              </a:lnSpc>
              <a:spcBef>
                <a:spcPct val="0"/>
              </a:spcBef>
            </a:pPr>
            <a:r>
              <a:rPr lang="en-US" sz="3500" spc="56">
                <a:solidFill>
                  <a:srgbClr val="FFFFFF"/>
                </a:solidFill>
                <a:latin typeface="Times New Roman"/>
                <a:ea typeface="Times New Roman"/>
                <a:cs typeface="Times New Roman"/>
                <a:sym typeface="Times New Roman"/>
              </a:rPr>
              <a:t>1.3.3.</a:t>
            </a:r>
            <a:r>
              <a:rPr lang="en-US" sz="3500" spc="56">
                <a:solidFill>
                  <a:srgbClr val="FFFFFF"/>
                </a:solidFill>
                <a:latin typeface="Times New Roman"/>
                <a:ea typeface="Times New Roman"/>
                <a:cs typeface="Times New Roman"/>
                <a:sym typeface="Times New Roman"/>
              </a:rPr>
              <a:t> Thách thức phát triển phần mềm</a:t>
            </a:r>
          </a:p>
        </p:txBody>
      </p:sp>
      <p:sp>
        <p:nvSpPr>
          <p:cNvPr name="TextBox 4" id="4"/>
          <p:cNvSpPr txBox="true"/>
          <p:nvPr/>
        </p:nvSpPr>
        <p:spPr>
          <a:xfrm rot="0">
            <a:off x="425145" y="1893499"/>
            <a:ext cx="17437709" cy="6943725"/>
          </a:xfrm>
          <a:prstGeom prst="rect">
            <a:avLst/>
          </a:prstGeom>
        </p:spPr>
        <p:txBody>
          <a:bodyPr anchor="t" rtlCol="false" tIns="0" lIns="0" bIns="0" rIns="0">
            <a:spAutoFit/>
          </a:bodyPr>
          <a:lstStyle/>
          <a:p>
            <a:pPr algn="l" marL="647700" indent="-323850" lvl="1">
              <a:lnSpc>
                <a:spcPts val="4200"/>
              </a:lnSpc>
              <a:buAutoNum type="arabicPeriod" startAt="1"/>
            </a:pPr>
            <a:r>
              <a:rPr lang="en-US" b="true" sz="3000" spc="48">
                <a:solidFill>
                  <a:srgbClr val="FFFFFF"/>
                </a:solidFill>
                <a:latin typeface="Times New Roman Bold"/>
                <a:ea typeface="Times New Roman Bold"/>
                <a:cs typeface="Times New Roman Bold"/>
                <a:sym typeface="Times New Roman Bold"/>
              </a:rPr>
              <a:t>Thử thách với kỹ thuật là gì? </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Bảo mật: Chống hacker, bảo vệ an toàn dữ liệu.</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Mở rộng: Giữ hệ thống không bị sập khi có lượng lớn người dùng truy cập cùng lúc.</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Tích hợp: Kết nối mượt mà phần mềm mới với các hệ thống cũ hoặc bên thứ ba.</a:t>
            </a:r>
          </a:p>
          <a:p>
            <a:pPr algn="l">
              <a:lnSpc>
                <a:spcPts val="4200"/>
              </a:lnSpc>
            </a:pPr>
            <a:r>
              <a:rPr lang="en-US" sz="3000" spc="48">
                <a:solidFill>
                  <a:srgbClr val="FFFFFF"/>
                </a:solidFill>
                <a:latin typeface="Times New Roman"/>
                <a:ea typeface="Times New Roman"/>
                <a:cs typeface="Times New Roman"/>
                <a:sym typeface="Times New Roman"/>
              </a:rPr>
              <a:t>   2.</a:t>
            </a:r>
            <a:r>
              <a:rPr lang="en-US" b="true" sz="3000" spc="48">
                <a:solidFill>
                  <a:srgbClr val="FFFFFF"/>
                </a:solidFill>
                <a:latin typeface="Times New Roman Bold"/>
                <a:ea typeface="Times New Roman Bold"/>
                <a:cs typeface="Times New Roman Bold"/>
                <a:sym typeface="Times New Roman Bold"/>
              </a:rPr>
              <a:t> Đối với con người:</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Yêu cầu đổi liên tục: Khách hàng thường xuyên thay đổi ý tưởng giữa chừng.</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Làm việc nhóm: Giao tiếp kém giữa các thành viên dễ dẫn đến làm sai sản phẩm.</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Áp lực kỹ năng: Công nghệ thay đổi mỗi ngày, bắt buộc phải học liên tục.</a:t>
            </a:r>
          </a:p>
          <a:p>
            <a:pPr algn="l">
              <a:lnSpc>
                <a:spcPts val="4200"/>
              </a:lnSpc>
            </a:pPr>
            <a:r>
              <a:rPr lang="en-US" sz="3000" spc="48">
                <a:solidFill>
                  <a:srgbClr val="FFFFFF"/>
                </a:solidFill>
                <a:latin typeface="Times New Roman"/>
                <a:ea typeface="Times New Roman"/>
                <a:cs typeface="Times New Roman"/>
                <a:sym typeface="Times New Roman"/>
              </a:rPr>
              <a:t>   3. </a:t>
            </a:r>
            <a:r>
              <a:rPr lang="en-US" b="true" sz="3000" spc="48">
                <a:solidFill>
                  <a:srgbClr val="FFFFFF"/>
                </a:solidFill>
                <a:latin typeface="Times New Roman Bold"/>
                <a:ea typeface="Times New Roman Bold"/>
                <a:cs typeface="Times New Roman Bold"/>
                <a:sym typeface="Times New Roman Bold"/>
              </a:rPr>
              <a:t>Tác động của AI:</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Cơ hội : AI tự động viết các đoạn code lặp lại và tìm lỗi cực nhanh, giúp kỹ sư rảnh tay để tập trung thiết kế hệ thống lớn.</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Nguy cơ : Những thợ code cấp thấp sẽ mất việc. Nếu lạm dụng copy code AI mà không hiểu, khi hệ thống hỏng sẽ không biết đường sửa.</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TextBox 3" id="3"/>
          <p:cNvSpPr txBox="true"/>
          <p:nvPr/>
        </p:nvSpPr>
        <p:spPr>
          <a:xfrm rot="0">
            <a:off x="1028700" y="933450"/>
            <a:ext cx="6608513" cy="625475"/>
          </a:xfrm>
          <a:prstGeom prst="rect">
            <a:avLst/>
          </a:prstGeom>
        </p:spPr>
        <p:txBody>
          <a:bodyPr anchor="t" rtlCol="false" tIns="0" lIns="0" bIns="0" rIns="0">
            <a:spAutoFit/>
          </a:bodyPr>
          <a:lstStyle/>
          <a:p>
            <a:pPr algn="ctr">
              <a:lnSpc>
                <a:spcPts val="4900"/>
              </a:lnSpc>
              <a:spcBef>
                <a:spcPct val="0"/>
              </a:spcBef>
            </a:pPr>
            <a:r>
              <a:rPr lang="en-US" sz="3500" spc="56">
                <a:solidFill>
                  <a:srgbClr val="FFFFFF"/>
                </a:solidFill>
                <a:latin typeface="Times New Roman"/>
                <a:ea typeface="Times New Roman"/>
                <a:cs typeface="Times New Roman"/>
                <a:sym typeface="Times New Roman"/>
              </a:rPr>
              <a:t>1.3.4.</a:t>
            </a:r>
            <a:r>
              <a:rPr lang="en-US" sz="3500" spc="56">
                <a:solidFill>
                  <a:srgbClr val="FFFFFF"/>
                </a:solidFill>
                <a:latin typeface="Times New Roman"/>
                <a:ea typeface="Times New Roman"/>
                <a:cs typeface="Times New Roman"/>
                <a:sym typeface="Times New Roman"/>
              </a:rPr>
              <a:t> Hướng phát triển tương lai</a:t>
            </a:r>
          </a:p>
        </p:txBody>
      </p:sp>
      <p:sp>
        <p:nvSpPr>
          <p:cNvPr name="TextBox 4" id="4"/>
          <p:cNvSpPr txBox="true"/>
          <p:nvPr/>
        </p:nvSpPr>
        <p:spPr>
          <a:xfrm rot="0">
            <a:off x="1028700" y="1739421"/>
            <a:ext cx="16435083" cy="8010525"/>
          </a:xfrm>
          <a:prstGeom prst="rect">
            <a:avLst/>
          </a:prstGeom>
        </p:spPr>
        <p:txBody>
          <a:bodyPr anchor="t" rtlCol="false" tIns="0" lIns="0" bIns="0" rIns="0">
            <a:spAutoFit/>
          </a:bodyPr>
          <a:lstStyle/>
          <a:p>
            <a:pPr algn="l" marL="647700" indent="-323850" lvl="1">
              <a:lnSpc>
                <a:spcPts val="4200"/>
              </a:lnSpc>
              <a:buAutoNum type="arabicPeriod" startAt="1"/>
            </a:pPr>
            <a:r>
              <a:rPr lang="en-US" b="true" sz="3000" spc="48">
                <a:solidFill>
                  <a:srgbClr val="FFFFFF"/>
                </a:solidFill>
                <a:latin typeface="Times New Roman Bold"/>
                <a:ea typeface="Times New Roman Bold"/>
                <a:cs typeface="Times New Roman Bold"/>
                <a:sym typeface="Times New Roman Bold"/>
              </a:rPr>
              <a:t>Xu hướng SE: </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Cloud-Native: Phần mềm được tối ưu để chạy 100% trên Đám mây </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AI &amp; MLOps: Đưa trí tuệ nhân tạo vào phần mềm để ứng dụng trở nên thông minh hơn.</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Low-code/No-code: Lập trình bằng cách "kéo-thả" các khối có sẵn để làm app cực nhanh, ít phải gõ code.</a:t>
            </a:r>
          </a:p>
          <a:p>
            <a:pPr algn="l" marL="647700" indent="-323850" lvl="1">
              <a:lnSpc>
                <a:spcPts val="4200"/>
              </a:lnSpc>
              <a:buAutoNum type="arabicPeriod" startAt="1"/>
            </a:pPr>
            <a:r>
              <a:rPr lang="en-US" b="true" sz="3000" spc="48">
                <a:solidFill>
                  <a:srgbClr val="FFFFFF"/>
                </a:solidFill>
                <a:latin typeface="Times New Roman Bold"/>
                <a:ea typeface="Times New Roman Bold"/>
                <a:cs typeface="Times New Roman Bold"/>
                <a:sym typeface="Times New Roman Bold"/>
              </a:rPr>
              <a:t>Kỹ năng cần có trong 10 năm tới: </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Tư duy hệ thống: Khả năng nhìn bức tranh tổng thể, biết cách ghép nối nhiều hệ thống nhỏ lại với nhau cho trơn tru.</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Làm chủ AI: Biết cách ra lệnh cho công cụ AI hỗ trợ viết code, tìm lỗi và tối ưu hóa công việc.</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Bảo mật: Giỏi bảo vệ dữ liệu khách hàng khỏi hacker.</a:t>
            </a:r>
          </a:p>
          <a:p>
            <a:pPr algn="l" marL="647700" indent="-323850" lvl="1">
              <a:lnSpc>
                <a:spcPts val="4200"/>
              </a:lnSpc>
              <a:buAutoNum type="arabicPeriod" startAt="1"/>
            </a:pPr>
            <a:r>
              <a:rPr lang="en-US" b="true" sz="3000" spc="48">
                <a:solidFill>
                  <a:srgbClr val="FFFFFF"/>
                </a:solidFill>
                <a:latin typeface="Times New Roman Bold"/>
                <a:ea typeface="Times New Roman Bold"/>
                <a:cs typeface="Times New Roman Bold"/>
                <a:sym typeface="Times New Roman Bold"/>
              </a:rPr>
              <a:t>Vai trò dữ liệu &amp; AI:</a:t>
            </a:r>
            <a:r>
              <a:rPr lang="en-US" sz="3000" spc="48">
                <a:solidFill>
                  <a:srgbClr val="FFFFFF"/>
                </a:solidFill>
                <a:latin typeface="Times New Roman"/>
                <a:ea typeface="Times New Roman"/>
                <a:cs typeface="Times New Roman"/>
                <a:sym typeface="Times New Roman"/>
              </a:rPr>
              <a:t> </a:t>
            </a:r>
          </a:p>
          <a:p>
            <a:pPr algn="l" marL="647700" indent="-323850" lvl="1">
              <a:lnSpc>
                <a:spcPts val="4200"/>
              </a:lnSpc>
              <a:buFont typeface="Arial"/>
              <a:buChar char="•"/>
            </a:pPr>
            <a:r>
              <a:rPr lang="en-US" sz="3000" spc="48">
                <a:solidFill>
                  <a:srgbClr val="FFFFFF"/>
                </a:solidFill>
                <a:latin typeface="Times New Roman"/>
                <a:ea typeface="Times New Roman"/>
                <a:cs typeface="Times New Roman"/>
                <a:sym typeface="Times New Roman"/>
              </a:rPr>
              <a:t>Phần mềm "tự học": Thay vì chỉ làm theo lệnh cài sẵn, phần mềm sẽ dùng dữ liệu để tự học thói quen người dùng và tự động cá nhân hóa trải nghiệm.</a:t>
            </a:r>
          </a:p>
          <a:p>
            <a:pPr algn="l" marL="647700" indent="-323850" lvl="1">
              <a:lnSpc>
                <a:spcPts val="4200"/>
              </a:lnSpc>
              <a:spcBef>
                <a:spcPct val="0"/>
              </a:spcBef>
              <a:buFont typeface="Arial"/>
              <a:buChar char="•"/>
            </a:pPr>
            <a:r>
              <a:rPr lang="en-US" sz="3000" spc="48">
                <a:solidFill>
                  <a:srgbClr val="FFFFFF"/>
                </a:solidFill>
                <a:latin typeface="Times New Roman"/>
                <a:ea typeface="Times New Roman"/>
                <a:cs typeface="Times New Roman"/>
                <a:sym typeface="Times New Roman"/>
              </a:rPr>
              <a:t>Dữ liệu là trung tâm: Mọi kiến trúc phần mềm tương lai đều phải ưu tiên việc xử lý, lưu chuyển và bảo vệ luồng dữ liệu khổng lồ.</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DAHFgD5mESo</dc:identifier>
  <dcterms:modified xsi:type="dcterms:W3CDTF">2011-08-01T06:04:30Z</dcterms:modified>
  <cp:revision>1</cp:revision>
  <dc:title>CNPM buổi 1</dc:title>
</cp:coreProperties>
</file>