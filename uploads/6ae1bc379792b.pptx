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8" r:id="rId3"/>
    <p:sldId id="257" r:id="rId4"/>
    <p:sldId id="260" r:id="rId5"/>
    <p:sldId id="261" r:id="rId6"/>
    <p:sldId id="270" r:id="rId7"/>
    <p:sldId id="272" r:id="rId8"/>
    <p:sldId id="273" r:id="rId9"/>
    <p:sldId id="274" r:id="rId10"/>
    <p:sldId id="279" r:id="rId11"/>
    <p:sldId id="280" r:id="rId12"/>
    <p:sldId id="28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517" autoAdjust="0"/>
    <p:restoredTop sz="94660"/>
  </p:normalViewPr>
  <p:slideViewPr>
    <p:cSldViewPr snapToGrid="0">
      <p:cViewPr varScale="1">
        <p:scale>
          <a:sx n="82" d="100"/>
          <a:sy n="82" d="100"/>
        </p:scale>
        <p:origin x="302" y="134"/>
      </p:cViewPr>
      <p:guideLst/>
    </p:cSldViewPr>
  </p:slideViewPr>
  <p:notesTextViewPr>
    <p:cViewPr>
      <p:scale>
        <a:sx n="1" d="1"/>
        <a:sy n="1" d="1"/>
      </p:scale>
      <p:origin x="0" y="0"/>
    </p:cViewPr>
  </p:notesTextViewPr>
  <p:sorterViewPr>
    <p:cViewPr>
      <p:scale>
        <a:sx n="100" d="100"/>
        <a:sy n="100" d="100"/>
      </p:scale>
      <p:origin x="0" y="-4805"/>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8E8929B-D499-49AA-8340-D6C60CA95C59}"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4131615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E8929B-D499-49AA-8340-D6C60CA95C59}"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31468904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8E8929B-D499-49AA-8340-D6C60CA95C59}"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35457092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E8929B-D499-49AA-8340-D6C60CA95C59}"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17297447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E8929B-D499-49AA-8340-D6C60CA95C59}" type="datetimeFigureOut">
              <a:rPr lang="en-US" smtClean="0"/>
              <a:t>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901585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E8929B-D499-49AA-8340-D6C60CA95C59}" type="datetimeFigureOut">
              <a:rPr lang="en-US" smtClean="0"/>
              <a:t>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11919530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E8929B-D499-49AA-8340-D6C60CA95C59}" type="datetimeFigureOut">
              <a:rPr lang="en-US" smtClean="0"/>
              <a:t>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4447998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8E8929B-D499-49AA-8340-D6C60CA95C59}"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12398764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8E8929B-D499-49AA-8340-D6C60CA95C59}" type="datetimeFigureOut">
              <a:rPr lang="en-US" smtClean="0"/>
              <a:t>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660619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E8929B-D499-49AA-8340-D6C60CA95C59}"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34009234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E8929B-D499-49AA-8340-D6C60CA95C59}" type="datetimeFigureOut">
              <a:rPr lang="en-US" smtClean="0"/>
              <a:t>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33020-C333-48AB-93C5-EF4F195CD97B}" type="slidenum">
              <a:rPr lang="en-US" smtClean="0"/>
              <a:t>‹#›</a:t>
            </a:fld>
            <a:endParaRPr lang="en-US"/>
          </a:p>
        </p:txBody>
      </p:sp>
    </p:spTree>
    <p:extLst>
      <p:ext uri="{BB962C8B-B14F-4D97-AF65-F5344CB8AC3E}">
        <p14:creationId xmlns:p14="http://schemas.microsoft.com/office/powerpoint/2010/main" val="1510962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E8929B-D499-49AA-8340-D6C60CA95C59}" type="datetimeFigureOut">
              <a:rPr lang="en-US" smtClean="0"/>
              <a:t>2/14/2025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33020-C333-48AB-93C5-EF4F195CD97B}" type="slidenum">
              <a:rPr lang="en-US" smtClean="0"/>
              <a:t>‹#›</a:t>
            </a:fld>
            <a:endParaRPr lang="en-US"/>
          </a:p>
        </p:txBody>
      </p:sp>
    </p:spTree>
    <p:extLst>
      <p:ext uri="{BB962C8B-B14F-4D97-AF65-F5344CB8AC3E}">
        <p14:creationId xmlns:p14="http://schemas.microsoft.com/office/powerpoint/2010/main" val="3691548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903011" y="-170474"/>
            <a:ext cx="6865704" cy="671180"/>
          </a:xfrm>
        </p:spPr>
        <p:txBody>
          <a:bodyPr>
            <a:noAutofit/>
          </a:bodyPr>
          <a:lstStyle/>
          <a:p>
            <a:br>
              <a:rPr lang="en-US" sz="2800" b="1" dirty="0">
                <a:effectLst>
                  <a:outerShdw blurRad="38100" dist="38100" dir="2700000" algn="tl">
                    <a:srgbClr val="000000">
                      <a:alpha val="43137"/>
                    </a:srgbClr>
                  </a:outerShdw>
                </a:effectLst>
              </a:rPr>
            </a:br>
            <a:r>
              <a:rPr lang="en-US" sz="3800" b="1" dirty="0">
                <a:effectLst>
                  <a:outerShdw blurRad="38100" dist="38100" dir="2700000" algn="tl">
                    <a:srgbClr val="000000">
                      <a:alpha val="43137"/>
                    </a:srgbClr>
                  </a:outerShdw>
                </a:effectLst>
                <a:latin typeface=".VnTime" panose="020B7200000000000000" pitchFamily="34" charset="0"/>
              </a:rPr>
              <a:t>TRƯỜNG ĐẠI</a:t>
            </a:r>
            <a:r>
              <a:rPr lang="en-US" sz="3800" b="1" dirty="0">
                <a:latin typeface=".VnTime" panose="020B7200000000000000" pitchFamily="34" charset="0"/>
              </a:rPr>
              <a:t> </a:t>
            </a:r>
            <a:r>
              <a:rPr lang="en-US" sz="3800" b="1" dirty="0">
                <a:effectLst>
                  <a:outerShdw blurRad="38100" dist="38100" dir="2700000" algn="tl">
                    <a:srgbClr val="000000">
                      <a:alpha val="43137"/>
                    </a:srgbClr>
                  </a:outerShdw>
                </a:effectLst>
                <a:latin typeface=".VnTime" panose="020B7200000000000000" pitchFamily="34" charset="0"/>
              </a:rPr>
              <a:t>HỌC ĐẠI NAM</a:t>
            </a:r>
          </a:p>
        </p:txBody>
      </p:sp>
      <p:pic>
        <p:nvPicPr>
          <p:cNvPr id="5" name="Picture 2" descr="Tập tin:Logo DAI NAM.png – Wikipedia tiếng Việ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6092" y="944059"/>
            <a:ext cx="1603924" cy="152929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933231" y="2916706"/>
            <a:ext cx="4805265" cy="461665"/>
          </a:xfrm>
          <a:prstGeom prst="rect">
            <a:avLst/>
          </a:prstGeom>
          <a:noFill/>
        </p:spPr>
        <p:txBody>
          <a:bodyPr wrap="square" rtlCol="0">
            <a:spAutoFit/>
          </a:bodyPr>
          <a:lstStyle/>
          <a:p>
            <a:r>
              <a:rPr lang="en-US" sz="2400" b="1" dirty="0" err="1"/>
              <a:t>Học</a:t>
            </a:r>
            <a:r>
              <a:rPr lang="en-US" sz="2400" b="1" dirty="0"/>
              <a:t> </a:t>
            </a:r>
            <a:r>
              <a:rPr lang="en-US" sz="2400" b="1" dirty="0" err="1"/>
              <a:t>Phần</a:t>
            </a:r>
            <a:r>
              <a:rPr lang="en-US" sz="2400" b="1" dirty="0"/>
              <a:t>: </a:t>
            </a:r>
            <a:r>
              <a:rPr lang="en-US" sz="2400" b="1" dirty="0" err="1"/>
              <a:t>Công</a:t>
            </a:r>
            <a:r>
              <a:rPr lang="en-US" sz="2400" b="1" dirty="0"/>
              <a:t> </a:t>
            </a:r>
            <a:r>
              <a:rPr lang="en-US" sz="2400" b="1" dirty="0" err="1"/>
              <a:t>Nghệ</a:t>
            </a:r>
            <a:r>
              <a:rPr lang="en-US" sz="2400" b="1" dirty="0"/>
              <a:t> </a:t>
            </a:r>
            <a:r>
              <a:rPr lang="en-US" sz="2400" b="1" dirty="0" err="1"/>
              <a:t>Thông</a:t>
            </a:r>
            <a:r>
              <a:rPr lang="en-US" sz="2400" b="1" dirty="0"/>
              <a:t> Tin</a:t>
            </a:r>
          </a:p>
        </p:txBody>
      </p:sp>
      <p:sp>
        <p:nvSpPr>
          <p:cNvPr id="8" name="TextBox 7"/>
          <p:cNvSpPr txBox="1"/>
          <p:nvPr/>
        </p:nvSpPr>
        <p:spPr>
          <a:xfrm>
            <a:off x="4321885" y="3582130"/>
            <a:ext cx="9886111" cy="830997"/>
          </a:xfrm>
          <a:prstGeom prst="rect">
            <a:avLst/>
          </a:prstGeom>
          <a:noFill/>
        </p:spPr>
        <p:txBody>
          <a:bodyPr wrap="square" rtlCol="0">
            <a:spAutoFit/>
          </a:bodyPr>
          <a:lstStyle/>
          <a:p>
            <a:r>
              <a:rPr lang="en-US" sz="2400" b="1" i="1" u="sng" dirty="0" err="1">
                <a:solidFill>
                  <a:schemeClr val="accent5"/>
                </a:solidFill>
                <a:effectLst>
                  <a:outerShdw blurRad="38100" dist="38100" dir="2700000" algn="tl">
                    <a:srgbClr val="000000">
                      <a:alpha val="43137"/>
                    </a:srgbClr>
                  </a:outerShdw>
                </a:effectLst>
              </a:rPr>
              <a:t>Chủ</a:t>
            </a:r>
            <a:r>
              <a:rPr lang="en-US" sz="2400" b="1" i="1" u="sng" dirty="0">
                <a:solidFill>
                  <a:schemeClr val="accent5"/>
                </a:solidFill>
                <a:effectLst>
                  <a:outerShdw blurRad="38100" dist="38100" dir="2700000" algn="tl">
                    <a:srgbClr val="000000">
                      <a:alpha val="43137"/>
                    </a:srgbClr>
                  </a:outerShdw>
                </a:effectLst>
              </a:rPr>
              <a:t> </a:t>
            </a:r>
            <a:r>
              <a:rPr lang="en-US" sz="2400" b="1" i="1" u="sng" dirty="0" err="1">
                <a:solidFill>
                  <a:schemeClr val="accent5"/>
                </a:solidFill>
                <a:effectLst>
                  <a:outerShdw blurRad="38100" dist="38100" dir="2700000" algn="tl">
                    <a:srgbClr val="000000">
                      <a:alpha val="43137"/>
                    </a:srgbClr>
                  </a:outerShdw>
                </a:effectLst>
              </a:rPr>
              <a:t>đề</a:t>
            </a:r>
            <a:r>
              <a:rPr lang="en-US" sz="2400" b="1" i="1" u="sng" dirty="0">
                <a:solidFill>
                  <a:schemeClr val="accent5"/>
                </a:solidFill>
                <a:effectLst>
                  <a:outerShdw blurRad="38100" dist="38100" dir="2700000" algn="tl">
                    <a:srgbClr val="000000">
                      <a:alpha val="43137"/>
                    </a:srgbClr>
                  </a:outerShdw>
                </a:effectLst>
              </a:rPr>
              <a:t>: </a:t>
            </a:r>
            <a:r>
              <a:rPr lang="en-US" sz="2400" b="1" i="1" u="sng" dirty="0" err="1">
                <a:solidFill>
                  <a:srgbClr val="FF0000"/>
                </a:solidFill>
                <a:effectLst>
                  <a:outerShdw blurRad="38100" dist="38100" dir="2700000" algn="tl">
                    <a:srgbClr val="000000">
                      <a:alpha val="43137"/>
                    </a:srgbClr>
                  </a:outerShdw>
                </a:effectLst>
              </a:rPr>
              <a:t>Gải</a:t>
            </a:r>
            <a:r>
              <a:rPr lang="en-US" sz="2400" b="1" i="1" u="sng" dirty="0">
                <a:solidFill>
                  <a:srgbClr val="FF0000"/>
                </a:solidFill>
                <a:effectLst>
                  <a:outerShdw blurRad="38100" dist="38100" dir="2700000" algn="tl">
                    <a:srgbClr val="000000">
                      <a:alpha val="43137"/>
                    </a:srgbClr>
                  </a:outerShdw>
                </a:effectLst>
              </a:rPr>
              <a:t> </a:t>
            </a:r>
            <a:r>
              <a:rPr lang="en-US" sz="2400" b="1" i="1" u="sng" dirty="0" err="1">
                <a:solidFill>
                  <a:srgbClr val="FF0000"/>
                </a:solidFill>
                <a:effectLst>
                  <a:outerShdw blurRad="38100" dist="38100" dir="2700000" algn="tl">
                    <a:srgbClr val="000000">
                      <a:alpha val="43137"/>
                    </a:srgbClr>
                  </a:outerShdw>
                </a:effectLst>
              </a:rPr>
              <a:t>thuật</a:t>
            </a:r>
            <a:r>
              <a:rPr lang="en-US" sz="2400" b="1" i="1" u="sng" dirty="0">
                <a:solidFill>
                  <a:srgbClr val="FF0000"/>
                </a:solidFill>
                <a:effectLst>
                  <a:outerShdw blurRad="38100" dist="38100" dir="2700000" algn="tl">
                    <a:srgbClr val="000000">
                      <a:alpha val="43137"/>
                    </a:srgbClr>
                  </a:outerShdw>
                </a:effectLst>
              </a:rPr>
              <a:t> </a:t>
            </a:r>
            <a:r>
              <a:rPr lang="en-US" sz="2400" b="1" i="1" u="sng" dirty="0" err="1">
                <a:solidFill>
                  <a:srgbClr val="FF0000"/>
                </a:solidFill>
                <a:effectLst>
                  <a:outerShdw blurRad="38100" dist="38100" dir="2700000" algn="tl">
                    <a:srgbClr val="000000">
                      <a:alpha val="43137"/>
                    </a:srgbClr>
                  </a:outerShdw>
                </a:effectLst>
              </a:rPr>
              <a:t>đệ</a:t>
            </a:r>
            <a:r>
              <a:rPr lang="en-US" sz="2400" b="1" i="1" u="sng" dirty="0">
                <a:solidFill>
                  <a:srgbClr val="FF0000"/>
                </a:solidFill>
                <a:effectLst>
                  <a:outerShdw blurRad="38100" dist="38100" dir="2700000" algn="tl">
                    <a:srgbClr val="000000">
                      <a:alpha val="43137"/>
                    </a:srgbClr>
                  </a:outerShdw>
                </a:effectLst>
              </a:rPr>
              <a:t> </a:t>
            </a:r>
            <a:r>
              <a:rPr lang="en-US" sz="2400" b="1" i="1" u="sng" dirty="0" err="1">
                <a:solidFill>
                  <a:srgbClr val="FF0000"/>
                </a:solidFill>
                <a:effectLst>
                  <a:outerShdw blurRad="38100" dist="38100" dir="2700000" algn="tl">
                    <a:srgbClr val="000000">
                      <a:alpha val="43137"/>
                    </a:srgbClr>
                  </a:outerShdw>
                </a:effectLst>
              </a:rPr>
              <a:t>quy</a:t>
            </a:r>
            <a:endParaRPr lang="en-US" sz="2400" b="1" i="1" dirty="0">
              <a:solidFill>
                <a:srgbClr val="FF0000"/>
              </a:solidFill>
            </a:endParaRPr>
          </a:p>
          <a:p>
            <a:endParaRPr lang="en-US" sz="2400" b="1" dirty="0">
              <a:solidFill>
                <a:srgbClr val="FF0000"/>
              </a:solidFill>
              <a:effectLst>
                <a:outerShdw blurRad="38100" dist="38100" dir="2700000" algn="tl">
                  <a:srgbClr val="000000">
                    <a:alpha val="43137"/>
                  </a:srgbClr>
                </a:outerShdw>
              </a:effectLst>
            </a:endParaRPr>
          </a:p>
        </p:txBody>
      </p:sp>
      <p:pic>
        <p:nvPicPr>
          <p:cNvPr id="4" name="Picture 3">
            <a:extLst>
              <a:ext uri="{FF2B5EF4-FFF2-40B4-BE49-F238E27FC236}">
                <a16:creationId xmlns:a16="http://schemas.microsoft.com/office/drawing/2014/main" id="{A6C97B0D-7D55-970C-BEA1-E55A2206AD82}"/>
              </a:ext>
            </a:extLst>
          </p:cNvPr>
          <p:cNvPicPr>
            <a:picLocks noChangeAspect="1"/>
          </p:cNvPicPr>
          <p:nvPr/>
        </p:nvPicPr>
        <p:blipFill>
          <a:blip r:embed="rId3"/>
          <a:stretch>
            <a:fillRect/>
          </a:stretch>
        </p:blipFill>
        <p:spPr>
          <a:xfrm>
            <a:off x="0" y="6278880"/>
            <a:ext cx="12192000" cy="579120"/>
          </a:xfrm>
          <a:prstGeom prst="rect">
            <a:avLst/>
          </a:prstGeom>
        </p:spPr>
      </p:pic>
      <p:sp>
        <p:nvSpPr>
          <p:cNvPr id="11" name="TextBox 10">
            <a:extLst>
              <a:ext uri="{FF2B5EF4-FFF2-40B4-BE49-F238E27FC236}">
                <a16:creationId xmlns:a16="http://schemas.microsoft.com/office/drawing/2014/main" id="{CFF3F9D1-83C0-E008-D324-E62A6CEE0CA2}"/>
              </a:ext>
            </a:extLst>
          </p:cNvPr>
          <p:cNvSpPr txBox="1"/>
          <p:nvPr/>
        </p:nvSpPr>
        <p:spPr>
          <a:xfrm>
            <a:off x="10098156" y="6427922"/>
            <a:ext cx="1256306"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1</a:t>
            </a:r>
          </a:p>
        </p:txBody>
      </p:sp>
      <p:sp>
        <p:nvSpPr>
          <p:cNvPr id="3" name="TextBox 2">
            <a:extLst>
              <a:ext uri="{FF2B5EF4-FFF2-40B4-BE49-F238E27FC236}">
                <a16:creationId xmlns:a16="http://schemas.microsoft.com/office/drawing/2014/main" id="{49E13E69-5AC9-AB14-1103-50B87BEDF5A0}"/>
              </a:ext>
            </a:extLst>
          </p:cNvPr>
          <p:cNvSpPr txBox="1"/>
          <p:nvPr/>
        </p:nvSpPr>
        <p:spPr>
          <a:xfrm>
            <a:off x="105772" y="4616886"/>
            <a:ext cx="4927600" cy="1661993"/>
          </a:xfrm>
          <a:prstGeom prst="rect">
            <a:avLst/>
          </a:prstGeom>
          <a:noFill/>
        </p:spPr>
        <p:txBody>
          <a:bodyPr wrap="square" rtlCol="0">
            <a:spAutoFit/>
          </a:bodyPr>
          <a:lstStyle/>
          <a:p>
            <a:r>
              <a:rPr lang="en-US" sz="2200" b="1" dirty="0" err="1"/>
              <a:t>Nhóm</a:t>
            </a:r>
            <a:r>
              <a:rPr lang="en-US" sz="2200" b="1" dirty="0"/>
              <a:t> </a:t>
            </a:r>
            <a:r>
              <a:rPr lang="en-US" sz="2200" b="1" dirty="0" err="1"/>
              <a:t>số</a:t>
            </a:r>
            <a:r>
              <a:rPr lang="en-US" sz="2200" b="1" dirty="0"/>
              <a:t> 7 : </a:t>
            </a:r>
          </a:p>
          <a:p>
            <a:pPr marL="285750" indent="-285750">
              <a:buFont typeface="Wingdings" panose="05000000000000000000" pitchFamily="2" charset="2"/>
              <a:buChar char="Ø"/>
            </a:pPr>
            <a:r>
              <a:rPr lang="en-US" sz="2000" u="sng" dirty="0" err="1"/>
              <a:t>Phạm</a:t>
            </a:r>
            <a:r>
              <a:rPr lang="en-US" sz="2000" u="sng" dirty="0"/>
              <a:t> Anh Quân</a:t>
            </a:r>
          </a:p>
          <a:p>
            <a:pPr marL="285750" indent="-285750">
              <a:buFont typeface="Wingdings" panose="05000000000000000000" pitchFamily="2" charset="2"/>
              <a:buChar char="Ø"/>
            </a:pPr>
            <a:r>
              <a:rPr lang="en-US" sz="2000" u="sng" dirty="0" err="1"/>
              <a:t>Đặng</a:t>
            </a:r>
            <a:r>
              <a:rPr lang="en-US" sz="2000" u="sng" dirty="0"/>
              <a:t> Quang </a:t>
            </a:r>
            <a:r>
              <a:rPr lang="en-US" sz="2000" u="sng" dirty="0" err="1"/>
              <a:t>Tiến</a:t>
            </a:r>
            <a:r>
              <a:rPr lang="en-US" sz="2000" u="sng" dirty="0"/>
              <a:t> </a:t>
            </a:r>
          </a:p>
          <a:p>
            <a:pPr marL="285750" indent="-285750">
              <a:buFont typeface="Wingdings" panose="05000000000000000000" pitchFamily="2" charset="2"/>
              <a:buChar char="Ø"/>
            </a:pPr>
            <a:r>
              <a:rPr lang="en-US" sz="2000" u="sng" dirty="0" err="1"/>
              <a:t>Nguyễn</a:t>
            </a:r>
            <a:r>
              <a:rPr lang="en-US" sz="2000" u="sng" dirty="0"/>
              <a:t> Trung Thành</a:t>
            </a:r>
          </a:p>
          <a:p>
            <a:r>
              <a:rPr lang="en-US" sz="2000" b="1" dirty="0"/>
              <a:t>CNTT 18-02</a:t>
            </a:r>
          </a:p>
        </p:txBody>
      </p:sp>
    </p:spTree>
    <p:extLst>
      <p:ext uri="{BB962C8B-B14F-4D97-AF65-F5344CB8AC3E}">
        <p14:creationId xmlns:p14="http://schemas.microsoft.com/office/powerpoint/2010/main" val="188596913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6800" y="1881623"/>
            <a:ext cx="10515600" cy="1325563"/>
          </a:xfrm>
        </p:spPr>
        <p:txBody>
          <a:bodyPr>
            <a:normAutofit/>
          </a:bodyPr>
          <a:lstStyle/>
          <a:p>
            <a:r>
              <a:rPr lang="en-US" sz="2400" b="1" dirty="0" err="1">
                <a:solidFill>
                  <a:srgbClr val="7030A0"/>
                </a:solidFill>
                <a:effectLst>
                  <a:outerShdw blurRad="38100" dist="38100" dir="2700000" algn="tl">
                    <a:srgbClr val="000000">
                      <a:alpha val="43137"/>
                    </a:srgbClr>
                  </a:outerShdw>
                </a:effectLst>
              </a:rPr>
              <a:t>Chương</a:t>
            </a:r>
            <a:r>
              <a:rPr lang="en-US" sz="2400" b="1" dirty="0">
                <a:solidFill>
                  <a:srgbClr val="7030A0"/>
                </a:solidFill>
                <a:effectLst>
                  <a:outerShdw blurRad="38100" dist="38100" dir="2700000" algn="tl">
                    <a:srgbClr val="000000">
                      <a:alpha val="43137"/>
                    </a:srgbClr>
                  </a:outerShdw>
                </a:effectLst>
              </a:rPr>
              <a:t> I: </a:t>
            </a:r>
            <a:r>
              <a:rPr lang="vi-VN" sz="900" dirty="0"/>
              <a:t>: </a:t>
            </a:r>
            <a:r>
              <a:rPr lang="vi-VN" sz="2400" b="1" dirty="0">
                <a:solidFill>
                  <a:srgbClr val="7030A0"/>
                </a:solidFill>
              </a:rPr>
              <a:t>Giới thiệu về Đệ Quy</a:t>
            </a:r>
            <a:br>
              <a:rPr lang="en-US" sz="1800" b="1" dirty="0">
                <a:solidFill>
                  <a:schemeClr val="accent1">
                    <a:lumMod val="75000"/>
                  </a:schemeClr>
                </a:solidFill>
              </a:rPr>
            </a:br>
            <a:r>
              <a:rPr lang="en-US" sz="1800" b="1" dirty="0"/>
              <a:t>          </a:t>
            </a:r>
            <a:br>
              <a:rPr lang="en-US" sz="1800" dirty="0"/>
            </a:br>
            <a:endParaRPr lang="en-US" sz="1800" b="1" dirty="0"/>
          </a:p>
        </p:txBody>
      </p:sp>
      <p:pic>
        <p:nvPicPr>
          <p:cNvPr id="2050" name="Picture 2" descr="Tập tin:Logo DAI NAM.png – Wikipedia tiếng Việ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88901" y="1"/>
            <a:ext cx="1395882" cy="111136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4"/>
          <p:cNvSpPr>
            <a:spLocks noGrp="1"/>
          </p:cNvSpPr>
          <p:nvPr>
            <p:ph idx="1"/>
          </p:nvPr>
        </p:nvSpPr>
        <p:spPr>
          <a:xfrm>
            <a:off x="737698" y="1111366"/>
            <a:ext cx="3513753" cy="525688"/>
          </a:xfrm>
          <a:gradFill flip="none" rotWithShape="1">
            <a:gsLst>
              <a:gs pos="1770">
                <a:schemeClr val="accent2">
                  <a:lumMod val="60000"/>
                  <a:lumOff val="40000"/>
                </a:schemeClr>
              </a:gs>
              <a:gs pos="43000">
                <a:schemeClr val="accent2">
                  <a:lumMod val="60000"/>
                  <a:lumOff val="40000"/>
                </a:schemeClr>
              </a:gs>
              <a:gs pos="14000">
                <a:schemeClr val="accent2">
                  <a:lumMod val="60000"/>
                  <a:lumOff val="40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p:spPr>
        <p:txBody>
          <a:bodyPr>
            <a:normAutofit/>
          </a:bodyPr>
          <a:lstStyle/>
          <a:p>
            <a:r>
              <a:rPr lang="en-US" sz="2400" b="1" dirty="0" err="1"/>
              <a:t>Nội</a:t>
            </a:r>
            <a:r>
              <a:rPr lang="en-US" sz="2400" b="1" dirty="0"/>
              <a:t> dung :</a:t>
            </a:r>
          </a:p>
        </p:txBody>
      </p:sp>
      <p:sp>
        <p:nvSpPr>
          <p:cNvPr id="10" name="TextBox 9"/>
          <p:cNvSpPr txBox="1"/>
          <p:nvPr/>
        </p:nvSpPr>
        <p:spPr>
          <a:xfrm>
            <a:off x="456800" y="4277046"/>
            <a:ext cx="9096767" cy="461665"/>
          </a:xfrm>
          <a:prstGeom prst="rect">
            <a:avLst/>
          </a:prstGeom>
          <a:noFill/>
        </p:spPr>
        <p:txBody>
          <a:bodyPr wrap="square" rtlCol="0">
            <a:spAutoFit/>
          </a:bodyPr>
          <a:lstStyle/>
          <a:p>
            <a:r>
              <a:rPr lang="en-US" sz="2400" b="1" dirty="0">
                <a:solidFill>
                  <a:srgbClr val="7030A0"/>
                </a:solidFill>
              </a:rPr>
              <a:t> </a:t>
            </a:r>
            <a:r>
              <a:rPr lang="en-US" sz="2400" b="1" dirty="0" err="1">
                <a:solidFill>
                  <a:srgbClr val="7030A0"/>
                </a:solidFill>
              </a:rPr>
              <a:t>Chương</a:t>
            </a:r>
            <a:r>
              <a:rPr lang="en-US" sz="2400" b="1" dirty="0">
                <a:solidFill>
                  <a:srgbClr val="7030A0"/>
                </a:solidFill>
              </a:rPr>
              <a:t> III:</a:t>
            </a:r>
            <a:r>
              <a:rPr lang="en-US" sz="2200" b="1" dirty="0">
                <a:solidFill>
                  <a:srgbClr val="7030A0"/>
                </a:solidFill>
              </a:rPr>
              <a:t>Ứ</a:t>
            </a:r>
            <a:r>
              <a:rPr lang="vi-VN" sz="2200" b="1" dirty="0" err="1">
                <a:solidFill>
                  <a:srgbClr val="7030A0"/>
                </a:solidFill>
              </a:rPr>
              <a:t>ng</a:t>
            </a:r>
            <a:r>
              <a:rPr lang="vi-VN" sz="2200" b="1" dirty="0">
                <a:solidFill>
                  <a:srgbClr val="7030A0"/>
                </a:solidFill>
              </a:rPr>
              <a:t> Dụng và Tối Ưu Hóa Đệ Quy</a:t>
            </a:r>
          </a:p>
        </p:txBody>
      </p:sp>
      <p:sp>
        <p:nvSpPr>
          <p:cNvPr id="4" name="TextBox 3">
            <a:extLst>
              <a:ext uri="{FF2B5EF4-FFF2-40B4-BE49-F238E27FC236}">
                <a16:creationId xmlns:a16="http://schemas.microsoft.com/office/drawing/2014/main" id="{50DDD7D1-D621-D96D-0C41-A1F472B3B9FB}"/>
              </a:ext>
            </a:extLst>
          </p:cNvPr>
          <p:cNvSpPr txBox="1"/>
          <p:nvPr/>
        </p:nvSpPr>
        <p:spPr>
          <a:xfrm>
            <a:off x="456800" y="3167944"/>
            <a:ext cx="6944066" cy="830997"/>
          </a:xfrm>
          <a:prstGeom prst="rect">
            <a:avLst/>
          </a:prstGeom>
          <a:noFill/>
        </p:spPr>
        <p:txBody>
          <a:bodyPr wrap="square">
            <a:spAutoFit/>
          </a:bodyPr>
          <a:lstStyle/>
          <a:p>
            <a:r>
              <a:rPr lang="vi-VN" sz="2400" b="1" dirty="0">
                <a:solidFill>
                  <a:srgbClr val="7030A0"/>
                </a:solidFill>
              </a:rPr>
              <a:t>Chương </a:t>
            </a:r>
            <a:r>
              <a:rPr lang="en-US" sz="2400" b="1" dirty="0">
                <a:solidFill>
                  <a:srgbClr val="7030A0"/>
                </a:solidFill>
              </a:rPr>
              <a:t>II</a:t>
            </a:r>
            <a:r>
              <a:rPr lang="vi-VN" sz="2400" b="1" dirty="0">
                <a:solidFill>
                  <a:srgbClr val="7030A0"/>
                </a:solidFill>
              </a:rPr>
              <a:t>:</a:t>
            </a:r>
            <a:r>
              <a:rPr lang="en-US" sz="2400" b="1" dirty="0" err="1">
                <a:solidFill>
                  <a:srgbClr val="7030A0"/>
                </a:solidFill>
              </a:rPr>
              <a:t>Nguyên</a:t>
            </a:r>
            <a:r>
              <a:rPr lang="en-US" sz="2400" b="1" dirty="0">
                <a:solidFill>
                  <a:srgbClr val="7030A0"/>
                </a:solidFill>
              </a:rPr>
              <a:t> Lý </a:t>
            </a:r>
            <a:r>
              <a:rPr lang="en-US" sz="2400" b="1" dirty="0" err="1">
                <a:solidFill>
                  <a:srgbClr val="7030A0"/>
                </a:solidFill>
              </a:rPr>
              <a:t>Hoạt</a:t>
            </a:r>
            <a:r>
              <a:rPr lang="en-US" sz="2400" b="1" dirty="0">
                <a:solidFill>
                  <a:srgbClr val="7030A0"/>
                </a:solidFill>
              </a:rPr>
              <a:t> </a:t>
            </a:r>
            <a:r>
              <a:rPr lang="en-US" sz="2400" b="1" dirty="0" err="1">
                <a:solidFill>
                  <a:srgbClr val="7030A0"/>
                </a:solidFill>
              </a:rPr>
              <a:t>Động</a:t>
            </a:r>
            <a:r>
              <a:rPr lang="en-US" sz="2400" b="1" dirty="0">
                <a:solidFill>
                  <a:srgbClr val="7030A0"/>
                </a:solidFill>
              </a:rPr>
              <a:t> </a:t>
            </a:r>
            <a:r>
              <a:rPr lang="en-US" sz="2400" b="1" dirty="0" err="1">
                <a:solidFill>
                  <a:srgbClr val="7030A0"/>
                </a:solidFill>
              </a:rPr>
              <a:t>Của</a:t>
            </a:r>
            <a:r>
              <a:rPr lang="en-US" sz="2400" b="1" dirty="0">
                <a:solidFill>
                  <a:srgbClr val="7030A0"/>
                </a:solidFill>
              </a:rPr>
              <a:t> </a:t>
            </a:r>
            <a:r>
              <a:rPr lang="en-US" sz="2400" b="1" dirty="0" err="1">
                <a:solidFill>
                  <a:srgbClr val="7030A0"/>
                </a:solidFill>
              </a:rPr>
              <a:t>Đệ</a:t>
            </a:r>
            <a:r>
              <a:rPr lang="en-US" sz="2400" b="1" dirty="0">
                <a:solidFill>
                  <a:srgbClr val="7030A0"/>
                </a:solidFill>
              </a:rPr>
              <a:t> Quy</a:t>
            </a:r>
          </a:p>
          <a:p>
            <a:endParaRPr lang="en-US" sz="2400" b="1" dirty="0">
              <a:solidFill>
                <a:srgbClr val="7030A0"/>
              </a:solidFill>
            </a:endParaRPr>
          </a:p>
        </p:txBody>
      </p:sp>
      <p:pic>
        <p:nvPicPr>
          <p:cNvPr id="6" name="Picture 5">
            <a:extLst>
              <a:ext uri="{FF2B5EF4-FFF2-40B4-BE49-F238E27FC236}">
                <a16:creationId xmlns:a16="http://schemas.microsoft.com/office/drawing/2014/main" id="{234D12B5-CA8B-0554-B038-70D03E688F5B}"/>
              </a:ext>
            </a:extLst>
          </p:cNvPr>
          <p:cNvPicPr>
            <a:picLocks noChangeAspect="1"/>
          </p:cNvPicPr>
          <p:nvPr/>
        </p:nvPicPr>
        <p:blipFill>
          <a:blip r:embed="rId3"/>
          <a:stretch>
            <a:fillRect/>
          </a:stretch>
        </p:blipFill>
        <p:spPr>
          <a:xfrm>
            <a:off x="0" y="6309479"/>
            <a:ext cx="12192000" cy="579120"/>
          </a:xfrm>
          <a:prstGeom prst="rect">
            <a:avLst/>
          </a:prstGeom>
        </p:spPr>
      </p:pic>
      <p:sp>
        <p:nvSpPr>
          <p:cNvPr id="7" name="TextBox 6">
            <a:extLst>
              <a:ext uri="{FF2B5EF4-FFF2-40B4-BE49-F238E27FC236}">
                <a16:creationId xmlns:a16="http://schemas.microsoft.com/office/drawing/2014/main" id="{F3834BA0-6788-319F-46FE-A126991C9AB1}"/>
              </a:ext>
            </a:extLst>
          </p:cNvPr>
          <p:cNvSpPr txBox="1"/>
          <p:nvPr/>
        </p:nvSpPr>
        <p:spPr>
          <a:xfrm>
            <a:off x="10224577" y="6383774"/>
            <a:ext cx="1495646"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2</a:t>
            </a:r>
          </a:p>
        </p:txBody>
      </p:sp>
    </p:spTree>
    <p:extLst>
      <p:ext uri="{BB962C8B-B14F-4D97-AF65-F5344CB8AC3E}">
        <p14:creationId xmlns:p14="http://schemas.microsoft.com/office/powerpoint/2010/main" val="3179140499"/>
      </p:ext>
    </p:extLst>
  </p:cSld>
  <p:clrMapOvr>
    <a:masterClrMapping/>
  </p:clrMapOvr>
  <mc:AlternateContent xmlns:mc="http://schemas.openxmlformats.org/markup-compatibility/2006" xmlns:p14="http://schemas.microsoft.com/office/powerpoint/2010/main">
    <mc:Choice Requires="p14">
      <p:transition spd="slow" p14:dur="1250" advClick="0">
        <p14:flip dir="r"/>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bg/>
                                          </p:spTgt>
                                        </p:tgtEl>
                                        <p:attrNameLst>
                                          <p:attrName>style.visibility</p:attrName>
                                        </p:attrNameLst>
                                      </p:cBhvr>
                                      <p:to>
                                        <p:strVal val="visible"/>
                                      </p:to>
                                    </p:set>
                                    <p:anim calcmode="lin" valueType="num">
                                      <p:cBhvr>
                                        <p:cTn id="7" dur="500" fill="hold"/>
                                        <p:tgtEl>
                                          <p:spTgt spid="5">
                                            <p:bg/>
                                          </p:spTgt>
                                        </p:tgtEl>
                                        <p:attrNameLst>
                                          <p:attrName>ppt_w</p:attrName>
                                        </p:attrNameLst>
                                      </p:cBhvr>
                                      <p:tavLst>
                                        <p:tav tm="0">
                                          <p:val>
                                            <p:fltVal val="0"/>
                                          </p:val>
                                        </p:tav>
                                        <p:tav tm="100000">
                                          <p:val>
                                            <p:strVal val="#ppt_w"/>
                                          </p:val>
                                        </p:tav>
                                      </p:tavLst>
                                    </p:anim>
                                    <p:anim calcmode="lin" valueType="num">
                                      <p:cBhvr>
                                        <p:cTn id="8" dur="500" fill="hold"/>
                                        <p:tgtEl>
                                          <p:spTgt spid="5">
                                            <p:bg/>
                                          </p:spTgt>
                                        </p:tgtEl>
                                        <p:attrNameLst>
                                          <p:attrName>ppt_h</p:attrName>
                                        </p:attrNameLst>
                                      </p:cBhvr>
                                      <p:tavLst>
                                        <p:tav tm="0">
                                          <p:val>
                                            <p:fltVal val="0"/>
                                          </p:val>
                                        </p:tav>
                                        <p:tav tm="100000">
                                          <p:val>
                                            <p:strVal val="#ppt_h"/>
                                          </p:val>
                                        </p:tav>
                                      </p:tavLst>
                                    </p:anim>
                                    <p:animEffect transition="in" filter="fade">
                                      <p:cBhvr>
                                        <p:cTn id="9" dur="500"/>
                                        <p:tgtEl>
                                          <p:spTgt spid="5">
                                            <p:bg/>
                                          </p:spTgt>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p:cTn id="12" dur="500" fill="hold"/>
                                        <p:tgtEl>
                                          <p:spTgt spid="5">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5">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74305" y="1386221"/>
            <a:ext cx="10515600" cy="1325563"/>
          </a:xfrm>
        </p:spPr>
        <p:txBody>
          <a:bodyPr>
            <a:normAutofit/>
          </a:bodyPr>
          <a:lstStyle/>
          <a:p>
            <a:r>
              <a:rPr lang="en-US" sz="5400" b="1" dirty="0" err="1">
                <a:solidFill>
                  <a:srgbClr val="C00000"/>
                </a:solidFill>
                <a:effectLst>
                  <a:outerShdw blurRad="38100" dist="38100" dir="2700000" algn="tl">
                    <a:srgbClr val="000000">
                      <a:alpha val="43137"/>
                    </a:srgbClr>
                  </a:outerShdw>
                </a:effectLst>
              </a:rPr>
              <a:t>Chương</a:t>
            </a:r>
            <a:r>
              <a:rPr lang="en-US" sz="5400" b="1" dirty="0">
                <a:solidFill>
                  <a:srgbClr val="C00000"/>
                </a:solidFill>
                <a:effectLst>
                  <a:outerShdw blurRad="38100" dist="38100" dir="2700000" algn="tl">
                    <a:srgbClr val="000000">
                      <a:alpha val="43137"/>
                    </a:srgbClr>
                  </a:outerShdw>
                </a:effectLst>
              </a:rPr>
              <a:t> I:</a:t>
            </a:r>
          </a:p>
        </p:txBody>
      </p:sp>
      <p:pic>
        <p:nvPicPr>
          <p:cNvPr id="4" name="Picture 2" descr="Tập tin:Logo DAI NAM.png – Wikipedia tiếng Việt"/>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188217" y="1"/>
            <a:ext cx="1318909" cy="105008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2137107" y="2489835"/>
            <a:ext cx="6102220" cy="677108"/>
          </a:xfrm>
          <a:prstGeom prst="rect">
            <a:avLst/>
          </a:prstGeom>
          <a:noFill/>
        </p:spPr>
        <p:txBody>
          <a:bodyPr wrap="square" rtlCol="0">
            <a:spAutoFit/>
          </a:bodyPr>
          <a:lstStyle/>
          <a:p>
            <a:r>
              <a:rPr lang="vi-VN" sz="2000" b="1" dirty="0">
                <a:solidFill>
                  <a:srgbClr val="7030A0"/>
                </a:solidFill>
              </a:rPr>
              <a:t>Giới</a:t>
            </a:r>
            <a:r>
              <a:rPr lang="en-US" sz="2000" b="1" dirty="0">
                <a:solidFill>
                  <a:srgbClr val="7030A0"/>
                </a:solidFill>
              </a:rPr>
              <a:t> </a:t>
            </a:r>
            <a:r>
              <a:rPr lang="en-US" sz="2000" b="1" dirty="0" err="1">
                <a:solidFill>
                  <a:srgbClr val="7030A0"/>
                </a:solidFill>
              </a:rPr>
              <a:t>thiệu</a:t>
            </a:r>
            <a:r>
              <a:rPr lang="en-US" sz="2000" b="1" dirty="0">
                <a:solidFill>
                  <a:srgbClr val="7030A0"/>
                </a:solidFill>
              </a:rPr>
              <a:t> </a:t>
            </a:r>
            <a:r>
              <a:rPr lang="en-US" sz="2000" b="1" dirty="0" err="1">
                <a:solidFill>
                  <a:srgbClr val="7030A0"/>
                </a:solidFill>
              </a:rPr>
              <a:t>về</a:t>
            </a:r>
            <a:r>
              <a:rPr lang="en-US" sz="2000" b="1" dirty="0">
                <a:solidFill>
                  <a:srgbClr val="7030A0"/>
                </a:solidFill>
              </a:rPr>
              <a:t> </a:t>
            </a:r>
            <a:r>
              <a:rPr lang="en-US" sz="2000" b="1" dirty="0" err="1">
                <a:solidFill>
                  <a:srgbClr val="7030A0"/>
                </a:solidFill>
              </a:rPr>
              <a:t>đệ</a:t>
            </a:r>
            <a:r>
              <a:rPr lang="en-US" sz="2000" b="1" dirty="0">
                <a:solidFill>
                  <a:srgbClr val="7030A0"/>
                </a:solidFill>
              </a:rPr>
              <a:t> </a:t>
            </a:r>
            <a:r>
              <a:rPr lang="en-US" sz="2000" b="1" dirty="0" err="1">
                <a:solidFill>
                  <a:srgbClr val="7030A0"/>
                </a:solidFill>
              </a:rPr>
              <a:t>quy</a:t>
            </a:r>
            <a:br>
              <a:rPr lang="en-US" b="1" dirty="0"/>
            </a:br>
            <a:endParaRPr lang="en-US" dirty="0"/>
          </a:p>
        </p:txBody>
      </p:sp>
      <p:pic>
        <p:nvPicPr>
          <p:cNvPr id="5" name="Picture 4">
            <a:extLst>
              <a:ext uri="{FF2B5EF4-FFF2-40B4-BE49-F238E27FC236}">
                <a16:creationId xmlns:a16="http://schemas.microsoft.com/office/drawing/2014/main" id="{FC8DF38E-54AE-41EC-3591-B0A6B17C8B72}"/>
              </a:ext>
            </a:extLst>
          </p:cNvPr>
          <p:cNvPicPr>
            <a:picLocks noChangeAspect="1"/>
          </p:cNvPicPr>
          <p:nvPr/>
        </p:nvPicPr>
        <p:blipFill>
          <a:blip r:embed="rId3"/>
          <a:stretch>
            <a:fillRect/>
          </a:stretch>
        </p:blipFill>
        <p:spPr>
          <a:xfrm>
            <a:off x="0" y="6284044"/>
            <a:ext cx="12192000" cy="579120"/>
          </a:xfrm>
          <a:prstGeom prst="rect">
            <a:avLst/>
          </a:prstGeom>
        </p:spPr>
      </p:pic>
      <p:sp>
        <p:nvSpPr>
          <p:cNvPr id="9" name="TextBox 8">
            <a:extLst>
              <a:ext uri="{FF2B5EF4-FFF2-40B4-BE49-F238E27FC236}">
                <a16:creationId xmlns:a16="http://schemas.microsoft.com/office/drawing/2014/main" id="{8D7D2B1B-3182-5D8E-F7E5-0DC4C104DD3E}"/>
              </a:ext>
            </a:extLst>
          </p:cNvPr>
          <p:cNvSpPr txBox="1"/>
          <p:nvPr/>
        </p:nvSpPr>
        <p:spPr>
          <a:xfrm>
            <a:off x="10196100" y="6414835"/>
            <a:ext cx="1317389"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3</a:t>
            </a:r>
          </a:p>
        </p:txBody>
      </p:sp>
      <p:pic>
        <p:nvPicPr>
          <p:cNvPr id="1026" name="Picture 2" descr="Đệ quy và giải thuật đệ quy">
            <a:extLst>
              <a:ext uri="{FF2B5EF4-FFF2-40B4-BE49-F238E27FC236}">
                <a16:creationId xmlns:a16="http://schemas.microsoft.com/office/drawing/2014/main" id="{439A0FC1-2EDB-C501-D525-3D5462F9DF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61051" y="3190708"/>
            <a:ext cx="7582871" cy="2863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584109"/>
      </p:ext>
    </p:extLst>
  </p:cSld>
  <p:clrMapOvr>
    <a:masterClrMapping/>
  </p:clrMapOvr>
  <mc:AlternateContent xmlns:mc="http://schemas.openxmlformats.org/markup-compatibility/2006" xmlns:p14="http://schemas.microsoft.com/office/powerpoint/2010/main">
    <mc:Choice Requires="p14">
      <p:transition spd="slow" p14:dur="1250" advClick="0">
        <p14:switch dir="r"/>
      </p:transition>
    </mc:Choice>
    <mc:Fallback xmlns="">
      <p:transition spd="slow" advClick="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par>
                                <p:cTn id="11" presetID="10" presetClass="entr" presetSubtype="0" fill="hold" nodeType="withEffect">
                                  <p:stCondLst>
                                    <p:cond delay="0"/>
                                  </p:stCondLst>
                                  <p:childTnLst>
                                    <p:set>
                                      <p:cBhvr>
                                        <p:cTn id="12" dur="1" fill="hold">
                                          <p:stCondLst>
                                            <p:cond delay="0"/>
                                          </p:stCondLst>
                                        </p:cTn>
                                        <p:tgtEl>
                                          <p:spTgt spid="7">
                                            <p:txEl>
                                              <p:pRg st="0" end="0"/>
                                            </p:txEl>
                                          </p:spTgt>
                                        </p:tgtEl>
                                        <p:attrNameLst>
                                          <p:attrName>style.visibility</p:attrName>
                                        </p:attrNameLst>
                                      </p:cBhvr>
                                      <p:to>
                                        <p:strVal val="visible"/>
                                      </p:to>
                                    </p:set>
                                    <p:animEffect transition="in" filter="fade">
                                      <p:cBhvr>
                                        <p:cTn id="13"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4" name="Picture 2" descr="Tập tin:Logo DAI NAM.png – Wikipedia tiếng Việt">
            <a:extLst>
              <a:ext uri="{FF2B5EF4-FFF2-40B4-BE49-F238E27FC236}">
                <a16:creationId xmlns:a16="http://schemas.microsoft.com/office/drawing/2014/main" id="{703E257D-BB40-B1A9-90FF-98532BF6B7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5264" y="1"/>
            <a:ext cx="1401654" cy="1107348"/>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29A3515-DCC2-8AC2-9691-1826ACF53319}"/>
              </a:ext>
            </a:extLst>
          </p:cNvPr>
          <p:cNvPicPr>
            <a:picLocks noChangeAspect="1"/>
          </p:cNvPicPr>
          <p:nvPr/>
        </p:nvPicPr>
        <p:blipFill>
          <a:blip r:embed="rId3"/>
          <a:stretch>
            <a:fillRect/>
          </a:stretch>
        </p:blipFill>
        <p:spPr>
          <a:xfrm>
            <a:off x="0" y="6278880"/>
            <a:ext cx="12192000" cy="579120"/>
          </a:xfrm>
          <a:prstGeom prst="rect">
            <a:avLst/>
          </a:prstGeom>
        </p:spPr>
      </p:pic>
      <p:sp>
        <p:nvSpPr>
          <p:cNvPr id="8" name="TextBox 7">
            <a:extLst>
              <a:ext uri="{FF2B5EF4-FFF2-40B4-BE49-F238E27FC236}">
                <a16:creationId xmlns:a16="http://schemas.microsoft.com/office/drawing/2014/main" id="{1C18503A-C6D2-DEFE-1058-5D337FA0EE53}"/>
              </a:ext>
            </a:extLst>
          </p:cNvPr>
          <p:cNvSpPr txBox="1"/>
          <p:nvPr/>
        </p:nvSpPr>
        <p:spPr>
          <a:xfrm>
            <a:off x="10172700" y="6409828"/>
            <a:ext cx="1581150"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4</a:t>
            </a:r>
          </a:p>
        </p:txBody>
      </p:sp>
      <p:sp>
        <p:nvSpPr>
          <p:cNvPr id="17" name="Title 16">
            <a:extLst>
              <a:ext uri="{FF2B5EF4-FFF2-40B4-BE49-F238E27FC236}">
                <a16:creationId xmlns:a16="http://schemas.microsoft.com/office/drawing/2014/main" id="{8B2F43B8-97CA-0431-79BA-E0F972512F10}"/>
              </a:ext>
            </a:extLst>
          </p:cNvPr>
          <p:cNvSpPr>
            <a:spLocks noGrp="1"/>
          </p:cNvSpPr>
          <p:nvPr>
            <p:ph type="title"/>
          </p:nvPr>
        </p:nvSpPr>
        <p:spPr>
          <a:xfrm>
            <a:off x="447869" y="1851136"/>
            <a:ext cx="10515600" cy="1325563"/>
          </a:xfrm>
        </p:spPr>
        <p:txBody>
          <a:bodyPr>
            <a:normAutofit fontScale="90000"/>
          </a:bodyPr>
          <a:lstStyle/>
          <a:p>
            <a:r>
              <a:rPr lang="vi-VN" sz="2200" b="1" dirty="0"/>
              <a:t>1.1 Định nghĩa đệ quy</a:t>
            </a:r>
            <a:br>
              <a:rPr lang="vi-VN" b="1" dirty="0"/>
            </a:br>
            <a:r>
              <a:rPr lang="en-US" sz="2100" b="1" dirty="0"/>
              <a:t>-</a:t>
            </a:r>
            <a:r>
              <a:rPr lang="vi-VN" sz="2100" dirty="0"/>
              <a:t>Đệ quy là một phương pháp trong lập trình, trong đó một hàm tự gọi chính nó. Phương pháp này dựa trên khả năng phân chia bài toán lớn thành các bài toán con tương đương, đến khi bài toán được giải quyết hoàn toàn.</a:t>
            </a:r>
            <a:br>
              <a:rPr lang="vi-VN" sz="2100" dirty="0"/>
            </a:br>
            <a:r>
              <a:rPr lang="vi-VN" sz="2100" b="1" dirty="0"/>
              <a:t>Các tính chất chính:</a:t>
            </a:r>
            <a:br>
              <a:rPr lang="vi-VN" sz="2100" dirty="0"/>
            </a:br>
            <a:r>
              <a:rPr lang="vi-VN" sz="2100" b="1" dirty="0"/>
              <a:t>Tình đệ quy:</a:t>
            </a:r>
            <a:r>
              <a:rPr lang="vi-VN" sz="2100" dirty="0"/>
              <a:t> Hàm gọi lại chính nó.</a:t>
            </a:r>
            <a:br>
              <a:rPr lang="vi-VN" sz="2100" dirty="0"/>
            </a:br>
            <a:r>
              <a:rPr lang="vi-VN" sz="2100" b="1" dirty="0"/>
              <a:t>Cơ sở dừng:</a:t>
            </a:r>
            <a:r>
              <a:rPr lang="vi-VN" sz="2100" dirty="0"/>
              <a:t> </a:t>
            </a:r>
            <a:r>
              <a:rPr lang="vi-VN" sz="2100" dirty="0" err="1"/>
              <a:t>Mỗt</a:t>
            </a:r>
            <a:r>
              <a:rPr lang="vi-VN" sz="2100" dirty="0"/>
              <a:t> điều kiện chọn để kết thúc việc gọi hàm.</a:t>
            </a:r>
            <a:br>
              <a:rPr lang="vi-VN" sz="2100" dirty="0"/>
            </a:br>
            <a:endParaRPr lang="en-US" sz="2100" dirty="0"/>
          </a:p>
        </p:txBody>
      </p:sp>
      <p:sp>
        <p:nvSpPr>
          <p:cNvPr id="18" name="TextBox 17">
            <a:extLst>
              <a:ext uri="{FF2B5EF4-FFF2-40B4-BE49-F238E27FC236}">
                <a16:creationId xmlns:a16="http://schemas.microsoft.com/office/drawing/2014/main" id="{CE7E82F5-72C6-1228-5140-8AEC5EE0042A}"/>
              </a:ext>
            </a:extLst>
          </p:cNvPr>
          <p:cNvSpPr txBox="1"/>
          <p:nvPr/>
        </p:nvSpPr>
        <p:spPr>
          <a:xfrm>
            <a:off x="447869" y="3611569"/>
            <a:ext cx="9386596" cy="1569660"/>
          </a:xfrm>
          <a:prstGeom prst="rect">
            <a:avLst/>
          </a:prstGeom>
          <a:noFill/>
        </p:spPr>
        <p:txBody>
          <a:bodyPr wrap="square" rtlCol="0">
            <a:spAutoFit/>
          </a:bodyPr>
          <a:lstStyle/>
          <a:p>
            <a:r>
              <a:rPr lang="vi-VN" sz="2000" b="1" dirty="0"/>
              <a:t>1.2 Các loại đệ quy</a:t>
            </a:r>
          </a:p>
          <a:p>
            <a:r>
              <a:rPr lang="vi-VN" sz="1900" b="1" dirty="0"/>
              <a:t>Đệ quy trực tiếp:</a:t>
            </a:r>
            <a:r>
              <a:rPr lang="vi-VN" sz="1900" dirty="0"/>
              <a:t> Hàm tự gọi lại chính nó.</a:t>
            </a:r>
          </a:p>
          <a:p>
            <a:r>
              <a:rPr lang="vi-VN" sz="1900" b="1" dirty="0"/>
              <a:t>Đệ quy gián tiếp:</a:t>
            </a:r>
            <a:r>
              <a:rPr lang="vi-VN" sz="1900" dirty="0"/>
              <a:t> Hàm gọi qua một hoặc nhiều hàm khác trồ lại gọi chính nó.</a:t>
            </a:r>
          </a:p>
          <a:p>
            <a:r>
              <a:rPr lang="vi-VN" sz="1900" b="1" dirty="0"/>
              <a:t>Đệ quy tuyến tính:</a:t>
            </a:r>
            <a:r>
              <a:rPr lang="vi-VN" sz="1900" dirty="0"/>
              <a:t> Mỗi lời gọi đệ quy chỉ xuất hiện một lần trong hàm.</a:t>
            </a:r>
          </a:p>
          <a:p>
            <a:r>
              <a:rPr lang="vi-VN" sz="1900" b="1" dirty="0"/>
              <a:t>Đệ quy phi tuyến tính:</a:t>
            </a:r>
            <a:r>
              <a:rPr lang="vi-VN" sz="1900" dirty="0"/>
              <a:t> Có nhiều hơn một lời gọi đệ quy trong hàm.</a:t>
            </a:r>
          </a:p>
        </p:txBody>
      </p:sp>
    </p:spTree>
    <p:extLst>
      <p:ext uri="{BB962C8B-B14F-4D97-AF65-F5344CB8AC3E}">
        <p14:creationId xmlns:p14="http://schemas.microsoft.com/office/powerpoint/2010/main" val="1120144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4" name="Picture 2" descr="Tập tin:Logo DAI NAM.png – Wikipedia tiếng Việt">
            <a:extLst>
              <a:ext uri="{FF2B5EF4-FFF2-40B4-BE49-F238E27FC236}">
                <a16:creationId xmlns:a16="http://schemas.microsoft.com/office/drawing/2014/main" id="{5742C88F-D4B8-ECD6-C09E-94A2DB60C0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35264" y="1"/>
            <a:ext cx="1505804" cy="118963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4098728B-8943-0762-662A-47083F5B111F}"/>
              </a:ext>
            </a:extLst>
          </p:cNvPr>
          <p:cNvPicPr>
            <a:picLocks noChangeAspect="1"/>
          </p:cNvPicPr>
          <p:nvPr/>
        </p:nvPicPr>
        <p:blipFill>
          <a:blip r:embed="rId3"/>
          <a:stretch>
            <a:fillRect/>
          </a:stretch>
        </p:blipFill>
        <p:spPr>
          <a:xfrm>
            <a:off x="0" y="6278880"/>
            <a:ext cx="12192000" cy="579120"/>
          </a:xfrm>
          <a:prstGeom prst="rect">
            <a:avLst/>
          </a:prstGeom>
        </p:spPr>
      </p:pic>
      <p:sp>
        <p:nvSpPr>
          <p:cNvPr id="7" name="TextBox 6">
            <a:extLst>
              <a:ext uri="{FF2B5EF4-FFF2-40B4-BE49-F238E27FC236}">
                <a16:creationId xmlns:a16="http://schemas.microsoft.com/office/drawing/2014/main" id="{5CEB6526-5483-54C5-57B6-6DC3A0D37448}"/>
              </a:ext>
            </a:extLst>
          </p:cNvPr>
          <p:cNvSpPr txBox="1"/>
          <p:nvPr/>
        </p:nvSpPr>
        <p:spPr>
          <a:xfrm>
            <a:off x="10201275" y="6383774"/>
            <a:ext cx="1495425"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5</a:t>
            </a:r>
          </a:p>
        </p:txBody>
      </p:sp>
      <p:sp>
        <p:nvSpPr>
          <p:cNvPr id="9" name="Title 8">
            <a:extLst>
              <a:ext uri="{FF2B5EF4-FFF2-40B4-BE49-F238E27FC236}">
                <a16:creationId xmlns:a16="http://schemas.microsoft.com/office/drawing/2014/main" id="{86218D3E-CB66-23AD-6593-685001092841}"/>
              </a:ext>
            </a:extLst>
          </p:cNvPr>
          <p:cNvSpPr>
            <a:spLocks noGrp="1"/>
          </p:cNvSpPr>
          <p:nvPr>
            <p:ph type="title"/>
          </p:nvPr>
        </p:nvSpPr>
        <p:spPr>
          <a:xfrm>
            <a:off x="642257" y="1745911"/>
            <a:ext cx="10515600" cy="502767"/>
          </a:xfrm>
        </p:spPr>
        <p:txBody>
          <a:bodyPr>
            <a:normAutofit fontScale="90000"/>
          </a:bodyPr>
          <a:lstStyle/>
          <a:p>
            <a:r>
              <a:rPr lang="vi-VN" sz="1000" dirty="0"/>
              <a:t>.</a:t>
            </a:r>
            <a:br>
              <a:rPr lang="vi-VN" sz="1000" dirty="0"/>
            </a:br>
            <a:endParaRPr lang="en-US" sz="2000" dirty="0"/>
          </a:p>
        </p:txBody>
      </p:sp>
      <p:sp>
        <p:nvSpPr>
          <p:cNvPr id="10" name="TextBox 9">
            <a:extLst>
              <a:ext uri="{FF2B5EF4-FFF2-40B4-BE49-F238E27FC236}">
                <a16:creationId xmlns:a16="http://schemas.microsoft.com/office/drawing/2014/main" id="{DC7E3F6C-7AF0-70CB-7E0D-EE5765889805}"/>
              </a:ext>
            </a:extLst>
          </p:cNvPr>
          <p:cNvSpPr txBox="1"/>
          <p:nvPr/>
        </p:nvSpPr>
        <p:spPr>
          <a:xfrm>
            <a:off x="261972" y="1545856"/>
            <a:ext cx="6839339" cy="400110"/>
          </a:xfrm>
          <a:prstGeom prst="rect">
            <a:avLst/>
          </a:prstGeom>
          <a:noFill/>
        </p:spPr>
        <p:txBody>
          <a:bodyPr wrap="square" rtlCol="0">
            <a:spAutoFit/>
          </a:bodyPr>
          <a:lstStyle/>
          <a:p>
            <a:r>
              <a:rPr lang="vi-VN" sz="2000" b="1" dirty="0"/>
              <a:t>1.3 Ưu điểm và nhược điểm</a:t>
            </a:r>
          </a:p>
        </p:txBody>
      </p:sp>
      <p:sp>
        <p:nvSpPr>
          <p:cNvPr id="20" name="Rectangle 7">
            <a:extLst>
              <a:ext uri="{FF2B5EF4-FFF2-40B4-BE49-F238E27FC236}">
                <a16:creationId xmlns:a16="http://schemas.microsoft.com/office/drawing/2014/main" id="{96AA7439-D068-EBE5-1201-A74E16E80C9C}"/>
              </a:ext>
            </a:extLst>
          </p:cNvPr>
          <p:cNvSpPr>
            <a:spLocks noChangeArrowheads="1"/>
          </p:cNvSpPr>
          <p:nvPr/>
        </p:nvSpPr>
        <p:spPr bwMode="auto">
          <a:xfrm>
            <a:off x="261972" y="2001838"/>
            <a:ext cx="754565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err="1">
                <a:ln>
                  <a:noFill/>
                </a:ln>
                <a:solidFill>
                  <a:schemeClr val="tx1"/>
                </a:solidFill>
                <a:effectLst/>
                <a:latin typeface="Arial" panose="020B0604020202020204" pitchFamily="34" charset="0"/>
              </a:rPr>
              <a:t>Ưu</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điểm</a:t>
            </a:r>
            <a:r>
              <a:rPr kumimoji="0" lang="en-US" altLang="en-US" sz="1800" b="1" i="0" u="none" strike="noStrike" cap="none" normalizeH="0" baseline="0" dirty="0">
                <a:ln>
                  <a:noFill/>
                </a:ln>
                <a:solidFill>
                  <a:schemeClr val="tx1"/>
                </a:solidFill>
                <a:effectLst/>
                <a:latin typeface="Arial" panose="020B0604020202020204" pitchFamily="34" charset="0"/>
              </a:rPr>
              <a:t>:</a:t>
            </a: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-Thích </a:t>
            </a:r>
            <a:r>
              <a:rPr kumimoji="0" lang="en-US" altLang="en-US" b="0" i="0" u="none" strike="noStrike" cap="none" normalizeH="0" baseline="0" dirty="0" err="1">
                <a:ln>
                  <a:noFill/>
                </a:ln>
                <a:solidFill>
                  <a:schemeClr val="tx1"/>
                </a:solidFill>
                <a:effectLst/>
                <a:latin typeface="Arial" panose="020B0604020202020204" pitchFamily="34" charset="0"/>
              </a:rPr>
              <a:t>hợp</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với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bài</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toán</a:t>
            </a:r>
            <a:r>
              <a:rPr kumimoji="0" lang="en-US" altLang="en-US" b="0" i="0" u="none" strike="noStrike" cap="none" normalizeH="0" baseline="0" dirty="0">
                <a:ln>
                  <a:noFill/>
                </a:ln>
                <a:solidFill>
                  <a:schemeClr val="tx1"/>
                </a:solidFill>
                <a:effectLst/>
                <a:latin typeface="Arial" panose="020B0604020202020204" pitchFamily="34" charset="0"/>
              </a:rPr>
              <a:t> </a:t>
            </a:r>
            <a:r>
              <a:rPr kumimoji="0" lang="en-US" altLang="en-US" b="0" i="0" u="none" strike="noStrike" cap="none" normalizeH="0" baseline="0" dirty="0" err="1">
                <a:ln>
                  <a:noFill/>
                </a:ln>
                <a:solidFill>
                  <a:schemeClr val="tx1"/>
                </a:solidFill>
                <a:effectLst/>
                <a:latin typeface="Arial" panose="020B0604020202020204" pitchFamily="34" charset="0"/>
              </a:rPr>
              <a:t>phân</a:t>
            </a:r>
            <a:r>
              <a:rPr kumimoji="0" lang="en-US" altLang="en-US" b="0" i="0" u="none" strike="noStrike" cap="none" normalizeH="0" baseline="0" dirty="0">
                <a:ln>
                  <a:noFill/>
                </a:ln>
                <a:solidFill>
                  <a:schemeClr val="tx1"/>
                </a:solidFill>
                <a:effectLst/>
                <a:latin typeface="Arial" panose="020B0604020202020204" pitchFamily="34" charset="0"/>
              </a:rPr>
              <a:t> chia </a:t>
            </a:r>
            <a:r>
              <a:rPr kumimoji="0" lang="en-US" altLang="en-US" b="0" i="0" u="none" strike="noStrike" cap="none" normalizeH="0" baseline="0" dirty="0" err="1">
                <a:ln>
                  <a:noFill/>
                </a:ln>
                <a:solidFill>
                  <a:schemeClr val="tx1"/>
                </a:solidFill>
                <a:effectLst/>
                <a:latin typeface="Arial" panose="020B0604020202020204" pitchFamily="34" charset="0"/>
              </a:rPr>
              <a:t>nhỏ</a:t>
            </a:r>
            <a:r>
              <a:rPr kumimoji="0" lang="en-US" altLang="en-US" b="0" i="0" u="none" strike="noStrike" cap="none" normalizeH="0" baseline="0" dirty="0">
                <a:ln>
                  <a:noFill/>
                </a:ln>
                <a:solidFill>
                  <a:schemeClr val="tx1"/>
                </a:solidFill>
                <a:effectLst/>
                <a:latin typeface="Arial" panose="020B0604020202020204" pitchFamily="34" charset="0"/>
              </a:rPr>
              <a:t> (Divide and Conquer).</a:t>
            </a:r>
          </a:p>
          <a:p>
            <a:pPr eaLnBrk="0" fontAlgn="base" hangingPunct="0">
              <a:spcBef>
                <a:spcPct val="0"/>
              </a:spcBef>
              <a:spcAft>
                <a:spcPct val="0"/>
              </a:spcAft>
            </a:pPr>
            <a:r>
              <a:rPr lang="en-US" dirty="0"/>
              <a:t>-</a:t>
            </a:r>
            <a:r>
              <a:rPr lang="vi-VN" dirty="0"/>
              <a:t>Mã nguồn ngắn gọn, dễ hiểu với người lập trình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pPr>
            <a:r>
              <a:rPr kumimoji="0" lang="en-US" altLang="en-US" sz="1800" b="1" i="0" u="none" strike="noStrike" cap="none" normalizeH="0" baseline="0" dirty="0" err="1">
                <a:ln>
                  <a:noFill/>
                </a:ln>
                <a:solidFill>
                  <a:schemeClr val="tx1"/>
                </a:solidFill>
                <a:effectLst/>
                <a:latin typeface="Arial" panose="020B0604020202020204" pitchFamily="34" charset="0"/>
              </a:rPr>
              <a:t>Nhược</a:t>
            </a:r>
            <a:r>
              <a:rPr kumimoji="0" lang="en-US" altLang="en-US" sz="1800" b="1" i="0" u="none" strike="noStrike" cap="none" normalizeH="0" baseline="0" dirty="0">
                <a:ln>
                  <a:noFill/>
                </a:ln>
                <a:solidFill>
                  <a:schemeClr val="tx1"/>
                </a:solidFill>
                <a:effectLst/>
                <a:latin typeface="Arial" panose="020B0604020202020204" pitchFamily="34" charset="0"/>
              </a:rPr>
              <a:t> </a:t>
            </a:r>
            <a:r>
              <a:rPr kumimoji="0" lang="en-US" altLang="en-US" sz="1800" b="1" i="0" u="none" strike="noStrike" cap="none" normalizeH="0" baseline="0" dirty="0" err="1">
                <a:ln>
                  <a:noFill/>
                </a:ln>
                <a:solidFill>
                  <a:schemeClr val="tx1"/>
                </a:solidFill>
                <a:effectLst/>
                <a:latin typeface="Arial" panose="020B0604020202020204" pitchFamily="34" charset="0"/>
              </a:rPr>
              <a:t>điểm</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Tiêu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tốn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bộ</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nhớ</a:t>
            </a:r>
            <a:r>
              <a:rPr kumimoji="0" lang="en-US" altLang="en-US" sz="1800" b="0" i="0" u="none" strike="noStrike" cap="none" normalizeH="0" baseline="0" dirty="0">
                <a:ln>
                  <a:noFill/>
                </a:ln>
                <a:solidFill>
                  <a:schemeClr val="tx1"/>
                </a:solidFill>
                <a:effectLst/>
                <a:latin typeface="Arial" panose="020B0604020202020204" pitchFamily="34" charset="0"/>
              </a:rPr>
              <a:t> do </a:t>
            </a:r>
            <a:r>
              <a:rPr kumimoji="0" lang="en-US" altLang="en-US" sz="1800" b="0" i="0" u="none" strike="noStrike" cap="none" normalizeH="0" baseline="0" dirty="0" err="1">
                <a:ln>
                  <a:noFill/>
                </a:ln>
                <a:solidFill>
                  <a:schemeClr val="tx1"/>
                </a:solidFill>
                <a:effectLst/>
                <a:latin typeface="Arial" panose="020B0604020202020204" pitchFamily="34" charset="0"/>
              </a:rPr>
              <a:t>quá</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trình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lưu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ngăn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xếp</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r>
              <a:rPr lang="en-US" altLang="en-US" dirty="0">
                <a:latin typeface="Arial" panose="020B0604020202020204" pitchFamily="34" charset="0"/>
              </a:rPr>
              <a:t>-</a:t>
            </a:r>
            <a:r>
              <a:rPr kumimoji="0" lang="en-US" altLang="en-US" sz="1800" b="0" i="0" u="none" strike="noStrike" cap="none" normalizeH="0" baseline="0" dirty="0" err="1">
                <a:ln>
                  <a:noFill/>
                </a:ln>
                <a:solidFill>
                  <a:schemeClr val="tx1"/>
                </a:solidFill>
                <a:effectLst/>
                <a:latin typeface="Arial" panose="020B0604020202020204" pitchFamily="34" charset="0"/>
              </a:rPr>
              <a:t>Dễ</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gây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lỗi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tràn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ngăn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xếp</a:t>
            </a:r>
            <a:r>
              <a:rPr kumimoji="0" lang="en-US" altLang="en-US" sz="1800" b="0" i="0" u="none" strike="noStrike" cap="none" normalizeH="0" baseline="0" dirty="0">
                <a:ln>
                  <a:noFill/>
                </a:ln>
                <a:solidFill>
                  <a:schemeClr val="tx1"/>
                </a:solidFill>
                <a:effectLst/>
                <a:latin typeface="Arial" panose="020B0604020202020204" pitchFamily="34" charset="0"/>
              </a:rPr>
              <a:t> (stack overflow) </a:t>
            </a:r>
            <a:r>
              <a:rPr kumimoji="0" lang="en-US" altLang="en-US" sz="1800" b="0" i="0" u="none" strike="noStrike" cap="none" normalizeH="0" baseline="0" dirty="0" err="1">
                <a:ln>
                  <a:noFill/>
                </a:ln>
                <a:solidFill>
                  <a:schemeClr val="tx1"/>
                </a:solidFill>
                <a:effectLst/>
                <a:latin typeface="Arial" panose="020B0604020202020204" pitchFamily="34" charset="0"/>
              </a:rPr>
              <a:t>nếu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không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có</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điều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dừng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950017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B33DC6A-1F1C-4A06-834E-CFF88F1C0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Freeform: Shape 12">
            <a:extLst>
              <a:ext uri="{FF2B5EF4-FFF2-40B4-BE49-F238E27FC236}">
                <a16:creationId xmlns:a16="http://schemas.microsoft.com/office/drawing/2014/main" id="{0FE1D5CF-87B8-4A8A-AD3C-01D06A6076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6208641" cy="6858000"/>
          </a:xfrm>
          <a:custGeom>
            <a:avLst/>
            <a:gdLst>
              <a:gd name="connsiteX0" fmla="*/ 0 w 6208641"/>
              <a:gd name="connsiteY0" fmla="*/ 0 h 6858000"/>
              <a:gd name="connsiteX1" fmla="*/ 5464181 w 6208641"/>
              <a:gd name="connsiteY1" fmla="*/ 0 h 6858000"/>
              <a:gd name="connsiteX2" fmla="*/ 5538086 w 6208641"/>
              <a:gd name="connsiteY2" fmla="*/ 159684 h 6858000"/>
              <a:gd name="connsiteX3" fmla="*/ 6208641 w 6208641"/>
              <a:gd name="connsiteY3" fmla="*/ 3706589 h 6858000"/>
              <a:gd name="connsiteX4" fmla="*/ 5734754 w 6208641"/>
              <a:gd name="connsiteY4" fmla="*/ 6730443 h 6858000"/>
              <a:gd name="connsiteX5" fmla="*/ 5689361 w 6208641"/>
              <a:gd name="connsiteY5" fmla="*/ 6858000 h 6858000"/>
              <a:gd name="connsiteX6" fmla="*/ 0 w 620864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8641" h="6858000">
                <a:moveTo>
                  <a:pt x="0" y="0"/>
                </a:moveTo>
                <a:lnTo>
                  <a:pt x="5464181" y="0"/>
                </a:lnTo>
                <a:lnTo>
                  <a:pt x="5538086" y="159684"/>
                </a:lnTo>
                <a:cubicBezTo>
                  <a:pt x="5961440" y="1172168"/>
                  <a:pt x="6208641" y="2392735"/>
                  <a:pt x="6208641" y="3706589"/>
                </a:cubicBezTo>
                <a:cubicBezTo>
                  <a:pt x="6208641" y="4801467"/>
                  <a:pt x="6036974" y="5831563"/>
                  <a:pt x="5734754" y="6730443"/>
                </a:cubicBezTo>
                <a:lnTo>
                  <a:pt x="568936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5" name="Freeform: Shape 14">
            <a:extLst>
              <a:ext uri="{FF2B5EF4-FFF2-40B4-BE49-F238E27FC236}">
                <a16:creationId xmlns:a16="http://schemas.microsoft.com/office/drawing/2014/main" id="{60926200-45C2-41E9-839F-31CD5FE4CD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203325" cy="6858000"/>
          </a:xfrm>
          <a:custGeom>
            <a:avLst/>
            <a:gdLst>
              <a:gd name="connsiteX0" fmla="*/ 0 w 6203325"/>
              <a:gd name="connsiteY0" fmla="*/ 0 h 6858000"/>
              <a:gd name="connsiteX1" fmla="*/ 5458865 w 6203325"/>
              <a:gd name="connsiteY1" fmla="*/ 0 h 6858000"/>
              <a:gd name="connsiteX2" fmla="*/ 5532770 w 6203325"/>
              <a:gd name="connsiteY2" fmla="*/ 159684 h 6858000"/>
              <a:gd name="connsiteX3" fmla="*/ 6203325 w 6203325"/>
              <a:gd name="connsiteY3" fmla="*/ 3706589 h 6858000"/>
              <a:gd name="connsiteX4" fmla="*/ 5729438 w 6203325"/>
              <a:gd name="connsiteY4" fmla="*/ 6730443 h 6858000"/>
              <a:gd name="connsiteX5" fmla="*/ 5684045 w 6203325"/>
              <a:gd name="connsiteY5" fmla="*/ 6858000 h 6858000"/>
              <a:gd name="connsiteX6" fmla="*/ 0 w 6203325"/>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03325" h="6858000">
                <a:moveTo>
                  <a:pt x="0" y="0"/>
                </a:moveTo>
                <a:lnTo>
                  <a:pt x="5458865" y="0"/>
                </a:lnTo>
                <a:lnTo>
                  <a:pt x="5532770" y="159684"/>
                </a:lnTo>
                <a:cubicBezTo>
                  <a:pt x="5956124" y="1172168"/>
                  <a:pt x="6203325" y="2392735"/>
                  <a:pt x="6203325" y="3706589"/>
                </a:cubicBezTo>
                <a:cubicBezTo>
                  <a:pt x="6203325" y="4801467"/>
                  <a:pt x="6031658" y="5831563"/>
                  <a:pt x="5729438" y="6730443"/>
                </a:cubicBezTo>
                <a:lnTo>
                  <a:pt x="5684045"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67989"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4" name="Picture 3">
            <a:extLst>
              <a:ext uri="{FF2B5EF4-FFF2-40B4-BE49-F238E27FC236}">
                <a16:creationId xmlns:a16="http://schemas.microsoft.com/office/drawing/2014/main" id="{A8B0BFE8-3CA4-FD41-2735-914700463DC6}"/>
              </a:ext>
            </a:extLst>
          </p:cNvPr>
          <p:cNvPicPr>
            <a:picLocks noChangeAspect="1"/>
          </p:cNvPicPr>
          <p:nvPr/>
        </p:nvPicPr>
        <p:blipFill>
          <a:blip r:embed="rId2"/>
          <a:stretch>
            <a:fillRect/>
          </a:stretch>
        </p:blipFill>
        <p:spPr>
          <a:xfrm>
            <a:off x="5351371" y="0"/>
            <a:ext cx="1199531" cy="946003"/>
          </a:xfrm>
          <a:prstGeom prst="rect">
            <a:avLst/>
          </a:prstGeom>
        </p:spPr>
      </p:pic>
      <p:sp>
        <p:nvSpPr>
          <p:cNvPr id="19" name="Rectangle 18">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9098" y="4546920"/>
            <a:ext cx="5019074"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3166CE9F-3147-8C5E-1FFC-ADE174B3CAA0}"/>
              </a:ext>
            </a:extLst>
          </p:cNvPr>
          <p:cNvPicPr>
            <a:picLocks noChangeAspect="1"/>
          </p:cNvPicPr>
          <p:nvPr/>
        </p:nvPicPr>
        <p:blipFill>
          <a:blip r:embed="rId3"/>
          <a:stretch>
            <a:fillRect/>
          </a:stretch>
        </p:blipFill>
        <p:spPr>
          <a:xfrm>
            <a:off x="0" y="6278880"/>
            <a:ext cx="12192000" cy="579120"/>
          </a:xfrm>
          <a:prstGeom prst="rect">
            <a:avLst/>
          </a:prstGeom>
        </p:spPr>
      </p:pic>
      <p:sp>
        <p:nvSpPr>
          <p:cNvPr id="5" name="TextBox 4">
            <a:extLst>
              <a:ext uri="{FF2B5EF4-FFF2-40B4-BE49-F238E27FC236}">
                <a16:creationId xmlns:a16="http://schemas.microsoft.com/office/drawing/2014/main" id="{4208F00B-CCEC-C48F-2421-1AFAE263FD47}"/>
              </a:ext>
            </a:extLst>
          </p:cNvPr>
          <p:cNvSpPr txBox="1"/>
          <p:nvPr/>
        </p:nvSpPr>
        <p:spPr>
          <a:xfrm>
            <a:off x="10311695" y="6340502"/>
            <a:ext cx="1367624"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7</a:t>
            </a:r>
          </a:p>
        </p:txBody>
      </p:sp>
      <p:sp>
        <p:nvSpPr>
          <p:cNvPr id="8" name="Title 7">
            <a:extLst>
              <a:ext uri="{FF2B5EF4-FFF2-40B4-BE49-F238E27FC236}">
                <a16:creationId xmlns:a16="http://schemas.microsoft.com/office/drawing/2014/main" id="{EEE7A499-6EEB-AFD7-C9CB-41769EA12B59}"/>
              </a:ext>
            </a:extLst>
          </p:cNvPr>
          <p:cNvSpPr>
            <a:spLocks noGrp="1"/>
          </p:cNvSpPr>
          <p:nvPr>
            <p:ph type="title"/>
          </p:nvPr>
        </p:nvSpPr>
        <p:spPr>
          <a:xfrm>
            <a:off x="250372" y="1151096"/>
            <a:ext cx="10515600" cy="1325563"/>
          </a:xfrm>
        </p:spPr>
        <p:txBody>
          <a:bodyPr/>
          <a:lstStyle/>
          <a:p>
            <a:r>
              <a:rPr lang="en-US" b="1" dirty="0" err="1">
                <a:solidFill>
                  <a:srgbClr val="C00000"/>
                </a:solidFill>
              </a:rPr>
              <a:t>Chương</a:t>
            </a:r>
            <a:r>
              <a:rPr lang="en-US" b="1" dirty="0">
                <a:solidFill>
                  <a:srgbClr val="C00000"/>
                </a:solidFill>
              </a:rPr>
              <a:t> II: </a:t>
            </a:r>
            <a:br>
              <a:rPr lang="en-US" dirty="0"/>
            </a:br>
            <a:r>
              <a:rPr lang="en-US" sz="2400" b="1" dirty="0" err="1">
                <a:solidFill>
                  <a:srgbClr val="7030A0"/>
                </a:solidFill>
              </a:rPr>
              <a:t>Nguyên</a:t>
            </a:r>
            <a:r>
              <a:rPr lang="en-US" sz="2400" b="1" dirty="0">
                <a:solidFill>
                  <a:srgbClr val="7030A0"/>
                </a:solidFill>
              </a:rPr>
              <a:t> </a:t>
            </a:r>
            <a:r>
              <a:rPr lang="en-US" sz="2400" b="1" dirty="0" err="1">
                <a:solidFill>
                  <a:srgbClr val="7030A0"/>
                </a:solidFill>
              </a:rPr>
              <a:t>lý</a:t>
            </a:r>
            <a:r>
              <a:rPr lang="en-US" sz="2400" b="1" dirty="0">
                <a:solidFill>
                  <a:srgbClr val="7030A0"/>
                </a:solidFill>
              </a:rPr>
              <a:t> </a:t>
            </a:r>
            <a:r>
              <a:rPr lang="en-US" sz="2400" b="1" dirty="0" err="1">
                <a:solidFill>
                  <a:srgbClr val="7030A0"/>
                </a:solidFill>
              </a:rPr>
              <a:t>hoạt</a:t>
            </a:r>
            <a:r>
              <a:rPr lang="en-US" sz="2400" b="1" dirty="0">
                <a:solidFill>
                  <a:srgbClr val="7030A0"/>
                </a:solidFill>
              </a:rPr>
              <a:t> </a:t>
            </a:r>
            <a:r>
              <a:rPr lang="en-US" sz="2400" b="1" dirty="0" err="1">
                <a:solidFill>
                  <a:srgbClr val="7030A0"/>
                </a:solidFill>
              </a:rPr>
              <a:t>động</a:t>
            </a:r>
            <a:r>
              <a:rPr lang="en-US" sz="2400" b="1" dirty="0">
                <a:solidFill>
                  <a:srgbClr val="7030A0"/>
                </a:solidFill>
              </a:rPr>
              <a:t> </a:t>
            </a:r>
            <a:r>
              <a:rPr lang="en-US" sz="2400" b="1" dirty="0" err="1">
                <a:solidFill>
                  <a:srgbClr val="7030A0"/>
                </a:solidFill>
              </a:rPr>
              <a:t>của</a:t>
            </a:r>
            <a:r>
              <a:rPr lang="en-US" sz="2400" b="1" dirty="0">
                <a:solidFill>
                  <a:srgbClr val="7030A0"/>
                </a:solidFill>
              </a:rPr>
              <a:t> </a:t>
            </a:r>
            <a:r>
              <a:rPr lang="en-US" sz="2400" b="1" dirty="0" err="1">
                <a:solidFill>
                  <a:srgbClr val="7030A0"/>
                </a:solidFill>
              </a:rPr>
              <a:t>đệ</a:t>
            </a:r>
            <a:r>
              <a:rPr lang="en-US" sz="2400" b="1" dirty="0">
                <a:solidFill>
                  <a:srgbClr val="7030A0"/>
                </a:solidFill>
              </a:rPr>
              <a:t> </a:t>
            </a:r>
            <a:r>
              <a:rPr lang="en-US" sz="2400" b="1" dirty="0" err="1">
                <a:solidFill>
                  <a:srgbClr val="7030A0"/>
                </a:solidFill>
              </a:rPr>
              <a:t>quy</a:t>
            </a:r>
            <a:r>
              <a:rPr lang="en-US" sz="2400" b="1" dirty="0">
                <a:solidFill>
                  <a:srgbClr val="7030A0"/>
                </a:solidFill>
              </a:rPr>
              <a:t> </a:t>
            </a:r>
          </a:p>
        </p:txBody>
      </p:sp>
      <p:pic>
        <p:nvPicPr>
          <p:cNvPr id="3074" name="Picture 2" descr="Chương Trình Đệ Quy Hoạt Động Như Thế Nào? | CodeLearn">
            <a:extLst>
              <a:ext uri="{FF2B5EF4-FFF2-40B4-BE49-F238E27FC236}">
                <a16:creationId xmlns:a16="http://schemas.microsoft.com/office/drawing/2014/main" id="{5B2D88CB-BD47-8133-E51D-ABAE525386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03325" y="1932065"/>
            <a:ext cx="5988675" cy="40286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9628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7BC241-0BD5-0F18-8A80-2D71BE3828CD}"/>
              </a:ext>
            </a:extLst>
          </p:cNvPr>
          <p:cNvPicPr>
            <a:picLocks noChangeAspect="1"/>
          </p:cNvPicPr>
          <p:nvPr/>
        </p:nvPicPr>
        <p:blipFill>
          <a:blip r:embed="rId2"/>
          <a:stretch>
            <a:fillRect/>
          </a:stretch>
        </p:blipFill>
        <p:spPr>
          <a:xfrm>
            <a:off x="5393267" y="1"/>
            <a:ext cx="1386912" cy="1090340"/>
          </a:xfrm>
          <a:prstGeom prst="rect">
            <a:avLst/>
          </a:prstGeom>
        </p:spPr>
      </p:pic>
      <p:pic>
        <p:nvPicPr>
          <p:cNvPr id="7" name="Picture 6">
            <a:extLst>
              <a:ext uri="{FF2B5EF4-FFF2-40B4-BE49-F238E27FC236}">
                <a16:creationId xmlns:a16="http://schemas.microsoft.com/office/drawing/2014/main" id="{9CC009B7-EF78-ED3E-A214-2B2D3D505065}"/>
              </a:ext>
            </a:extLst>
          </p:cNvPr>
          <p:cNvPicPr>
            <a:picLocks noChangeAspect="1"/>
          </p:cNvPicPr>
          <p:nvPr/>
        </p:nvPicPr>
        <p:blipFill>
          <a:blip r:embed="rId3"/>
          <a:stretch>
            <a:fillRect/>
          </a:stretch>
        </p:blipFill>
        <p:spPr>
          <a:xfrm>
            <a:off x="0" y="6278880"/>
            <a:ext cx="12192000" cy="579120"/>
          </a:xfrm>
          <a:prstGeom prst="rect">
            <a:avLst/>
          </a:prstGeom>
        </p:spPr>
      </p:pic>
      <p:sp>
        <p:nvSpPr>
          <p:cNvPr id="8" name="TextBox 7">
            <a:extLst>
              <a:ext uri="{FF2B5EF4-FFF2-40B4-BE49-F238E27FC236}">
                <a16:creationId xmlns:a16="http://schemas.microsoft.com/office/drawing/2014/main" id="{AD19324E-D294-16E8-51C0-A2CF1A2E11A7}"/>
              </a:ext>
            </a:extLst>
          </p:cNvPr>
          <p:cNvSpPr txBox="1"/>
          <p:nvPr/>
        </p:nvSpPr>
        <p:spPr>
          <a:xfrm>
            <a:off x="10248896" y="6383774"/>
            <a:ext cx="1465237"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8</a:t>
            </a:r>
          </a:p>
        </p:txBody>
      </p:sp>
      <p:sp>
        <p:nvSpPr>
          <p:cNvPr id="11" name="Title 10">
            <a:extLst>
              <a:ext uri="{FF2B5EF4-FFF2-40B4-BE49-F238E27FC236}">
                <a16:creationId xmlns:a16="http://schemas.microsoft.com/office/drawing/2014/main" id="{CEAB9D97-1ED4-33F7-5303-11CE961A9878}"/>
              </a:ext>
            </a:extLst>
          </p:cNvPr>
          <p:cNvSpPr>
            <a:spLocks noGrp="1"/>
          </p:cNvSpPr>
          <p:nvPr>
            <p:ph type="title"/>
          </p:nvPr>
        </p:nvSpPr>
        <p:spPr>
          <a:xfrm>
            <a:off x="623595" y="1267058"/>
            <a:ext cx="4079033" cy="739024"/>
          </a:xfrm>
        </p:spPr>
        <p:txBody>
          <a:bodyPr>
            <a:normAutofit/>
          </a:bodyPr>
          <a:lstStyle/>
          <a:p>
            <a:r>
              <a:rPr lang="en-US" sz="2000" b="1" dirty="0"/>
              <a:t>2.1 </a:t>
            </a:r>
            <a:r>
              <a:rPr lang="en-US" sz="2000" b="1" dirty="0" err="1"/>
              <a:t>Cấu</a:t>
            </a:r>
            <a:r>
              <a:rPr lang="en-US" sz="2000" b="1" dirty="0"/>
              <a:t> </a:t>
            </a:r>
            <a:r>
              <a:rPr lang="en-US" sz="2000" b="1" dirty="0" err="1"/>
              <a:t>trúc</a:t>
            </a:r>
            <a:r>
              <a:rPr lang="en-US" sz="2000" b="1" dirty="0"/>
              <a:t> </a:t>
            </a:r>
            <a:r>
              <a:rPr lang="en-US" sz="2000" b="1" dirty="0" err="1"/>
              <a:t>của</a:t>
            </a:r>
            <a:r>
              <a:rPr lang="en-US" sz="2000" b="1" dirty="0"/>
              <a:t> </a:t>
            </a:r>
            <a:r>
              <a:rPr lang="en-US" sz="2000" b="1" dirty="0" err="1"/>
              <a:t>một</a:t>
            </a:r>
            <a:r>
              <a:rPr lang="en-US" sz="2000" b="1" dirty="0"/>
              <a:t> </a:t>
            </a:r>
            <a:r>
              <a:rPr lang="en-US" sz="2000" b="1" dirty="0" err="1"/>
              <a:t>giải</a:t>
            </a:r>
            <a:r>
              <a:rPr lang="en-US" sz="2000" b="1" dirty="0"/>
              <a:t> </a:t>
            </a:r>
            <a:r>
              <a:rPr lang="en-US" sz="2000" b="1" dirty="0" err="1"/>
              <a:t>thuật</a:t>
            </a:r>
            <a:r>
              <a:rPr lang="en-US" sz="2000" b="1" dirty="0"/>
              <a:t> </a:t>
            </a:r>
            <a:r>
              <a:rPr lang="en-US" sz="2000" b="1" dirty="0" err="1"/>
              <a:t>đệ</a:t>
            </a:r>
            <a:r>
              <a:rPr lang="en-US" sz="2000" b="1" dirty="0"/>
              <a:t> </a:t>
            </a:r>
            <a:r>
              <a:rPr lang="en-US" sz="2000" b="1" dirty="0" err="1"/>
              <a:t>quy</a:t>
            </a:r>
            <a:endParaRPr lang="en-US" sz="2000" b="1" dirty="0"/>
          </a:p>
        </p:txBody>
      </p:sp>
      <p:sp>
        <p:nvSpPr>
          <p:cNvPr id="12" name="TextBox 11">
            <a:extLst>
              <a:ext uri="{FF2B5EF4-FFF2-40B4-BE49-F238E27FC236}">
                <a16:creationId xmlns:a16="http://schemas.microsoft.com/office/drawing/2014/main" id="{A27F728D-9722-91F5-716F-5030056D1EB7}"/>
              </a:ext>
            </a:extLst>
          </p:cNvPr>
          <p:cNvSpPr txBox="1"/>
          <p:nvPr/>
        </p:nvSpPr>
        <p:spPr>
          <a:xfrm>
            <a:off x="623595" y="2005171"/>
            <a:ext cx="8070980" cy="1261884"/>
          </a:xfrm>
          <a:prstGeom prst="rect">
            <a:avLst/>
          </a:prstGeom>
          <a:noFill/>
        </p:spPr>
        <p:txBody>
          <a:bodyPr wrap="square" rtlCol="0">
            <a:spAutoFit/>
          </a:bodyPr>
          <a:lstStyle/>
          <a:p>
            <a:r>
              <a:rPr lang="vi-VN" sz="1900" dirty="0"/>
              <a:t>Một giải thuật đệ quy gồm ba phần chính:</a:t>
            </a:r>
          </a:p>
          <a:p>
            <a:pPr>
              <a:buFont typeface="+mj-lt"/>
              <a:buAutoNum type="arabicPeriod"/>
            </a:pPr>
            <a:r>
              <a:rPr lang="vi-VN" sz="1900" b="1" dirty="0"/>
              <a:t>Điều kiện dừng:</a:t>
            </a:r>
            <a:r>
              <a:rPr lang="vi-VN" sz="1900" dirty="0"/>
              <a:t> Là điều kiện </a:t>
            </a:r>
            <a:r>
              <a:rPr lang="vi-VN" sz="1900" dirty="0" err="1"/>
              <a:t>dịnh</a:t>
            </a:r>
            <a:r>
              <a:rPr lang="vi-VN" sz="1900" dirty="0"/>
              <a:t> nghĩa để kết thúc việc gọi hàm.</a:t>
            </a:r>
          </a:p>
          <a:p>
            <a:pPr>
              <a:buFont typeface="+mj-lt"/>
              <a:buAutoNum type="arabicPeriod"/>
            </a:pPr>
            <a:r>
              <a:rPr lang="vi-VN" sz="1900" b="1" dirty="0"/>
              <a:t>Gọi đệ quy:</a:t>
            </a:r>
            <a:r>
              <a:rPr lang="vi-VN" sz="1900" dirty="0"/>
              <a:t> Lời gọi chính nó với dữ liệu con nhỏ hơn.</a:t>
            </a:r>
          </a:p>
          <a:p>
            <a:pPr>
              <a:buFont typeface="+mj-lt"/>
              <a:buAutoNum type="arabicPeriod"/>
            </a:pPr>
            <a:r>
              <a:rPr lang="vi-VN" sz="1900" b="1" dirty="0"/>
              <a:t>Xử lý sau khi gọi:</a:t>
            </a:r>
            <a:r>
              <a:rPr lang="vi-VN" sz="1900" dirty="0"/>
              <a:t> Xử lý kết quả trả về từ lời gọi đệ quy</a:t>
            </a:r>
          </a:p>
        </p:txBody>
      </p:sp>
      <p:sp>
        <p:nvSpPr>
          <p:cNvPr id="13" name="TextBox 12">
            <a:extLst>
              <a:ext uri="{FF2B5EF4-FFF2-40B4-BE49-F238E27FC236}">
                <a16:creationId xmlns:a16="http://schemas.microsoft.com/office/drawing/2014/main" id="{75D1A555-0CC3-C2B4-ED4B-0269E7F297C7}"/>
              </a:ext>
            </a:extLst>
          </p:cNvPr>
          <p:cNvSpPr txBox="1"/>
          <p:nvPr/>
        </p:nvSpPr>
        <p:spPr>
          <a:xfrm>
            <a:off x="623595" y="3328060"/>
            <a:ext cx="3984172" cy="677108"/>
          </a:xfrm>
          <a:prstGeom prst="rect">
            <a:avLst/>
          </a:prstGeom>
          <a:noFill/>
        </p:spPr>
        <p:txBody>
          <a:bodyPr wrap="square" rtlCol="0">
            <a:spAutoFit/>
          </a:bodyPr>
          <a:lstStyle/>
          <a:p>
            <a:r>
              <a:rPr lang="en-US" sz="1900" b="1" dirty="0" err="1"/>
              <a:t>Ví</a:t>
            </a:r>
            <a:r>
              <a:rPr lang="en-US" sz="1900" b="1" dirty="0"/>
              <a:t> </a:t>
            </a:r>
            <a:r>
              <a:rPr lang="en-US" sz="1900" b="1" dirty="0" err="1"/>
              <a:t>dụ</a:t>
            </a:r>
            <a:r>
              <a:rPr lang="en-US" sz="1900" b="1" dirty="0"/>
              <a:t>:</a:t>
            </a:r>
            <a:r>
              <a:rPr lang="en-US" sz="1900" dirty="0"/>
              <a:t> </a:t>
            </a:r>
            <a:r>
              <a:rPr lang="en-US" sz="1900" dirty="0" err="1"/>
              <a:t>Hàm</a:t>
            </a:r>
            <a:r>
              <a:rPr lang="en-US" sz="1900" dirty="0"/>
              <a:t> </a:t>
            </a:r>
            <a:r>
              <a:rPr lang="en-US" sz="1900" dirty="0" err="1"/>
              <a:t>tính</a:t>
            </a:r>
            <a:r>
              <a:rPr lang="en-US" sz="1900" dirty="0"/>
              <a:t> </a:t>
            </a:r>
            <a:r>
              <a:rPr lang="en-US" sz="1900" dirty="0" err="1"/>
              <a:t>giai</a:t>
            </a:r>
            <a:r>
              <a:rPr lang="en-US" sz="1900" dirty="0"/>
              <a:t> </a:t>
            </a:r>
            <a:r>
              <a:rPr lang="en-US" sz="1900" dirty="0" err="1"/>
              <a:t>thừa</a:t>
            </a:r>
            <a:r>
              <a:rPr lang="en-US" sz="1900" dirty="0"/>
              <a:t> </a:t>
            </a:r>
            <a:r>
              <a:rPr lang="en-US" sz="1900" dirty="0" err="1"/>
              <a:t>có</a:t>
            </a:r>
            <a:r>
              <a:rPr lang="en-US" sz="1900" dirty="0"/>
              <a:t> </a:t>
            </a:r>
            <a:r>
              <a:rPr lang="en-US" sz="1900" dirty="0" err="1"/>
              <a:t>cấu</a:t>
            </a:r>
            <a:r>
              <a:rPr lang="en-US" sz="1900" dirty="0"/>
              <a:t> </a:t>
            </a:r>
            <a:r>
              <a:rPr lang="en-US" sz="1900" dirty="0" err="1"/>
              <a:t>trúc</a:t>
            </a:r>
            <a:r>
              <a:rPr lang="en-US" sz="1900" dirty="0"/>
              <a:t>:</a:t>
            </a:r>
          </a:p>
          <a:p>
            <a:endParaRPr lang="en-US" sz="1900" dirty="0"/>
          </a:p>
        </p:txBody>
      </p:sp>
      <p:pic>
        <p:nvPicPr>
          <p:cNvPr id="15" name="Picture 14">
            <a:extLst>
              <a:ext uri="{FF2B5EF4-FFF2-40B4-BE49-F238E27FC236}">
                <a16:creationId xmlns:a16="http://schemas.microsoft.com/office/drawing/2014/main" id="{F76CE339-765E-58CD-6F9F-99896A9FE5EB}"/>
              </a:ext>
            </a:extLst>
          </p:cNvPr>
          <p:cNvPicPr>
            <a:picLocks noChangeAspect="1"/>
          </p:cNvPicPr>
          <p:nvPr/>
        </p:nvPicPr>
        <p:blipFill>
          <a:blip r:embed="rId4"/>
          <a:stretch>
            <a:fillRect/>
          </a:stretch>
        </p:blipFill>
        <p:spPr>
          <a:xfrm>
            <a:off x="1375767" y="4066173"/>
            <a:ext cx="8526065" cy="1286054"/>
          </a:xfrm>
          <a:prstGeom prst="rect">
            <a:avLst/>
          </a:prstGeom>
        </p:spPr>
      </p:pic>
    </p:spTree>
    <p:extLst>
      <p:ext uri="{BB962C8B-B14F-4D97-AF65-F5344CB8AC3E}">
        <p14:creationId xmlns:p14="http://schemas.microsoft.com/office/powerpoint/2010/main" val="3669383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9792D2-BC37-9CE4-D762-3C97E0BBD9B6}"/>
              </a:ext>
            </a:extLst>
          </p:cNvPr>
          <p:cNvPicPr>
            <a:picLocks noChangeAspect="1"/>
          </p:cNvPicPr>
          <p:nvPr/>
        </p:nvPicPr>
        <p:blipFill>
          <a:blip r:embed="rId2"/>
          <a:stretch>
            <a:fillRect/>
          </a:stretch>
        </p:blipFill>
        <p:spPr>
          <a:xfrm>
            <a:off x="5250477" y="0"/>
            <a:ext cx="1455123" cy="1143964"/>
          </a:xfrm>
          <a:prstGeom prst="rect">
            <a:avLst/>
          </a:prstGeom>
        </p:spPr>
      </p:pic>
      <p:pic>
        <p:nvPicPr>
          <p:cNvPr id="2" name="Picture 1">
            <a:extLst>
              <a:ext uri="{FF2B5EF4-FFF2-40B4-BE49-F238E27FC236}">
                <a16:creationId xmlns:a16="http://schemas.microsoft.com/office/drawing/2014/main" id="{E3AB3E3C-E61E-3C2C-AC6C-91AA4840630A}"/>
              </a:ext>
            </a:extLst>
          </p:cNvPr>
          <p:cNvPicPr>
            <a:picLocks noChangeAspect="1"/>
          </p:cNvPicPr>
          <p:nvPr/>
        </p:nvPicPr>
        <p:blipFill>
          <a:blip r:embed="rId3"/>
          <a:stretch>
            <a:fillRect/>
          </a:stretch>
        </p:blipFill>
        <p:spPr>
          <a:xfrm>
            <a:off x="0" y="6278880"/>
            <a:ext cx="12192000" cy="579120"/>
          </a:xfrm>
          <a:prstGeom prst="rect">
            <a:avLst/>
          </a:prstGeom>
        </p:spPr>
      </p:pic>
      <p:sp>
        <p:nvSpPr>
          <p:cNvPr id="3" name="TextBox 2">
            <a:extLst>
              <a:ext uri="{FF2B5EF4-FFF2-40B4-BE49-F238E27FC236}">
                <a16:creationId xmlns:a16="http://schemas.microsoft.com/office/drawing/2014/main" id="{4E96A0D8-116C-A6AF-DC7A-42BC3262A770}"/>
              </a:ext>
            </a:extLst>
          </p:cNvPr>
          <p:cNvSpPr txBox="1"/>
          <p:nvPr/>
        </p:nvSpPr>
        <p:spPr>
          <a:xfrm>
            <a:off x="10116766" y="6383774"/>
            <a:ext cx="1600201"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9</a:t>
            </a:r>
          </a:p>
        </p:txBody>
      </p:sp>
      <p:sp>
        <p:nvSpPr>
          <p:cNvPr id="6" name="TextBox 5">
            <a:extLst>
              <a:ext uri="{FF2B5EF4-FFF2-40B4-BE49-F238E27FC236}">
                <a16:creationId xmlns:a16="http://schemas.microsoft.com/office/drawing/2014/main" id="{722BD446-3BDE-E0F2-417B-FEDAB837EF34}"/>
              </a:ext>
            </a:extLst>
          </p:cNvPr>
          <p:cNvSpPr txBox="1"/>
          <p:nvPr/>
        </p:nvSpPr>
        <p:spPr>
          <a:xfrm>
            <a:off x="363943" y="1240971"/>
            <a:ext cx="5327779" cy="707886"/>
          </a:xfrm>
          <a:prstGeom prst="rect">
            <a:avLst/>
          </a:prstGeom>
          <a:noFill/>
        </p:spPr>
        <p:txBody>
          <a:bodyPr wrap="square" rtlCol="0">
            <a:spAutoFit/>
          </a:bodyPr>
          <a:lstStyle/>
          <a:p>
            <a:r>
              <a:rPr lang="en-US" sz="2000" b="1" dirty="0"/>
              <a:t>2.2 </a:t>
            </a:r>
            <a:r>
              <a:rPr lang="en-US" sz="2000" b="1" dirty="0" err="1"/>
              <a:t>Cách</a:t>
            </a:r>
            <a:r>
              <a:rPr lang="en-US" sz="2000" b="1" dirty="0"/>
              <a:t> </a:t>
            </a:r>
            <a:r>
              <a:rPr lang="en-US" sz="2000" b="1" dirty="0" err="1"/>
              <a:t>hoạt</a:t>
            </a:r>
            <a:r>
              <a:rPr lang="en-US" sz="2000" b="1" dirty="0"/>
              <a:t> </a:t>
            </a:r>
            <a:r>
              <a:rPr lang="en-US" sz="2000" b="1" dirty="0" err="1"/>
              <a:t>động</a:t>
            </a:r>
            <a:r>
              <a:rPr lang="en-US" sz="2000" b="1" dirty="0"/>
              <a:t> </a:t>
            </a:r>
            <a:r>
              <a:rPr lang="en-US" sz="2000" b="1" dirty="0" err="1"/>
              <a:t>của</a:t>
            </a:r>
            <a:r>
              <a:rPr lang="en-US" sz="2000" b="1" dirty="0"/>
              <a:t> </a:t>
            </a:r>
            <a:r>
              <a:rPr lang="en-US" sz="2000" b="1" dirty="0" err="1"/>
              <a:t>ngăn</a:t>
            </a:r>
            <a:r>
              <a:rPr lang="en-US" sz="2000" b="1" dirty="0"/>
              <a:t> </a:t>
            </a:r>
            <a:r>
              <a:rPr lang="en-US" sz="2000" b="1" dirty="0" err="1"/>
              <a:t>xếp</a:t>
            </a:r>
            <a:r>
              <a:rPr lang="en-US" sz="2000" b="1" dirty="0"/>
              <a:t> </a:t>
            </a:r>
            <a:r>
              <a:rPr lang="en-US" sz="2000" b="1" dirty="0" err="1"/>
              <a:t>trong</a:t>
            </a:r>
            <a:r>
              <a:rPr lang="en-US" sz="2000" b="1" dirty="0"/>
              <a:t> </a:t>
            </a:r>
            <a:r>
              <a:rPr lang="en-US" sz="2000" b="1" dirty="0" err="1"/>
              <a:t>đệ</a:t>
            </a:r>
            <a:r>
              <a:rPr lang="en-US" sz="2000" b="1" dirty="0"/>
              <a:t> </a:t>
            </a:r>
            <a:r>
              <a:rPr lang="en-US" sz="2000" b="1" dirty="0" err="1"/>
              <a:t>quy</a:t>
            </a:r>
            <a:endParaRPr lang="en-US" sz="2000" b="1" dirty="0"/>
          </a:p>
          <a:p>
            <a:endParaRPr lang="en-US" sz="2000" dirty="0"/>
          </a:p>
        </p:txBody>
      </p:sp>
      <p:sp>
        <p:nvSpPr>
          <p:cNvPr id="13" name="Rectangle 1">
            <a:extLst>
              <a:ext uri="{FF2B5EF4-FFF2-40B4-BE49-F238E27FC236}">
                <a16:creationId xmlns:a16="http://schemas.microsoft.com/office/drawing/2014/main" id="{A3F35D73-2487-A271-7912-95B9AF5A6B57}"/>
              </a:ext>
            </a:extLst>
          </p:cNvPr>
          <p:cNvSpPr>
            <a:spLocks noChangeArrowheads="1"/>
          </p:cNvSpPr>
          <p:nvPr/>
        </p:nvSpPr>
        <p:spPr bwMode="auto">
          <a:xfrm>
            <a:off x="363943" y="1739045"/>
            <a:ext cx="10552923"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Khi </a:t>
            </a:r>
            <a:r>
              <a:rPr kumimoji="0" lang="en-US" altLang="en-US" sz="1800" b="0" i="0" u="none" strike="noStrike" cap="none" normalizeH="0" baseline="0" dirty="0" err="1">
                <a:ln>
                  <a:noFill/>
                </a:ln>
                <a:solidFill>
                  <a:schemeClr val="tx1"/>
                </a:solidFill>
                <a:effectLst/>
                <a:latin typeface="Arial" panose="020B0604020202020204" pitchFamily="34" charset="0"/>
              </a:rPr>
              <a:t>mỗt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hàm</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được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gọi</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err="1">
                <a:ln>
                  <a:noFill/>
                </a:ln>
                <a:solidFill>
                  <a:schemeClr val="tx1"/>
                </a:solidFill>
                <a:effectLst/>
                <a:latin typeface="Arial" panose="020B0604020202020204" pitchFamily="34" charset="0"/>
              </a:rPr>
              <a:t>Mỗi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lời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gọi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đệ</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lưu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trạng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thái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hiện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tại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lên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ngăn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xếp</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Arial" panose="020B0604020202020204" pitchFamily="34" charset="0"/>
              </a:rPr>
              <a:t>Sau </a:t>
            </a:r>
            <a:r>
              <a:rPr kumimoji="0" lang="en-US" altLang="en-US" sz="1800" b="0" i="0" u="none" strike="noStrike" cap="none" normalizeH="0" baseline="0" dirty="0" err="1">
                <a:ln>
                  <a:noFill/>
                </a:ln>
                <a:solidFill>
                  <a:schemeClr val="tx1"/>
                </a:solidFill>
                <a:effectLst/>
                <a:latin typeface="Arial" panose="020B0604020202020204" pitchFamily="34" charset="0"/>
              </a:rPr>
              <a:t>khi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điều</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kiện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dừng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được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đáp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ứng</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ngăn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xếp</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sẽ</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lần</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lượt</a:t>
            </a:r>
            <a:r>
              <a:rPr kumimoji="0" lang="en-US" altLang="en-US" sz="1800" b="0" i="0" u="none" strike="noStrike" cap="none" normalizeH="0" baseline="0" dirty="0">
                <a:ln>
                  <a:noFill/>
                </a:ln>
                <a:solidFill>
                  <a:schemeClr val="tx1"/>
                </a:solidFill>
                <a:effectLst/>
                <a:latin typeface="Arial" panose="020B0604020202020204" pitchFamily="34" charset="0"/>
              </a:rPr>
              <a:t> pop </a:t>
            </a:r>
            <a:r>
              <a:rPr kumimoji="0" lang="en-US" altLang="en-US" sz="1800" b="0" i="0" u="none" strike="noStrike" cap="none" normalizeH="0" baseline="0" dirty="0" err="1">
                <a:ln>
                  <a:noFill/>
                </a:ln>
                <a:solidFill>
                  <a:schemeClr val="tx1"/>
                </a:solidFill>
                <a:effectLst/>
                <a:latin typeface="Arial" panose="020B0604020202020204" pitchFamily="34" charset="0"/>
              </a:rPr>
              <a:t>kết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trả</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về</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Minh </a:t>
            </a:r>
            <a:r>
              <a:rPr kumimoji="0" lang="en-US" altLang="en-US" sz="1600" b="1" i="0" u="none" strike="noStrike" cap="none" normalizeH="0" baseline="0" dirty="0" err="1">
                <a:ln>
                  <a:noFill/>
                </a:ln>
                <a:solidFill>
                  <a:schemeClr val="tx1"/>
                </a:solidFill>
                <a:effectLst/>
                <a:latin typeface="Arial" panose="020B0604020202020204" pitchFamily="34" charset="0"/>
              </a:rPr>
              <a:t>hoạ</a:t>
            </a:r>
            <a:r>
              <a:rPr kumimoji="0" lang="en-US" altLang="en-US" sz="1600" b="1" i="0" u="none" strike="noStrike" cap="none" normalizeH="0" baseline="0" dirty="0">
                <a:ln>
                  <a:noFill/>
                </a:ln>
                <a:solidFill>
                  <a:schemeClr val="tx1"/>
                </a:solidFill>
                <a:effectLst/>
                <a:latin typeface="Arial" panose="020B0604020202020204" pitchFamily="34" charset="0"/>
              </a:rPr>
              <a:t>:</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Tính</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Unicode MS"/>
              </a:rPr>
              <a:t>factorial(3)</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7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Gọi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700" b="0" i="0" u="none" strike="noStrike" cap="none" normalizeH="0" baseline="0" dirty="0">
                <a:ln>
                  <a:noFill/>
                </a:ln>
                <a:solidFill>
                  <a:schemeClr val="tx1"/>
                </a:solidFill>
                <a:effectLst/>
                <a:latin typeface="Arial Unicode MS"/>
              </a:rPr>
              <a:t>factorial(3)</a:t>
            </a:r>
            <a:r>
              <a:rPr kumimoji="0" lang="en-US" altLang="en-US" sz="1700" b="0" i="0" u="none" strike="noStrike" cap="none" normalizeH="0" baseline="0" dirty="0">
                <a:ln>
                  <a:noFill/>
                </a:ln>
                <a:solidFill>
                  <a:schemeClr val="tx1"/>
                </a:solidFill>
                <a:effectLst/>
              </a:rPr>
              <a:t> → </a:t>
            </a:r>
            <a:r>
              <a:rPr kumimoji="0" lang="en-US" altLang="en-US" sz="1700" b="0" i="0" u="none" strike="noStrike" cap="none" normalizeH="0" baseline="0" dirty="0">
                <a:ln>
                  <a:noFill/>
                </a:ln>
                <a:solidFill>
                  <a:schemeClr val="tx1"/>
                </a:solidFill>
                <a:effectLst/>
                <a:latin typeface="Arial Unicode MS"/>
              </a:rPr>
              <a:t>factorial(2)</a:t>
            </a:r>
            <a:r>
              <a:rPr kumimoji="0" lang="en-US" altLang="en-US" sz="1700" b="0" i="0" u="none" strike="noStrike" cap="none" normalizeH="0" baseline="0" dirty="0">
                <a:ln>
                  <a:noFill/>
                </a:ln>
                <a:solidFill>
                  <a:schemeClr val="tx1"/>
                </a:solidFill>
                <a:effectLst/>
              </a:rPr>
              <a:t> → </a:t>
            </a:r>
            <a:r>
              <a:rPr kumimoji="0" lang="en-US" altLang="en-US" sz="1700" b="0" i="0" u="none" strike="noStrike" cap="none" normalizeH="0" baseline="0" dirty="0">
                <a:ln>
                  <a:noFill/>
                </a:ln>
                <a:solidFill>
                  <a:schemeClr val="tx1"/>
                </a:solidFill>
                <a:effectLst/>
                <a:latin typeface="Arial Unicode MS"/>
              </a:rPr>
              <a:t>factorial(1)</a:t>
            </a:r>
            <a:r>
              <a:rPr kumimoji="0" lang="en-US" altLang="en-US" sz="1700" b="0" i="0" u="none" strike="noStrike" cap="none" normalizeH="0" baseline="0" dirty="0">
                <a:ln>
                  <a:noFill/>
                </a:ln>
                <a:solidFill>
                  <a:schemeClr val="tx1"/>
                </a:solidFill>
                <a:effectLst/>
              </a:rPr>
              <a:t> → </a:t>
            </a:r>
            <a:r>
              <a:rPr kumimoji="0" lang="en-US" altLang="en-US" sz="1700" b="0" i="0" u="none" strike="noStrike" cap="none" normalizeH="0" baseline="0" dirty="0">
                <a:ln>
                  <a:noFill/>
                </a:ln>
                <a:solidFill>
                  <a:schemeClr val="tx1"/>
                </a:solidFill>
                <a:effectLst/>
                <a:latin typeface="Arial Unicode MS"/>
              </a:rPr>
              <a:t>factorial(0)</a:t>
            </a:r>
            <a:r>
              <a:rPr kumimoji="0" lang="en-US" altLang="en-US" sz="1700" b="0" i="0" u="none" strike="noStrike" cap="none" normalizeH="0" baseline="0" dirty="0">
                <a:ln>
                  <a:noFill/>
                </a:ln>
                <a:solidFill>
                  <a:schemeClr val="tx1"/>
                </a:solidFill>
                <a:effectLst/>
              </a:rPr>
              <a:t>.</a:t>
            </a:r>
            <a:endParaRPr kumimoji="0" lang="en-US" altLang="en-US" sz="17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a:ln>
                  <a:noFill/>
                </a:ln>
                <a:solidFill>
                  <a:schemeClr val="tx1"/>
                </a:solidFill>
                <a:effectLst/>
                <a:latin typeface="Arial" panose="020B0604020202020204" pitchFamily="34" charset="0"/>
              </a:rPr>
              <a:t>Kết</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quả</a:t>
            </a:r>
            <a:r>
              <a:rPr kumimoji="0" lang="en-US" altLang="en-US" sz="1800" b="0" i="0" u="none" strike="noStrike" cap="none" normalizeH="0" baseline="0" dirty="0">
                <a:ln>
                  <a:noFill/>
                </a:ln>
                <a:solidFill>
                  <a:schemeClr val="tx1"/>
                </a:solidFill>
                <a:effectLst/>
                <a:latin typeface="Arial" panose="020B0604020202020204" pitchFamily="34" charset="0"/>
              </a:rPr>
              <a:t>: Pop </a:t>
            </a:r>
            <a:r>
              <a:rPr kumimoji="0" lang="en-US" altLang="en-US" sz="1800" b="0" i="0" u="none" strike="noStrike" cap="none" normalizeH="0" baseline="0" dirty="0" err="1">
                <a:ln>
                  <a:noFill/>
                </a:ln>
                <a:solidFill>
                  <a:schemeClr val="tx1"/>
                </a:solidFill>
                <a:effectLst/>
                <a:latin typeface="Arial" panose="020B0604020202020204" pitchFamily="34" charset="0"/>
              </a:rPr>
              <a:t>ngược</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lại</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900" b="0" i="0" u="none" strike="noStrike" cap="none" normalizeH="0" baseline="0" dirty="0">
                <a:ln>
                  <a:noFill/>
                </a:ln>
                <a:solidFill>
                  <a:schemeClr val="tx1"/>
                </a:solidFill>
                <a:effectLst/>
                <a:latin typeface="Arial Unicode MS"/>
              </a:rPr>
              <a:t>1</a:t>
            </a:r>
            <a:r>
              <a:rPr kumimoji="0" lang="en-US" altLang="en-US" sz="1900" b="0" i="0" u="none" strike="noStrike" cap="none" normalizeH="0" baseline="0" dirty="0">
                <a:ln>
                  <a:noFill/>
                </a:ln>
                <a:solidFill>
                  <a:schemeClr val="tx1"/>
                </a:solidFill>
                <a:effectLst/>
              </a:rPr>
              <a:t> → </a:t>
            </a:r>
            <a:r>
              <a:rPr kumimoji="0" lang="en-US" altLang="en-US" sz="1900" b="0" i="0" u="none" strike="noStrike" cap="none" normalizeH="0" baseline="0" dirty="0">
                <a:ln>
                  <a:noFill/>
                </a:ln>
                <a:solidFill>
                  <a:schemeClr val="tx1"/>
                </a:solidFill>
                <a:effectLst/>
                <a:latin typeface="Arial Unicode MS"/>
              </a:rPr>
              <a:t>1*1</a:t>
            </a:r>
            <a:r>
              <a:rPr kumimoji="0" lang="en-US" altLang="en-US" sz="1900" b="0" i="0" u="none" strike="noStrike" cap="none" normalizeH="0" baseline="0" dirty="0">
                <a:ln>
                  <a:noFill/>
                </a:ln>
                <a:solidFill>
                  <a:schemeClr val="tx1"/>
                </a:solidFill>
                <a:effectLst/>
              </a:rPr>
              <a:t> → </a:t>
            </a:r>
            <a:r>
              <a:rPr kumimoji="0" lang="en-US" altLang="en-US" sz="1900" b="0" i="0" u="none" strike="noStrike" cap="none" normalizeH="0" baseline="0" dirty="0">
                <a:ln>
                  <a:noFill/>
                </a:ln>
                <a:solidFill>
                  <a:schemeClr val="tx1"/>
                </a:solidFill>
                <a:effectLst/>
                <a:latin typeface="Arial Unicode MS"/>
              </a:rPr>
              <a:t>2*1</a:t>
            </a:r>
            <a:r>
              <a:rPr kumimoji="0" lang="en-US" altLang="en-US" sz="1900" b="0" i="0" u="none" strike="noStrike" cap="none" normalizeH="0" baseline="0" dirty="0">
                <a:ln>
                  <a:noFill/>
                </a:ln>
                <a:solidFill>
                  <a:schemeClr val="tx1"/>
                </a:solidFill>
                <a:effectLst/>
              </a:rPr>
              <a:t> → </a:t>
            </a:r>
            <a:r>
              <a:rPr kumimoji="0" lang="en-US" altLang="en-US" sz="1900" b="0" i="0" u="none" strike="noStrike" cap="none" normalizeH="0" baseline="0" dirty="0">
                <a:ln>
                  <a:noFill/>
                </a:ln>
                <a:solidFill>
                  <a:schemeClr val="tx1"/>
                </a:solidFill>
                <a:effectLst/>
                <a:latin typeface="Arial Unicode MS"/>
              </a:rPr>
              <a:t>3*2</a:t>
            </a:r>
            <a:r>
              <a:rPr kumimoji="0" lang="en-US" altLang="en-US" sz="1900" b="0" i="0" u="none" strike="noStrike" cap="none" normalizeH="0" baseline="0" dirty="0">
                <a:ln>
                  <a:noFill/>
                </a:ln>
                <a:solidFill>
                  <a:schemeClr val="tx1"/>
                </a:solidFill>
                <a:effectLst/>
              </a:rPr>
              <a:t> = </a:t>
            </a:r>
            <a:r>
              <a:rPr kumimoji="0" lang="en-US" altLang="en-US" sz="1900" b="0" i="0" u="none" strike="noStrike" cap="none" normalizeH="0" baseline="0" dirty="0">
                <a:ln>
                  <a:noFill/>
                </a:ln>
                <a:solidFill>
                  <a:schemeClr val="tx1"/>
                </a:solidFill>
                <a:effectLst/>
                <a:latin typeface="Arial Unicode MS"/>
              </a:rPr>
              <a:t>6</a:t>
            </a:r>
            <a:r>
              <a:rPr kumimoji="0" lang="en-US" altLang="en-US" sz="1900" b="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b="1" i="0" u="none" strike="noStrike" cap="none" normalizeH="0" baseline="0" dirty="0">
                <a:ln>
                  <a:noFill/>
                </a:ln>
                <a:solidFill>
                  <a:schemeClr val="tx1"/>
                </a:solidFill>
                <a:effectLst/>
                <a:latin typeface="Arial" panose="020B0604020202020204" pitchFamily="34" charset="0"/>
              </a:rPr>
              <a:t>2.3 </a:t>
            </a:r>
            <a:r>
              <a:rPr kumimoji="0" lang="en-US" altLang="en-US" sz="1900" b="1" i="0" u="none" strike="noStrike" cap="none" normalizeH="0" baseline="0" dirty="0" err="1">
                <a:ln>
                  <a:noFill/>
                </a:ln>
                <a:solidFill>
                  <a:schemeClr val="tx1"/>
                </a:solidFill>
                <a:effectLst/>
                <a:latin typeface="Arial" panose="020B0604020202020204" pitchFamily="34" charset="0"/>
              </a:rPr>
              <a:t>Ví</a:t>
            </a:r>
            <a:r>
              <a:rPr kumimoji="0" lang="en-US" altLang="en-US" sz="1900" b="1"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err="1">
                <a:ln>
                  <a:noFill/>
                </a:ln>
                <a:solidFill>
                  <a:schemeClr val="tx1"/>
                </a:solidFill>
                <a:effectLst/>
                <a:latin typeface="Arial" panose="020B0604020202020204" pitchFamily="34" charset="0"/>
              </a:rPr>
              <a:t>dụ</a:t>
            </a:r>
            <a:r>
              <a:rPr kumimoji="0" lang="en-US" altLang="en-US" sz="1900" b="1"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err="1">
                <a:ln>
                  <a:noFill/>
                </a:ln>
                <a:solidFill>
                  <a:schemeClr val="tx1"/>
                </a:solidFill>
                <a:effectLst/>
                <a:latin typeface="Arial" panose="020B0604020202020204" pitchFamily="34" charset="0"/>
              </a:rPr>
              <a:t>bài</a:t>
            </a:r>
            <a:r>
              <a:rPr kumimoji="0" lang="en-US" altLang="en-US" sz="1900" b="1"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err="1">
                <a:ln>
                  <a:noFill/>
                </a:ln>
                <a:solidFill>
                  <a:schemeClr val="tx1"/>
                </a:solidFill>
                <a:effectLst/>
                <a:latin typeface="Arial" panose="020B0604020202020204" pitchFamily="34" charset="0"/>
              </a:rPr>
              <a:t>toán</a:t>
            </a:r>
            <a:r>
              <a:rPr kumimoji="0" lang="en-US" altLang="en-US" sz="1900" b="1"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err="1">
                <a:ln>
                  <a:noFill/>
                </a:ln>
                <a:solidFill>
                  <a:schemeClr val="tx1"/>
                </a:solidFill>
                <a:effectLst/>
                <a:latin typeface="Arial" panose="020B0604020202020204" pitchFamily="34" charset="0"/>
              </a:rPr>
              <a:t>đệ</a:t>
            </a:r>
            <a:r>
              <a:rPr kumimoji="0" lang="en-US" altLang="en-US" sz="1900" b="1" i="0" u="none" strike="noStrike" cap="none" normalizeH="0" baseline="0" dirty="0">
                <a:ln>
                  <a:noFill/>
                </a:ln>
                <a:solidFill>
                  <a:schemeClr val="tx1"/>
                </a:solidFill>
                <a:effectLst/>
                <a:latin typeface="Arial" panose="020B0604020202020204" pitchFamily="34" charset="0"/>
              </a:rPr>
              <a:t> </a:t>
            </a:r>
            <a:r>
              <a:rPr kumimoji="0" lang="en-US" altLang="en-US" sz="1900" b="1" i="0" u="none" strike="noStrike" cap="none" normalizeH="0" baseline="0" dirty="0" err="1">
                <a:ln>
                  <a:noFill/>
                </a:ln>
                <a:solidFill>
                  <a:schemeClr val="tx1"/>
                </a:solidFill>
                <a:effectLst/>
                <a:latin typeface="Arial" panose="020B0604020202020204" pitchFamily="34" charset="0"/>
              </a:rPr>
              <a:t>quy</a:t>
            </a:r>
            <a:endParaRPr kumimoji="0" lang="en-US" altLang="en-US" sz="1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i="0" u="none" strike="noStrike" cap="none" normalizeH="0" baseline="0" dirty="0" err="1">
                <a:ln>
                  <a:noFill/>
                </a:ln>
                <a:solidFill>
                  <a:schemeClr val="tx1"/>
                </a:solidFill>
                <a:effectLst/>
                <a:latin typeface="Arial" panose="020B0604020202020204" pitchFamily="34" charset="0"/>
              </a:rPr>
              <a:t>Bài</a:t>
            </a:r>
            <a:r>
              <a:rPr kumimoji="0" lang="en-US" altLang="en-US" sz="1900" i="0" u="none" strike="noStrike" cap="none" normalizeH="0" baseline="0" dirty="0">
                <a:ln>
                  <a:noFill/>
                </a:ln>
                <a:solidFill>
                  <a:schemeClr val="tx1"/>
                </a:solidFill>
                <a:effectLst/>
                <a:latin typeface="Arial" panose="020B0604020202020204" pitchFamily="34" charset="0"/>
              </a:rPr>
              <a:t> </a:t>
            </a:r>
            <a:r>
              <a:rPr kumimoji="0" lang="en-US" altLang="en-US" sz="1900" i="0" u="none" strike="noStrike" cap="none" normalizeH="0" baseline="0" dirty="0" err="1">
                <a:ln>
                  <a:noFill/>
                </a:ln>
                <a:solidFill>
                  <a:schemeClr val="tx1"/>
                </a:solidFill>
                <a:effectLst/>
                <a:latin typeface="Arial" panose="020B0604020202020204" pitchFamily="34" charset="0"/>
              </a:rPr>
              <a:t>toán</a:t>
            </a:r>
            <a:r>
              <a:rPr kumimoji="0" lang="en-US" altLang="en-US" sz="1900" i="0" u="none" strike="noStrike" cap="none" normalizeH="0" baseline="0" dirty="0">
                <a:ln>
                  <a:noFill/>
                </a:ln>
                <a:solidFill>
                  <a:schemeClr val="tx1"/>
                </a:solidFill>
                <a:effectLst/>
                <a:latin typeface="Arial" panose="020B0604020202020204" pitchFamily="34" charset="0"/>
              </a:rPr>
              <a:t> Fibonacci</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900" i="0" u="none" strike="noStrike" cap="none" normalizeH="0" baseline="0" dirty="0" err="1">
                <a:ln>
                  <a:noFill/>
                </a:ln>
                <a:solidFill>
                  <a:schemeClr val="tx1"/>
                </a:solidFill>
                <a:effectLst/>
                <a:latin typeface="Arial" panose="020B0604020202020204" pitchFamily="34" charset="0"/>
              </a:rPr>
              <a:t>Hàm</a:t>
            </a:r>
            <a:r>
              <a:rPr kumimoji="0" lang="en-US" altLang="en-US" sz="1900" i="0" u="none" strike="noStrike" cap="none" normalizeH="0" baseline="0" dirty="0">
                <a:ln>
                  <a:noFill/>
                </a:ln>
                <a:solidFill>
                  <a:schemeClr val="tx1"/>
                </a:solidFill>
                <a:effectLst/>
                <a:latin typeface="Arial" panose="020B0604020202020204" pitchFamily="34" charset="0"/>
              </a:rPr>
              <a:t> </a:t>
            </a:r>
            <a:r>
              <a:rPr kumimoji="0" lang="en-US" altLang="en-US" sz="1900" i="0" u="none" strike="noStrike" cap="none" normalizeH="0" baseline="0" dirty="0" err="1">
                <a:ln>
                  <a:noFill/>
                </a:ln>
                <a:solidFill>
                  <a:schemeClr val="tx1"/>
                </a:solidFill>
                <a:effectLst/>
                <a:latin typeface="Arial" panose="020B0604020202020204" pitchFamily="34" charset="0"/>
              </a:rPr>
              <a:t>tính</a:t>
            </a:r>
            <a:r>
              <a:rPr kumimoji="0" lang="en-US" altLang="en-US" sz="1900" i="0" u="none" strike="noStrike" cap="none" normalizeH="0" baseline="0" dirty="0">
                <a:ln>
                  <a:noFill/>
                </a:ln>
                <a:solidFill>
                  <a:schemeClr val="tx1"/>
                </a:solidFill>
                <a:effectLst/>
                <a:latin typeface="Arial" panose="020B0604020202020204" pitchFamily="34" charset="0"/>
              </a:rPr>
              <a:t> </a:t>
            </a:r>
            <a:r>
              <a:rPr kumimoji="0" lang="en-US" altLang="en-US" sz="1900" i="0" u="none" strike="noStrike" cap="none" normalizeH="0" baseline="0" dirty="0" err="1">
                <a:ln>
                  <a:noFill/>
                </a:ln>
                <a:solidFill>
                  <a:schemeClr val="tx1"/>
                </a:solidFill>
                <a:effectLst/>
                <a:latin typeface="Arial" panose="020B0604020202020204" pitchFamily="34" charset="0"/>
              </a:rPr>
              <a:t>dãy</a:t>
            </a:r>
            <a:r>
              <a:rPr kumimoji="0" lang="en-US" altLang="en-US" sz="1900" i="0" u="none" strike="noStrike" cap="none" normalizeH="0" baseline="0" dirty="0">
                <a:ln>
                  <a:noFill/>
                </a:ln>
                <a:solidFill>
                  <a:schemeClr val="tx1"/>
                </a:solidFill>
                <a:effectLst/>
                <a:latin typeface="Arial" panose="020B0604020202020204" pitchFamily="34" charset="0"/>
              </a:rPr>
              <a:t> Fibonacci:</a:t>
            </a:r>
          </a:p>
        </p:txBody>
      </p:sp>
      <p:pic>
        <p:nvPicPr>
          <p:cNvPr id="15" name="Picture 14">
            <a:extLst>
              <a:ext uri="{FF2B5EF4-FFF2-40B4-BE49-F238E27FC236}">
                <a16:creationId xmlns:a16="http://schemas.microsoft.com/office/drawing/2014/main" id="{E289F857-DB49-F96A-A41F-60C95085D9A9}"/>
              </a:ext>
            </a:extLst>
          </p:cNvPr>
          <p:cNvPicPr>
            <a:picLocks noChangeAspect="1"/>
          </p:cNvPicPr>
          <p:nvPr/>
        </p:nvPicPr>
        <p:blipFill>
          <a:blip r:embed="rId4"/>
          <a:stretch>
            <a:fillRect/>
          </a:stretch>
        </p:blipFill>
        <p:spPr>
          <a:xfrm>
            <a:off x="2272076" y="4895257"/>
            <a:ext cx="8440328" cy="1295581"/>
          </a:xfrm>
          <a:prstGeom prst="rect">
            <a:avLst/>
          </a:prstGeom>
        </p:spPr>
      </p:pic>
    </p:spTree>
    <p:extLst>
      <p:ext uri="{BB962C8B-B14F-4D97-AF65-F5344CB8AC3E}">
        <p14:creationId xmlns:p14="http://schemas.microsoft.com/office/powerpoint/2010/main" val="3558960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grpSp>
        <p:nvGrpSpPr>
          <p:cNvPr id="32" name="Group 31">
            <a:extLst>
              <a:ext uri="{FF2B5EF4-FFF2-40B4-BE49-F238E27FC236}">
                <a16:creationId xmlns:a16="http://schemas.microsoft.com/office/drawing/2014/main" id="{434FA563-76F6-CDCF-AEA0-A7B78E4464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025" y="6737718"/>
            <a:ext cx="12207200" cy="123363"/>
            <a:chOff x="-5025" y="6737718"/>
            <a:chExt cx="12207200" cy="123363"/>
          </a:xfrm>
        </p:grpSpPr>
        <p:sp>
          <p:nvSpPr>
            <p:cNvPr id="33" name="Rectangle 32">
              <a:extLst>
                <a:ext uri="{FF2B5EF4-FFF2-40B4-BE49-F238E27FC236}">
                  <a16:creationId xmlns:a16="http://schemas.microsoft.com/office/drawing/2014/main" id="{1D2E3CAA-F1BA-6695-301D-22564C3828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flipH="1">
              <a:off x="6036894" y="695800"/>
              <a:ext cx="123362" cy="12207199"/>
            </a:xfrm>
            <a:prstGeom prst="rect">
              <a:avLst/>
            </a:prstGeom>
            <a:gradFill>
              <a:gsLst>
                <a:gs pos="0">
                  <a:schemeClr val="accent5"/>
                </a:gs>
                <a:gs pos="100000">
                  <a:schemeClr val="accent2"/>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2F3F0F2C-04A5-144D-BDCF-C387072897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9176406" y="3835311"/>
              <a:ext cx="123362" cy="5928176"/>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a:extLst>
              <a:ext uri="{FF2B5EF4-FFF2-40B4-BE49-F238E27FC236}">
                <a16:creationId xmlns:a16="http://schemas.microsoft.com/office/drawing/2014/main" id="{D3C9029C-0B8E-E573-A654-C140C3204D09}"/>
              </a:ext>
            </a:extLst>
          </p:cNvPr>
          <p:cNvPicPr>
            <a:picLocks noChangeAspect="1"/>
          </p:cNvPicPr>
          <p:nvPr/>
        </p:nvPicPr>
        <p:blipFill>
          <a:blip r:embed="rId2"/>
          <a:stretch>
            <a:fillRect/>
          </a:stretch>
        </p:blipFill>
        <p:spPr>
          <a:xfrm>
            <a:off x="5338768" y="0"/>
            <a:ext cx="1347333" cy="1150241"/>
          </a:xfrm>
          <a:prstGeom prst="rect">
            <a:avLst/>
          </a:prstGeom>
        </p:spPr>
      </p:pic>
      <p:sp>
        <p:nvSpPr>
          <p:cNvPr id="13" name="TextBox 12">
            <a:extLst>
              <a:ext uri="{FF2B5EF4-FFF2-40B4-BE49-F238E27FC236}">
                <a16:creationId xmlns:a16="http://schemas.microsoft.com/office/drawing/2014/main" id="{9BD1CAD0-64EC-9003-1C60-9137AA06F2D4}"/>
              </a:ext>
            </a:extLst>
          </p:cNvPr>
          <p:cNvSpPr txBox="1"/>
          <p:nvPr/>
        </p:nvSpPr>
        <p:spPr>
          <a:xfrm>
            <a:off x="579501" y="1332077"/>
            <a:ext cx="6106600" cy="954107"/>
          </a:xfrm>
          <a:prstGeom prst="rect">
            <a:avLst/>
          </a:prstGeom>
          <a:noFill/>
        </p:spPr>
        <p:txBody>
          <a:bodyPr wrap="square">
            <a:spAutoFit/>
          </a:bodyPr>
          <a:lstStyle/>
          <a:p>
            <a:r>
              <a:rPr lang="en-US" sz="2800" b="1" dirty="0" err="1">
                <a:solidFill>
                  <a:srgbClr val="C00000"/>
                </a:solidFill>
              </a:rPr>
              <a:t>Chương</a:t>
            </a:r>
            <a:r>
              <a:rPr lang="en-US" sz="2800" b="1" dirty="0">
                <a:solidFill>
                  <a:srgbClr val="C00000"/>
                </a:solidFill>
              </a:rPr>
              <a:t> III:</a:t>
            </a:r>
          </a:p>
          <a:p>
            <a:endParaRPr lang="en-US" sz="2800" b="1" u="sng" dirty="0">
              <a:effectLst>
                <a:outerShdw blurRad="38100" dist="38100" dir="2700000" algn="tl">
                  <a:srgbClr val="000000">
                    <a:alpha val="43137"/>
                  </a:srgbClr>
                </a:outerShdw>
              </a:effectLst>
            </a:endParaRPr>
          </a:p>
        </p:txBody>
      </p:sp>
      <p:sp>
        <p:nvSpPr>
          <p:cNvPr id="20" name="TextBox 19">
            <a:extLst>
              <a:ext uri="{FF2B5EF4-FFF2-40B4-BE49-F238E27FC236}">
                <a16:creationId xmlns:a16="http://schemas.microsoft.com/office/drawing/2014/main" id="{72C14141-3220-D7F5-515B-B733A533C36C}"/>
              </a:ext>
            </a:extLst>
          </p:cNvPr>
          <p:cNvSpPr txBox="1"/>
          <p:nvPr/>
        </p:nvSpPr>
        <p:spPr>
          <a:xfrm>
            <a:off x="616646" y="1895184"/>
            <a:ext cx="11314706" cy="1415772"/>
          </a:xfrm>
          <a:prstGeom prst="rect">
            <a:avLst/>
          </a:prstGeom>
          <a:noFill/>
        </p:spPr>
        <p:txBody>
          <a:bodyPr wrap="square">
            <a:spAutoFit/>
          </a:bodyPr>
          <a:lstStyle/>
          <a:p>
            <a:r>
              <a:rPr lang="vi-VN" sz="1900" b="1" dirty="0"/>
              <a:t>3.1 Ứng dụng thực tế</a:t>
            </a:r>
          </a:p>
          <a:p>
            <a:pPr>
              <a:buFont typeface="Arial" panose="020B0604020202020204" pitchFamily="34" charset="0"/>
              <a:buChar char="•"/>
            </a:pPr>
            <a:r>
              <a:rPr lang="vi-VN" sz="1700" b="1" dirty="0"/>
              <a:t>Xử lý chuỗi:</a:t>
            </a:r>
            <a:r>
              <a:rPr lang="vi-VN" sz="1700" dirty="0"/>
              <a:t> Đảo ngược chuỗi bằng đệ quy.</a:t>
            </a:r>
          </a:p>
          <a:p>
            <a:pPr>
              <a:buFont typeface="Arial" panose="020B0604020202020204" pitchFamily="34" charset="0"/>
              <a:buChar char="•"/>
            </a:pPr>
            <a:r>
              <a:rPr lang="vi-VN" sz="1700" b="1" dirty="0"/>
              <a:t>Tìm kiếm nhị phân:</a:t>
            </a:r>
            <a:r>
              <a:rPr lang="vi-VN" sz="1700" dirty="0"/>
              <a:t> Tìm kiếm trong danh sách đã sắp xếp.</a:t>
            </a:r>
          </a:p>
          <a:p>
            <a:pPr>
              <a:buFont typeface="Arial" panose="020B0604020202020204" pitchFamily="34" charset="0"/>
              <a:buChar char="•"/>
            </a:pPr>
            <a:r>
              <a:rPr lang="vi-VN" sz="1700" b="1" dirty="0"/>
              <a:t>Xử lý cây:</a:t>
            </a:r>
            <a:r>
              <a:rPr lang="vi-VN" sz="1700" dirty="0"/>
              <a:t> Duyệt theo chiều sâu (DFS) trong cây nhị phân.</a:t>
            </a:r>
          </a:p>
          <a:p>
            <a:endParaRPr lang="vi-VN" sz="1600" dirty="0"/>
          </a:p>
        </p:txBody>
      </p:sp>
      <p:pic>
        <p:nvPicPr>
          <p:cNvPr id="2" name="Picture 1">
            <a:extLst>
              <a:ext uri="{FF2B5EF4-FFF2-40B4-BE49-F238E27FC236}">
                <a16:creationId xmlns:a16="http://schemas.microsoft.com/office/drawing/2014/main" id="{C490CC07-DF60-40E4-DD69-781B57842B07}"/>
              </a:ext>
            </a:extLst>
          </p:cNvPr>
          <p:cNvPicPr>
            <a:picLocks noChangeAspect="1"/>
          </p:cNvPicPr>
          <p:nvPr/>
        </p:nvPicPr>
        <p:blipFill>
          <a:blip r:embed="rId3"/>
          <a:stretch>
            <a:fillRect/>
          </a:stretch>
        </p:blipFill>
        <p:spPr>
          <a:xfrm>
            <a:off x="0" y="6294272"/>
            <a:ext cx="12192000" cy="579120"/>
          </a:xfrm>
          <a:prstGeom prst="rect">
            <a:avLst/>
          </a:prstGeom>
        </p:spPr>
      </p:pic>
      <p:sp>
        <p:nvSpPr>
          <p:cNvPr id="3" name="TextBox 2">
            <a:extLst>
              <a:ext uri="{FF2B5EF4-FFF2-40B4-BE49-F238E27FC236}">
                <a16:creationId xmlns:a16="http://schemas.microsoft.com/office/drawing/2014/main" id="{C3BE502A-96DC-8E42-41F4-706BC0B8DB3F}"/>
              </a:ext>
            </a:extLst>
          </p:cNvPr>
          <p:cNvSpPr txBox="1"/>
          <p:nvPr/>
        </p:nvSpPr>
        <p:spPr>
          <a:xfrm>
            <a:off x="10137913" y="6399166"/>
            <a:ext cx="1534602"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12</a:t>
            </a:r>
          </a:p>
        </p:txBody>
      </p:sp>
      <p:sp>
        <p:nvSpPr>
          <p:cNvPr id="4" name="TextBox 3">
            <a:extLst>
              <a:ext uri="{FF2B5EF4-FFF2-40B4-BE49-F238E27FC236}">
                <a16:creationId xmlns:a16="http://schemas.microsoft.com/office/drawing/2014/main" id="{00312C04-A11A-09DF-E3A9-3EFD1C3E1F00}"/>
              </a:ext>
            </a:extLst>
          </p:cNvPr>
          <p:cNvSpPr txBox="1"/>
          <p:nvPr/>
        </p:nvSpPr>
        <p:spPr>
          <a:xfrm>
            <a:off x="2323323" y="1437610"/>
            <a:ext cx="5868955" cy="661720"/>
          </a:xfrm>
          <a:prstGeom prst="rect">
            <a:avLst/>
          </a:prstGeom>
          <a:noFill/>
        </p:spPr>
        <p:txBody>
          <a:bodyPr wrap="square" rtlCol="0">
            <a:spAutoFit/>
          </a:bodyPr>
          <a:lstStyle/>
          <a:p>
            <a:r>
              <a:rPr lang="vi-VN" sz="1900" b="1" dirty="0">
                <a:solidFill>
                  <a:srgbClr val="7030A0"/>
                </a:solidFill>
              </a:rPr>
              <a:t>Ứng Dụng và Tối Ưu Hóa Đệ Quy</a:t>
            </a:r>
          </a:p>
          <a:p>
            <a:endParaRPr lang="en-US" dirty="0"/>
          </a:p>
        </p:txBody>
      </p:sp>
      <p:sp>
        <p:nvSpPr>
          <p:cNvPr id="5" name="TextBox 4">
            <a:extLst>
              <a:ext uri="{FF2B5EF4-FFF2-40B4-BE49-F238E27FC236}">
                <a16:creationId xmlns:a16="http://schemas.microsoft.com/office/drawing/2014/main" id="{1A3BB1F1-8245-89CC-EB75-47069B594E01}"/>
              </a:ext>
            </a:extLst>
          </p:cNvPr>
          <p:cNvSpPr txBox="1"/>
          <p:nvPr/>
        </p:nvSpPr>
        <p:spPr>
          <a:xfrm>
            <a:off x="616646" y="3427963"/>
            <a:ext cx="6494106" cy="1708160"/>
          </a:xfrm>
          <a:prstGeom prst="rect">
            <a:avLst/>
          </a:prstGeom>
          <a:noFill/>
        </p:spPr>
        <p:txBody>
          <a:bodyPr wrap="square" rtlCol="0">
            <a:spAutoFit/>
          </a:bodyPr>
          <a:lstStyle/>
          <a:p>
            <a:r>
              <a:rPr lang="vi-VN" sz="1900" b="1" dirty="0"/>
              <a:t>3.2 Tối Ưu hóa đệ quy</a:t>
            </a:r>
          </a:p>
          <a:p>
            <a:r>
              <a:rPr lang="vi-VN" sz="1700" b="1" dirty="0"/>
              <a:t>Quy hoạch động (</a:t>
            </a:r>
            <a:r>
              <a:rPr lang="vi-VN" sz="1700" b="1" dirty="0" err="1"/>
              <a:t>Dynamic</a:t>
            </a:r>
            <a:r>
              <a:rPr lang="vi-VN" sz="1700" b="1" dirty="0"/>
              <a:t> </a:t>
            </a:r>
            <a:r>
              <a:rPr lang="vi-VN" sz="1700" b="1" dirty="0" err="1"/>
              <a:t>Programming</a:t>
            </a:r>
            <a:r>
              <a:rPr lang="vi-VN" sz="1700" b="1" dirty="0"/>
              <a:t>)</a:t>
            </a:r>
          </a:p>
          <a:p>
            <a:pPr>
              <a:buFont typeface="Arial" panose="020B0604020202020204" pitchFamily="34" charset="0"/>
              <a:buChar char="•"/>
            </a:pPr>
            <a:r>
              <a:rPr lang="vi-VN" sz="1700" b="1" dirty="0"/>
              <a:t>Mô tả:</a:t>
            </a:r>
            <a:r>
              <a:rPr lang="vi-VN" sz="1700" dirty="0"/>
              <a:t> Lưu trữ kết quả đã tính để tránh tính lại.</a:t>
            </a:r>
          </a:p>
          <a:p>
            <a:pPr>
              <a:buFont typeface="Arial" panose="020B0604020202020204" pitchFamily="34" charset="0"/>
              <a:buChar char="•"/>
            </a:pPr>
            <a:r>
              <a:rPr lang="vi-VN" sz="1700" b="1" dirty="0"/>
              <a:t>Ví dụ:</a:t>
            </a:r>
            <a:r>
              <a:rPr lang="vi-VN" sz="1700" dirty="0"/>
              <a:t> Tính </a:t>
            </a:r>
            <a:r>
              <a:rPr lang="vi-VN" sz="1700" dirty="0" err="1"/>
              <a:t>Fibonacci</a:t>
            </a:r>
            <a:r>
              <a:rPr lang="vi-VN" sz="1700" dirty="0"/>
              <a:t> bằng quy hoạch động.</a:t>
            </a:r>
          </a:p>
          <a:p>
            <a:endParaRPr lang="vi-VN" sz="1700" dirty="0"/>
          </a:p>
          <a:p>
            <a:endParaRPr lang="en-US" dirty="0"/>
          </a:p>
        </p:txBody>
      </p:sp>
    </p:spTree>
    <p:extLst>
      <p:ext uri="{BB962C8B-B14F-4D97-AF65-F5344CB8AC3E}">
        <p14:creationId xmlns:p14="http://schemas.microsoft.com/office/powerpoint/2010/main" val="2495492564"/>
      </p:ext>
    </p:extLst>
  </p:cSld>
  <p:clrMapOvr>
    <a:masterClrMapping/>
  </p:clrMapOvr>
  <p:transition spd="med" advClick="0">
    <p:pull/>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11DDB2-A77D-F1F5-306E-B0EB6E83AF5E}"/>
              </a:ext>
            </a:extLst>
          </p:cNvPr>
          <p:cNvPicPr>
            <a:picLocks noChangeAspect="1"/>
          </p:cNvPicPr>
          <p:nvPr/>
        </p:nvPicPr>
        <p:blipFill>
          <a:blip r:embed="rId2"/>
          <a:stretch>
            <a:fillRect/>
          </a:stretch>
        </p:blipFill>
        <p:spPr>
          <a:xfrm>
            <a:off x="5534533" y="2"/>
            <a:ext cx="1103334" cy="861236"/>
          </a:xfrm>
          <a:prstGeom prst="rect">
            <a:avLst/>
          </a:prstGeom>
        </p:spPr>
      </p:pic>
      <p:pic>
        <p:nvPicPr>
          <p:cNvPr id="2" name="Picture 1">
            <a:extLst>
              <a:ext uri="{FF2B5EF4-FFF2-40B4-BE49-F238E27FC236}">
                <a16:creationId xmlns:a16="http://schemas.microsoft.com/office/drawing/2014/main" id="{615C0E83-72B6-2458-B43F-9B93B199BCDC}"/>
              </a:ext>
            </a:extLst>
          </p:cNvPr>
          <p:cNvPicPr>
            <a:picLocks noChangeAspect="1"/>
          </p:cNvPicPr>
          <p:nvPr/>
        </p:nvPicPr>
        <p:blipFill>
          <a:blip r:embed="rId3"/>
          <a:stretch>
            <a:fillRect/>
          </a:stretch>
        </p:blipFill>
        <p:spPr>
          <a:xfrm>
            <a:off x="0" y="6294272"/>
            <a:ext cx="12192000" cy="579120"/>
          </a:xfrm>
          <a:prstGeom prst="rect">
            <a:avLst/>
          </a:prstGeom>
        </p:spPr>
      </p:pic>
      <p:sp>
        <p:nvSpPr>
          <p:cNvPr id="6" name="TextBox 5">
            <a:extLst>
              <a:ext uri="{FF2B5EF4-FFF2-40B4-BE49-F238E27FC236}">
                <a16:creationId xmlns:a16="http://schemas.microsoft.com/office/drawing/2014/main" id="{6EF8F8E3-FB2C-D650-740D-C9DDD320C95C}"/>
              </a:ext>
            </a:extLst>
          </p:cNvPr>
          <p:cNvSpPr txBox="1"/>
          <p:nvPr/>
        </p:nvSpPr>
        <p:spPr>
          <a:xfrm>
            <a:off x="10137913" y="6399166"/>
            <a:ext cx="1534602"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13</a:t>
            </a:r>
          </a:p>
        </p:txBody>
      </p:sp>
      <p:pic>
        <p:nvPicPr>
          <p:cNvPr id="8" name="Picture 7">
            <a:extLst>
              <a:ext uri="{FF2B5EF4-FFF2-40B4-BE49-F238E27FC236}">
                <a16:creationId xmlns:a16="http://schemas.microsoft.com/office/drawing/2014/main" id="{BFA1981C-C263-CD9A-2525-3D076976A4A5}"/>
              </a:ext>
            </a:extLst>
          </p:cNvPr>
          <p:cNvPicPr>
            <a:picLocks noChangeAspect="1"/>
          </p:cNvPicPr>
          <p:nvPr/>
        </p:nvPicPr>
        <p:blipFill>
          <a:blip r:embed="rId4"/>
          <a:stretch>
            <a:fillRect/>
          </a:stretch>
        </p:blipFill>
        <p:spPr>
          <a:xfrm>
            <a:off x="1136654" y="2374534"/>
            <a:ext cx="5357451" cy="1477832"/>
          </a:xfrm>
          <a:prstGeom prst="rect">
            <a:avLst/>
          </a:prstGeom>
        </p:spPr>
      </p:pic>
      <p:sp>
        <p:nvSpPr>
          <p:cNvPr id="9" name="TextBox 8">
            <a:extLst>
              <a:ext uri="{FF2B5EF4-FFF2-40B4-BE49-F238E27FC236}">
                <a16:creationId xmlns:a16="http://schemas.microsoft.com/office/drawing/2014/main" id="{44C9AEFF-42EC-44B0-7BCB-4EBF14BDB3FE}"/>
              </a:ext>
            </a:extLst>
          </p:cNvPr>
          <p:cNvSpPr txBox="1"/>
          <p:nvPr/>
        </p:nvSpPr>
        <p:spPr>
          <a:xfrm>
            <a:off x="486643" y="1062238"/>
            <a:ext cx="5506720" cy="1477328"/>
          </a:xfrm>
          <a:prstGeom prst="rect">
            <a:avLst/>
          </a:prstGeom>
          <a:noFill/>
        </p:spPr>
        <p:txBody>
          <a:bodyPr wrap="square" rtlCol="0">
            <a:spAutoFit/>
          </a:bodyPr>
          <a:lstStyle/>
          <a:p>
            <a:r>
              <a:rPr lang="vi-VN" b="1" dirty="0" err="1"/>
              <a:t>Memoization</a:t>
            </a:r>
            <a:endParaRPr lang="vi-VN" b="1" dirty="0"/>
          </a:p>
          <a:p>
            <a:pPr>
              <a:buFont typeface="Arial" panose="020B0604020202020204" pitchFamily="34" charset="0"/>
              <a:buChar char="•"/>
            </a:pPr>
            <a:r>
              <a:rPr lang="vi-VN" sz="1700" b="1" dirty="0"/>
              <a:t>Khái niệm:</a:t>
            </a:r>
            <a:r>
              <a:rPr lang="vi-VN" sz="1700" dirty="0"/>
              <a:t> Lưu kết quả của các lời gọi trước đó trong bảng.</a:t>
            </a:r>
          </a:p>
          <a:p>
            <a:pPr>
              <a:buFont typeface="Arial" panose="020B0604020202020204" pitchFamily="34" charset="0"/>
              <a:buChar char="•"/>
            </a:pPr>
            <a:r>
              <a:rPr lang="vi-VN" sz="1700" b="1" dirty="0"/>
              <a:t>Ví dụ:</a:t>
            </a:r>
            <a:endParaRPr lang="vi-VN" sz="1700" dirty="0"/>
          </a:p>
          <a:p>
            <a:endParaRPr lang="en-US" dirty="0"/>
          </a:p>
        </p:txBody>
      </p:sp>
      <p:sp>
        <p:nvSpPr>
          <p:cNvPr id="10" name="TextBox 9">
            <a:extLst>
              <a:ext uri="{FF2B5EF4-FFF2-40B4-BE49-F238E27FC236}">
                <a16:creationId xmlns:a16="http://schemas.microsoft.com/office/drawing/2014/main" id="{0431E84D-4E60-A388-DDE0-6B9FB5602406}"/>
              </a:ext>
            </a:extLst>
          </p:cNvPr>
          <p:cNvSpPr txBox="1"/>
          <p:nvPr/>
        </p:nvSpPr>
        <p:spPr>
          <a:xfrm>
            <a:off x="486643" y="4087475"/>
            <a:ext cx="8546840" cy="1154162"/>
          </a:xfrm>
          <a:prstGeom prst="rect">
            <a:avLst/>
          </a:prstGeom>
          <a:noFill/>
        </p:spPr>
        <p:txBody>
          <a:bodyPr wrap="square" rtlCol="0">
            <a:spAutoFit/>
          </a:bodyPr>
          <a:lstStyle/>
          <a:p>
            <a:r>
              <a:rPr lang="vi-VN" sz="1700" b="1" dirty="0"/>
              <a:t>Đệ quy đuôi (</a:t>
            </a:r>
            <a:r>
              <a:rPr lang="vi-VN" sz="1700" b="1" dirty="0" err="1"/>
              <a:t>Tail</a:t>
            </a:r>
            <a:r>
              <a:rPr lang="vi-VN" sz="1700" b="1" dirty="0"/>
              <a:t> </a:t>
            </a:r>
            <a:r>
              <a:rPr lang="vi-VN" sz="1700" b="1" dirty="0" err="1"/>
              <a:t>Recursion</a:t>
            </a:r>
            <a:r>
              <a:rPr lang="vi-VN" sz="1700" b="1" dirty="0"/>
              <a:t>)</a:t>
            </a:r>
          </a:p>
          <a:p>
            <a:pPr>
              <a:buFont typeface="Arial" panose="020B0604020202020204" pitchFamily="34" charset="0"/>
              <a:buChar char="•"/>
            </a:pPr>
            <a:r>
              <a:rPr lang="vi-VN" sz="1700" b="1" dirty="0"/>
              <a:t>Khái niệm:</a:t>
            </a:r>
            <a:r>
              <a:rPr lang="vi-VN" sz="1700" dirty="0"/>
              <a:t> Trạng thái của hàm được truyền qua tham số thay vì ngăn xếp.</a:t>
            </a:r>
          </a:p>
          <a:p>
            <a:pPr>
              <a:buFont typeface="Arial" panose="020B0604020202020204" pitchFamily="34" charset="0"/>
              <a:buChar char="•"/>
            </a:pPr>
            <a:r>
              <a:rPr lang="vi-VN" sz="1700" b="1" dirty="0"/>
              <a:t>Ví dụ:</a:t>
            </a:r>
            <a:endParaRPr lang="vi-VN" sz="1700" dirty="0"/>
          </a:p>
          <a:p>
            <a:endParaRPr lang="en-US" dirty="0"/>
          </a:p>
        </p:txBody>
      </p:sp>
      <p:pic>
        <p:nvPicPr>
          <p:cNvPr id="12" name="Picture 11">
            <a:extLst>
              <a:ext uri="{FF2B5EF4-FFF2-40B4-BE49-F238E27FC236}">
                <a16:creationId xmlns:a16="http://schemas.microsoft.com/office/drawing/2014/main" id="{115B1BC0-C49D-BB23-C914-6707F7FE4527}"/>
              </a:ext>
            </a:extLst>
          </p:cNvPr>
          <p:cNvPicPr>
            <a:picLocks noChangeAspect="1"/>
          </p:cNvPicPr>
          <p:nvPr/>
        </p:nvPicPr>
        <p:blipFill>
          <a:blip r:embed="rId5"/>
          <a:stretch>
            <a:fillRect/>
          </a:stretch>
        </p:blipFill>
        <p:spPr>
          <a:xfrm>
            <a:off x="1652684" y="4900336"/>
            <a:ext cx="8364117" cy="1257475"/>
          </a:xfrm>
          <a:prstGeom prst="rect">
            <a:avLst/>
          </a:prstGeom>
        </p:spPr>
      </p:pic>
    </p:spTree>
    <p:extLst>
      <p:ext uri="{BB962C8B-B14F-4D97-AF65-F5344CB8AC3E}">
        <p14:creationId xmlns:p14="http://schemas.microsoft.com/office/powerpoint/2010/main" val="2581940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7535A5-3D44-DE68-A3A7-AEEF31FA4488}"/>
              </a:ext>
            </a:extLst>
          </p:cNvPr>
          <p:cNvPicPr>
            <a:picLocks noChangeAspect="1"/>
          </p:cNvPicPr>
          <p:nvPr/>
        </p:nvPicPr>
        <p:blipFill>
          <a:blip r:embed="rId2"/>
          <a:stretch>
            <a:fillRect/>
          </a:stretch>
        </p:blipFill>
        <p:spPr>
          <a:xfrm>
            <a:off x="5506177" y="0"/>
            <a:ext cx="1193136" cy="931333"/>
          </a:xfrm>
          <a:prstGeom prst="rect">
            <a:avLst/>
          </a:prstGeom>
        </p:spPr>
      </p:pic>
      <p:sp>
        <p:nvSpPr>
          <p:cNvPr id="7" name="TextBox 6">
            <a:extLst>
              <a:ext uri="{FF2B5EF4-FFF2-40B4-BE49-F238E27FC236}">
                <a16:creationId xmlns:a16="http://schemas.microsoft.com/office/drawing/2014/main" id="{71433D9B-1703-195D-B78C-E1FEB3E6DD9B}"/>
              </a:ext>
            </a:extLst>
          </p:cNvPr>
          <p:cNvSpPr txBox="1"/>
          <p:nvPr/>
        </p:nvSpPr>
        <p:spPr>
          <a:xfrm>
            <a:off x="521650" y="1656985"/>
            <a:ext cx="8517467" cy="677108"/>
          </a:xfrm>
          <a:prstGeom prst="rect">
            <a:avLst/>
          </a:prstGeom>
          <a:noFill/>
        </p:spPr>
        <p:txBody>
          <a:bodyPr wrap="square">
            <a:spAutoFit/>
          </a:bodyPr>
          <a:lstStyle/>
          <a:p>
            <a:r>
              <a:rPr lang="en-US" sz="2000" b="1" dirty="0"/>
              <a:t>3.3 So </a:t>
            </a:r>
            <a:r>
              <a:rPr lang="en-US" sz="2000" b="1" dirty="0" err="1"/>
              <a:t>sánh</a:t>
            </a:r>
            <a:r>
              <a:rPr lang="en-US" sz="2000" b="1" dirty="0"/>
              <a:t> </a:t>
            </a:r>
            <a:r>
              <a:rPr lang="en-US" sz="2000" b="1" dirty="0" err="1"/>
              <a:t>với</a:t>
            </a:r>
            <a:r>
              <a:rPr lang="en-US" sz="2000" b="1" dirty="0"/>
              <a:t> </a:t>
            </a:r>
            <a:r>
              <a:rPr lang="en-US" sz="2000" b="1" dirty="0" err="1"/>
              <a:t>vòng</a:t>
            </a:r>
            <a:r>
              <a:rPr lang="en-US" sz="2000" b="1" dirty="0"/>
              <a:t> </a:t>
            </a:r>
            <a:r>
              <a:rPr lang="en-US" sz="2000" b="1" dirty="0" err="1"/>
              <a:t>lặp</a:t>
            </a:r>
            <a:endParaRPr lang="en-US" sz="2000" b="1" dirty="0"/>
          </a:p>
          <a:p>
            <a:endParaRPr lang="vi-VN" b="1" dirty="0"/>
          </a:p>
        </p:txBody>
      </p:sp>
      <p:pic>
        <p:nvPicPr>
          <p:cNvPr id="2" name="Picture 1">
            <a:extLst>
              <a:ext uri="{FF2B5EF4-FFF2-40B4-BE49-F238E27FC236}">
                <a16:creationId xmlns:a16="http://schemas.microsoft.com/office/drawing/2014/main" id="{D05F6481-C0D0-0BB5-095E-7E536E019621}"/>
              </a:ext>
            </a:extLst>
          </p:cNvPr>
          <p:cNvPicPr>
            <a:picLocks noChangeAspect="1"/>
          </p:cNvPicPr>
          <p:nvPr/>
        </p:nvPicPr>
        <p:blipFill>
          <a:blip r:embed="rId3"/>
          <a:stretch>
            <a:fillRect/>
          </a:stretch>
        </p:blipFill>
        <p:spPr>
          <a:xfrm>
            <a:off x="0" y="6283778"/>
            <a:ext cx="12192000" cy="579120"/>
          </a:xfrm>
          <a:prstGeom prst="rect">
            <a:avLst/>
          </a:prstGeom>
        </p:spPr>
      </p:pic>
      <p:sp>
        <p:nvSpPr>
          <p:cNvPr id="3" name="TextBox 2">
            <a:extLst>
              <a:ext uri="{FF2B5EF4-FFF2-40B4-BE49-F238E27FC236}">
                <a16:creationId xmlns:a16="http://schemas.microsoft.com/office/drawing/2014/main" id="{2246D58C-E59C-D55B-A772-1F502748073D}"/>
              </a:ext>
            </a:extLst>
          </p:cNvPr>
          <p:cNvSpPr txBox="1"/>
          <p:nvPr/>
        </p:nvSpPr>
        <p:spPr>
          <a:xfrm>
            <a:off x="10000736" y="6388672"/>
            <a:ext cx="1458097"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14</a:t>
            </a:r>
          </a:p>
        </p:txBody>
      </p:sp>
      <p:pic>
        <p:nvPicPr>
          <p:cNvPr id="8" name="Picture 7">
            <a:extLst>
              <a:ext uri="{FF2B5EF4-FFF2-40B4-BE49-F238E27FC236}">
                <a16:creationId xmlns:a16="http://schemas.microsoft.com/office/drawing/2014/main" id="{533F3014-DC10-642E-C1B8-055BFD0EB4F7}"/>
              </a:ext>
            </a:extLst>
          </p:cNvPr>
          <p:cNvPicPr>
            <a:picLocks noChangeAspect="1"/>
          </p:cNvPicPr>
          <p:nvPr/>
        </p:nvPicPr>
        <p:blipFill>
          <a:blip r:embed="rId4"/>
          <a:stretch>
            <a:fillRect/>
          </a:stretch>
        </p:blipFill>
        <p:spPr>
          <a:xfrm>
            <a:off x="831394" y="2318705"/>
            <a:ext cx="8792812" cy="2070415"/>
          </a:xfrm>
          <a:prstGeom prst="rect">
            <a:avLst/>
          </a:prstGeom>
        </p:spPr>
      </p:pic>
    </p:spTree>
    <p:extLst>
      <p:ext uri="{BB962C8B-B14F-4D97-AF65-F5344CB8AC3E}">
        <p14:creationId xmlns:p14="http://schemas.microsoft.com/office/powerpoint/2010/main" val="34566663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097DA4-2FD6-8A2E-4733-38804E4B42FE}"/>
              </a:ext>
            </a:extLst>
          </p:cNvPr>
          <p:cNvPicPr>
            <a:picLocks noChangeAspect="1"/>
          </p:cNvPicPr>
          <p:nvPr/>
        </p:nvPicPr>
        <p:blipFill>
          <a:blip r:embed="rId2"/>
          <a:stretch>
            <a:fillRect/>
          </a:stretch>
        </p:blipFill>
        <p:spPr>
          <a:xfrm>
            <a:off x="5461961" y="0"/>
            <a:ext cx="1268078" cy="1005927"/>
          </a:xfrm>
          <a:prstGeom prst="rect">
            <a:avLst/>
          </a:prstGeom>
        </p:spPr>
      </p:pic>
      <p:pic>
        <p:nvPicPr>
          <p:cNvPr id="11" name="Picture 10" descr="A hand holding a globe with a city in the background&#10;&#10;Description automatically generated">
            <a:extLst>
              <a:ext uri="{FF2B5EF4-FFF2-40B4-BE49-F238E27FC236}">
                <a16:creationId xmlns:a16="http://schemas.microsoft.com/office/drawing/2014/main" id="{5A88AA85-325C-077C-6F10-0E81EE4462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09923" y="3119604"/>
            <a:ext cx="5981701" cy="3136120"/>
          </a:xfrm>
          <a:prstGeom prst="rect">
            <a:avLst/>
          </a:prstGeom>
        </p:spPr>
      </p:pic>
      <p:sp>
        <p:nvSpPr>
          <p:cNvPr id="15" name="TextBox 14">
            <a:extLst>
              <a:ext uri="{FF2B5EF4-FFF2-40B4-BE49-F238E27FC236}">
                <a16:creationId xmlns:a16="http://schemas.microsoft.com/office/drawing/2014/main" id="{9B8FA60B-F423-A52F-671F-EF8057BDF79A}"/>
              </a:ext>
            </a:extLst>
          </p:cNvPr>
          <p:cNvSpPr txBox="1"/>
          <p:nvPr/>
        </p:nvSpPr>
        <p:spPr>
          <a:xfrm>
            <a:off x="2289212" y="1554934"/>
            <a:ext cx="7823122" cy="1015663"/>
          </a:xfrm>
          <a:prstGeom prst="rect">
            <a:avLst/>
          </a:prstGeom>
          <a:gradFill>
            <a:gsLst>
              <a:gs pos="76000">
                <a:schemeClr val="accent2">
                  <a:lumMod val="60000"/>
                  <a:lumOff val="40000"/>
                </a:schemeClr>
              </a:gs>
              <a:gs pos="28000">
                <a:schemeClr val="accent2">
                  <a:lumMod val="60000"/>
                  <a:lumOff val="40000"/>
                </a:schemeClr>
              </a:gs>
              <a:gs pos="100000">
                <a:schemeClr val="accent1">
                  <a:lumMod val="60000"/>
                  <a:lumOff val="40000"/>
                </a:schemeClr>
              </a:gs>
              <a:gs pos="1000">
                <a:schemeClr val="accent1">
                  <a:lumMod val="45000"/>
                  <a:lumOff val="55000"/>
                </a:schemeClr>
              </a:gs>
            </a:gsLst>
            <a:lin ang="10800000" scaled="1"/>
          </a:gradFill>
        </p:spPr>
        <p:txBody>
          <a:bodyPr wrap="square" rtlCol="0">
            <a:spAutoFit/>
          </a:bodyPr>
          <a:lstStyle/>
          <a:p>
            <a:r>
              <a:rPr lang="en-US" sz="3200" b="1" dirty="0" err="1">
                <a:effectLst>
                  <a:outerShdw blurRad="38100" dist="38100" dir="2700000" algn="tl">
                    <a:srgbClr val="000000">
                      <a:alpha val="43137"/>
                    </a:srgbClr>
                  </a:outerShdw>
                </a:effectLst>
              </a:rPr>
              <a:t>Bài</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thuyết</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trình</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của</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nhóm</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em</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đến</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đây</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là</a:t>
            </a:r>
            <a:r>
              <a:rPr lang="en-US" sz="3200" b="1" dirty="0">
                <a:effectLst>
                  <a:outerShdw blurRad="38100" dist="38100" dir="2700000" algn="tl">
                    <a:srgbClr val="000000">
                      <a:alpha val="43137"/>
                    </a:srgbClr>
                  </a:outerShdw>
                </a:effectLst>
              </a:rPr>
              <a:t> </a:t>
            </a:r>
            <a:r>
              <a:rPr lang="en-US" sz="3200" b="1" dirty="0" err="1">
                <a:effectLst>
                  <a:outerShdw blurRad="38100" dist="38100" dir="2700000" algn="tl">
                    <a:srgbClr val="000000">
                      <a:alpha val="43137"/>
                    </a:srgbClr>
                  </a:outerShdw>
                </a:effectLst>
              </a:rPr>
              <a:t>hết</a:t>
            </a:r>
            <a:endParaRPr lang="en-US" sz="3200" b="1" dirty="0">
              <a:effectLst>
                <a:outerShdw blurRad="38100" dist="38100" dir="2700000" algn="tl">
                  <a:srgbClr val="000000">
                    <a:alpha val="43137"/>
                  </a:srgbClr>
                </a:outerShdw>
              </a:effectLst>
            </a:endParaRPr>
          </a:p>
          <a:p>
            <a:r>
              <a:rPr lang="en-US" sz="2800" dirty="0"/>
              <a:t>      </a:t>
            </a:r>
            <a:r>
              <a:rPr lang="en-US" sz="2800" b="1" dirty="0" err="1">
                <a:effectLst>
                  <a:outerShdw blurRad="38100" dist="38100" dir="2700000" algn="tl">
                    <a:srgbClr val="000000">
                      <a:alpha val="43137"/>
                    </a:srgbClr>
                  </a:outerShdw>
                </a:effectLst>
              </a:rPr>
              <a:t>Cảm</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ơn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thầy</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và</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các</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bạn</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đã</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lắng</a:t>
            </a:r>
            <a:r>
              <a:rPr lang="en-US" sz="2800" b="1" dirty="0">
                <a:effectLst>
                  <a:outerShdw blurRad="38100" dist="38100" dir="2700000" algn="tl">
                    <a:srgbClr val="000000">
                      <a:alpha val="43137"/>
                    </a:srgbClr>
                  </a:outerShdw>
                </a:effectLst>
              </a:rPr>
              <a:t> </a:t>
            </a:r>
            <a:r>
              <a:rPr lang="en-US" sz="2800" b="1" dirty="0" err="1">
                <a:effectLst>
                  <a:outerShdw blurRad="38100" dist="38100" dir="2700000" algn="tl">
                    <a:srgbClr val="000000">
                      <a:alpha val="43137"/>
                    </a:srgbClr>
                  </a:outerShdw>
                </a:effectLst>
              </a:rPr>
              <a:t>nghe</a:t>
            </a:r>
            <a:endParaRPr lang="en-US" sz="2800" b="1" dirty="0">
              <a:effectLst>
                <a:outerShdw blurRad="38100" dist="38100" dir="2700000" algn="tl">
                  <a:srgbClr val="000000">
                    <a:alpha val="43137"/>
                  </a:srgbClr>
                </a:outerShdw>
              </a:effectLst>
            </a:endParaRPr>
          </a:p>
        </p:txBody>
      </p:sp>
      <p:pic>
        <p:nvPicPr>
          <p:cNvPr id="2" name="Picture 1">
            <a:extLst>
              <a:ext uri="{FF2B5EF4-FFF2-40B4-BE49-F238E27FC236}">
                <a16:creationId xmlns:a16="http://schemas.microsoft.com/office/drawing/2014/main" id="{A618AE43-6242-75B8-9558-23649F1B0817}"/>
              </a:ext>
            </a:extLst>
          </p:cNvPr>
          <p:cNvPicPr>
            <a:picLocks noChangeAspect="1"/>
          </p:cNvPicPr>
          <p:nvPr/>
        </p:nvPicPr>
        <p:blipFill>
          <a:blip r:embed="rId4"/>
          <a:stretch>
            <a:fillRect/>
          </a:stretch>
        </p:blipFill>
        <p:spPr>
          <a:xfrm>
            <a:off x="0" y="6278880"/>
            <a:ext cx="12192000" cy="579120"/>
          </a:xfrm>
          <a:prstGeom prst="rect">
            <a:avLst/>
          </a:prstGeom>
        </p:spPr>
      </p:pic>
      <p:sp>
        <p:nvSpPr>
          <p:cNvPr id="3" name="TextBox 2">
            <a:extLst>
              <a:ext uri="{FF2B5EF4-FFF2-40B4-BE49-F238E27FC236}">
                <a16:creationId xmlns:a16="http://schemas.microsoft.com/office/drawing/2014/main" id="{A2DFF961-D729-62C5-32C5-E9E733759D14}"/>
              </a:ext>
            </a:extLst>
          </p:cNvPr>
          <p:cNvSpPr txBox="1"/>
          <p:nvPr/>
        </p:nvSpPr>
        <p:spPr>
          <a:xfrm>
            <a:off x="10033000" y="6383774"/>
            <a:ext cx="1651000" cy="369332"/>
          </a:xfrm>
          <a:prstGeom prst="rect">
            <a:avLst/>
          </a:prstGeom>
          <a:noFill/>
        </p:spPr>
        <p:txBody>
          <a:bodyPr wrap="square" rtlCol="0">
            <a:spAutoFit/>
          </a:bodyPr>
          <a:lstStyle/>
          <a:p>
            <a:r>
              <a:rPr lang="en-US" b="1" dirty="0">
                <a:solidFill>
                  <a:schemeClr val="bg1"/>
                </a:solidFill>
              </a:rPr>
              <a:t>Slide: </a:t>
            </a:r>
            <a:r>
              <a:rPr lang="en-US" b="1" dirty="0" err="1">
                <a:solidFill>
                  <a:schemeClr val="bg1"/>
                </a:solidFill>
              </a:rPr>
              <a:t>Số</a:t>
            </a:r>
            <a:r>
              <a:rPr lang="en-US" b="1" dirty="0">
                <a:solidFill>
                  <a:schemeClr val="bg1"/>
                </a:solidFill>
              </a:rPr>
              <a:t> 21</a:t>
            </a:r>
          </a:p>
        </p:txBody>
      </p:sp>
    </p:spTree>
    <p:extLst>
      <p:ext uri="{BB962C8B-B14F-4D97-AF65-F5344CB8AC3E}">
        <p14:creationId xmlns:p14="http://schemas.microsoft.com/office/powerpoint/2010/main" val="2306226547"/>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animEffect transition="in" filter="circle(in)">
                                      <p:cBhvr>
                                        <p:cTn id="7" dur="2000"/>
                                        <p:tgtEl>
                                          <p:spTgt spid="15">
                                            <p:txEl>
                                              <p:pRg st="0" end="0"/>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15">
                                            <p:txEl>
                                              <p:pRg st="1" end="1"/>
                                            </p:txEl>
                                          </p:spTgt>
                                        </p:tgtEl>
                                        <p:attrNameLst>
                                          <p:attrName>style.visibility</p:attrName>
                                        </p:attrNameLst>
                                      </p:cBhvr>
                                      <p:to>
                                        <p:strVal val="visible"/>
                                      </p:to>
                                    </p:set>
                                    <p:animEffect transition="in" filter="circle(in)">
                                      <p:cBhvr>
                                        <p:cTn id="10" dur="2000"/>
                                        <p:tgtEl>
                                          <p:spTgt spid="1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5482</TotalTime>
  <Words>730</Words>
  <Application>Microsoft Office PowerPoint</Application>
  <PresentationFormat>Widescreen</PresentationFormat>
  <Paragraphs>79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.VnTime</vt:lpstr>
      <vt:lpstr>Arial</vt:lpstr>
      <vt:lpstr>Arial Unicode MS</vt:lpstr>
      <vt:lpstr>Calibri</vt:lpstr>
      <vt:lpstr>Calibri Light</vt:lpstr>
      <vt:lpstr>Wingdings</vt:lpstr>
      <vt:lpstr>Office Theme</vt:lpstr>
      <vt:lpstr> TRƯỜNG ĐẠI HỌC ĐẠI NAM</vt:lpstr>
      <vt:lpstr>Chương I: : Giới thiệu về Đệ Quy            </vt:lpstr>
      <vt:lpstr>Chương I:</vt:lpstr>
      <vt:lpstr>1.1 Định nghĩa đệ quy -Đệ quy là một phương pháp trong lập trình, trong đó một hàm tự gọi chính nó. Phương pháp này dựa trên khả năng phân chia bài toán lớn thành các bài toán con tương đương, đến khi bài toán được giải quyết hoàn toàn. Các tính chất chính: Tình đệ quy: Hàm gọi lại chính nó. Cơ sở dừng: Mỗt điều kiện chọn để kết thúc việc gọi hàm. </vt:lpstr>
      <vt:lpstr>. </vt:lpstr>
      <vt:lpstr>Chương II:  Nguyên lý hoạt động của đệ quy </vt:lpstr>
      <vt:lpstr>2.1 Cấu trúc của một giải thuật đệ quy</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DAINAM UNIVERSITY</dc:creator>
  <cp:lastModifiedBy>Anh Quân</cp:lastModifiedBy>
  <cp:revision>37</cp:revision>
  <dcterms:created xsi:type="dcterms:W3CDTF">2024-09-26T07:41:51Z</dcterms:created>
  <dcterms:modified xsi:type="dcterms:W3CDTF">2025-02-14T11:23:26Z</dcterms:modified>
</cp:coreProperties>
</file>